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299"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E76E9-640E-46A0-94C3-D19F748D0E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8DFE37-B205-DDD2-2614-891F0B8AB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5CAD091-EEBE-7A3A-31F2-4F5FBF45BDCA}"/>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5" name="Footer Placeholder 4">
            <a:extLst>
              <a:ext uri="{FF2B5EF4-FFF2-40B4-BE49-F238E27FC236}">
                <a16:creationId xmlns:a16="http://schemas.microsoft.com/office/drawing/2014/main" id="{D7AB5262-4FAD-6D43-743A-3099D940D0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138DD6-FD0B-5084-858F-B94E51F0ECB7}"/>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955551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4322-8057-2E9E-BAD0-CB631EC9FC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A46CC4-39B8-C079-5887-FA850A8F8E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19DC4C-95EC-E1D5-E60A-2BBD0E50059E}"/>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5" name="Footer Placeholder 4">
            <a:extLst>
              <a:ext uri="{FF2B5EF4-FFF2-40B4-BE49-F238E27FC236}">
                <a16:creationId xmlns:a16="http://schemas.microsoft.com/office/drawing/2014/main" id="{0B0C01F0-EB28-6B4B-C66F-37B90DC180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FD018A-4064-27FF-3126-0B771D354BA2}"/>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3530365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B2BB8-AA9B-369F-E408-57D87E1858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DCF2B0-675B-D3E8-A8A4-D0C2499570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4DA181-5709-198D-6644-698652E6325A}"/>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5" name="Footer Placeholder 4">
            <a:extLst>
              <a:ext uri="{FF2B5EF4-FFF2-40B4-BE49-F238E27FC236}">
                <a16:creationId xmlns:a16="http://schemas.microsoft.com/office/drawing/2014/main" id="{48A2137C-D6E7-0FB1-3622-A5305F1C0E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5B3C04-8797-F3C6-E1AB-6A8C8C5A3AD9}"/>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15104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90E05-C38B-C8D5-5423-150BEF9695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F51BD7-03EF-2AB7-6277-57B0D29D61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B1640E-A7CF-B640-1A2C-321AF5CF3C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ACCE5B-F140-F2C9-2B7A-6F19A429C847}"/>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6" name="Footer Placeholder 5">
            <a:extLst>
              <a:ext uri="{FF2B5EF4-FFF2-40B4-BE49-F238E27FC236}">
                <a16:creationId xmlns:a16="http://schemas.microsoft.com/office/drawing/2014/main" id="{A827F20F-8FA2-52AA-CDA8-07D785535D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498870-AA76-C1A3-860C-7BC7DEBCBE69}"/>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2416606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0DCE-9FA8-A62A-6E49-92E5D70E20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AF14BF-4402-E2AE-D502-3F40724F32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4087B3-6F25-AED3-D185-B6C312CB84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7B1954-4F5A-21FB-8FB8-28B55CA8B9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3140A4-A162-6487-E112-16B33F680D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B124E7-1852-20D4-F7A8-8CB480AFA084}"/>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8" name="Footer Placeholder 7">
            <a:extLst>
              <a:ext uri="{FF2B5EF4-FFF2-40B4-BE49-F238E27FC236}">
                <a16:creationId xmlns:a16="http://schemas.microsoft.com/office/drawing/2014/main" id="{60132CCA-43F9-CCD3-E119-AFF9654250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CB191A-BAF9-6308-B820-30C4C79DBE1F}"/>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3899616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E7A80-06B6-E294-F2A9-1C54879ECE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F6E75B-FE74-A2E0-ED80-930885F578F6}"/>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4" name="Footer Placeholder 3">
            <a:extLst>
              <a:ext uri="{FF2B5EF4-FFF2-40B4-BE49-F238E27FC236}">
                <a16:creationId xmlns:a16="http://schemas.microsoft.com/office/drawing/2014/main" id="{0144EC46-7202-C869-247B-06B05D6E2BC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4EDF6B-B08B-2C1E-B5D3-9002CC60F12E}"/>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356151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46203-58BA-E289-6879-FDD53164C415}"/>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3" name="Footer Placeholder 2">
            <a:extLst>
              <a:ext uri="{FF2B5EF4-FFF2-40B4-BE49-F238E27FC236}">
                <a16:creationId xmlns:a16="http://schemas.microsoft.com/office/drawing/2014/main" id="{E96159E7-D78D-E217-9C11-9EE1674B48C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EA2EE07-CBB0-E7E7-441B-C3C26BC35D7B}"/>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2552664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E29B5-5CC6-F92B-E806-342309134E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B9AD85-040A-AEE9-2A0F-E3628521DA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8C07A2-F3D1-2C30-D0D5-9DDF78AB50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0580E-69EE-B93B-629D-5F6AB3C3F530}"/>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6" name="Footer Placeholder 5">
            <a:extLst>
              <a:ext uri="{FF2B5EF4-FFF2-40B4-BE49-F238E27FC236}">
                <a16:creationId xmlns:a16="http://schemas.microsoft.com/office/drawing/2014/main" id="{FB02394A-0954-9C92-A746-76A97C78E7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04A31B-A43F-4B67-0228-B2E6772CD52B}"/>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522186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F6990-DCA4-1E1C-BBB3-3CD24F1E39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0BE7A5-4C3F-E0E8-564E-EC410C020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60CB9D-3E07-C64B-9B82-BE0F7870EF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A2F62A-33CD-A6D6-02C5-B8F1E71681FB}"/>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6" name="Footer Placeholder 5">
            <a:extLst>
              <a:ext uri="{FF2B5EF4-FFF2-40B4-BE49-F238E27FC236}">
                <a16:creationId xmlns:a16="http://schemas.microsoft.com/office/drawing/2014/main" id="{721FC3BF-5194-A480-6F82-373B394D73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4A4AD7-D949-2A03-A206-DDA56348F71B}"/>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628030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75187-5CED-3B08-E3A4-BD2733F4F3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324DAE-474B-D574-D889-DBBAF31E4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5C3593-D496-C363-C333-4323590A2F28}"/>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5" name="Footer Placeholder 4">
            <a:extLst>
              <a:ext uri="{FF2B5EF4-FFF2-40B4-BE49-F238E27FC236}">
                <a16:creationId xmlns:a16="http://schemas.microsoft.com/office/drawing/2014/main" id="{F253F139-F0D7-2C72-2308-8FD84DF998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B2E245-93BF-CDC9-6058-F131A155CC6E}"/>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2766424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8FA7E4-62D3-EB73-7664-530F0EEA2B6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FCAFF6-A931-2189-2578-B3D1F88576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A68837-D2BA-8201-C5A2-3E5545C951AC}"/>
              </a:ext>
            </a:extLst>
          </p:cNvPr>
          <p:cNvSpPr>
            <a:spLocks noGrp="1"/>
          </p:cNvSpPr>
          <p:nvPr>
            <p:ph type="dt" sz="half" idx="10"/>
          </p:nvPr>
        </p:nvSpPr>
        <p:spPr/>
        <p:txBody>
          <a:bodyPr/>
          <a:lstStyle/>
          <a:p>
            <a:fld id="{B5DA744E-6082-4C72-9310-67500719DD33}" type="datetimeFigureOut">
              <a:rPr lang="en-IN" smtClean="0"/>
              <a:t>09-01-2024</a:t>
            </a:fld>
            <a:endParaRPr lang="en-IN"/>
          </a:p>
        </p:txBody>
      </p:sp>
      <p:sp>
        <p:nvSpPr>
          <p:cNvPr id="5" name="Footer Placeholder 4">
            <a:extLst>
              <a:ext uri="{FF2B5EF4-FFF2-40B4-BE49-F238E27FC236}">
                <a16:creationId xmlns:a16="http://schemas.microsoft.com/office/drawing/2014/main" id="{2783DDBF-69FC-1D86-5114-99191AC7A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2DE29D-38EA-B823-6FC8-85CC11690BD5}"/>
              </a:ext>
            </a:extLst>
          </p:cNvPr>
          <p:cNvSpPr>
            <a:spLocks noGrp="1"/>
          </p:cNvSpPr>
          <p:nvPr>
            <p:ph type="sldNum" sz="quarter" idx="12"/>
          </p:nvPr>
        </p:nvSpPr>
        <p:spPr/>
        <p:txBody>
          <a:bodyPr/>
          <a:lstStyle/>
          <a:p>
            <a:fld id="{1FADE75B-BA5C-4E72-B8E2-457CA7681993}" type="slidenum">
              <a:rPr lang="en-IN" smtClean="0"/>
              <a:t>‹#›</a:t>
            </a:fld>
            <a:endParaRPr lang="en-IN"/>
          </a:p>
        </p:txBody>
      </p:sp>
    </p:spTree>
    <p:extLst>
      <p:ext uri="{BB962C8B-B14F-4D97-AF65-F5344CB8AC3E}">
        <p14:creationId xmlns:p14="http://schemas.microsoft.com/office/powerpoint/2010/main" val="3948961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29DB31-B3F6-0FA9-034B-B586A36EA5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BA1C5D-F82B-B03A-B1EE-53B0A9BCF6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43DB16-36C7-C08A-E28B-4140A4576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A744E-6082-4C72-9310-67500719DD33}" type="datetimeFigureOut">
              <a:rPr lang="en-IN" smtClean="0"/>
              <a:t>09-01-2024</a:t>
            </a:fld>
            <a:endParaRPr lang="en-IN"/>
          </a:p>
        </p:txBody>
      </p:sp>
      <p:sp>
        <p:nvSpPr>
          <p:cNvPr id="5" name="Footer Placeholder 4">
            <a:extLst>
              <a:ext uri="{FF2B5EF4-FFF2-40B4-BE49-F238E27FC236}">
                <a16:creationId xmlns:a16="http://schemas.microsoft.com/office/drawing/2014/main" id="{545FB83B-47E2-3FAD-3693-5AD47C7D6D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05F3EA-E112-DE33-B27A-0F394D3C2C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ADE75B-BA5C-4E72-B8E2-457CA7681993}" type="slidenum">
              <a:rPr lang="en-IN" smtClean="0"/>
              <a:t>‹#›</a:t>
            </a:fld>
            <a:endParaRPr lang="en-IN"/>
          </a:p>
        </p:txBody>
      </p:sp>
    </p:spTree>
    <p:extLst>
      <p:ext uri="{BB962C8B-B14F-4D97-AF65-F5344CB8AC3E}">
        <p14:creationId xmlns:p14="http://schemas.microsoft.com/office/powerpoint/2010/main" val="863878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9069B-D757-16FD-A720-873F12747D23}"/>
              </a:ext>
            </a:extLst>
          </p:cNvPr>
          <p:cNvSpPr>
            <a:spLocks noGrp="1"/>
          </p:cNvSpPr>
          <p:nvPr>
            <p:ph type="ctrTitle"/>
          </p:nvPr>
        </p:nvSpPr>
        <p:spPr/>
        <p:txBody>
          <a:bodyPr/>
          <a:lstStyle/>
          <a:p>
            <a:r>
              <a:rPr lang="en-IN" dirty="0"/>
              <a:t>Data Science</a:t>
            </a:r>
          </a:p>
        </p:txBody>
      </p:sp>
      <p:sp>
        <p:nvSpPr>
          <p:cNvPr id="3" name="Subtitle 2">
            <a:extLst>
              <a:ext uri="{FF2B5EF4-FFF2-40B4-BE49-F238E27FC236}">
                <a16:creationId xmlns:a16="http://schemas.microsoft.com/office/drawing/2014/main" id="{0E814A37-EF2A-895C-C5E5-4A1EC393A601}"/>
              </a:ext>
            </a:extLst>
          </p:cNvPr>
          <p:cNvSpPr>
            <a:spLocks noGrp="1"/>
          </p:cNvSpPr>
          <p:nvPr>
            <p:ph type="subTitle" idx="1"/>
          </p:nvPr>
        </p:nvSpPr>
        <p:spPr/>
        <p:txBody>
          <a:bodyPr/>
          <a:lstStyle/>
          <a:p>
            <a:r>
              <a:rPr lang="en-IN" dirty="0"/>
              <a:t>NumPy</a:t>
            </a:r>
          </a:p>
        </p:txBody>
      </p:sp>
    </p:spTree>
    <p:extLst>
      <p:ext uri="{BB962C8B-B14F-4D97-AF65-F5344CB8AC3E}">
        <p14:creationId xmlns:p14="http://schemas.microsoft.com/office/powerpoint/2010/main" val="1274657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50BFC-D256-344F-CC3A-050B11488187}"/>
              </a:ext>
            </a:extLst>
          </p:cNvPr>
          <p:cNvSpPr>
            <a:spLocks noGrp="1"/>
          </p:cNvSpPr>
          <p:nvPr>
            <p:ph type="title"/>
          </p:nvPr>
        </p:nvSpPr>
        <p:spPr/>
        <p:txBody>
          <a:bodyPr/>
          <a:lstStyle/>
          <a:p>
            <a:r>
              <a:rPr lang="en-IN" dirty="0"/>
              <a:t>Introduction NumPy</a:t>
            </a:r>
          </a:p>
        </p:txBody>
      </p:sp>
      <p:sp>
        <p:nvSpPr>
          <p:cNvPr id="3" name="Content Placeholder 2">
            <a:extLst>
              <a:ext uri="{FF2B5EF4-FFF2-40B4-BE49-F238E27FC236}">
                <a16:creationId xmlns:a16="http://schemas.microsoft.com/office/drawing/2014/main" id="{BABE17BC-BBFA-403E-841C-DA141309DFE8}"/>
              </a:ext>
            </a:extLst>
          </p:cNvPr>
          <p:cNvSpPr>
            <a:spLocks noGrp="1"/>
          </p:cNvSpPr>
          <p:nvPr>
            <p:ph idx="1"/>
          </p:nvPr>
        </p:nvSpPr>
        <p:spPr/>
        <p:txBody>
          <a:bodyPr>
            <a:normAutofit fontScale="92500"/>
          </a:bodyPr>
          <a:lstStyle/>
          <a:p>
            <a:r>
              <a:rPr lang="en-US" dirty="0"/>
              <a:t>NumPy stands for ‘Numerical Python’. </a:t>
            </a:r>
          </a:p>
          <a:p>
            <a:r>
              <a:rPr lang="en-US" dirty="0"/>
              <a:t>It is a package for data analysis and scientific computing</a:t>
            </a:r>
          </a:p>
          <a:p>
            <a:pPr marL="0" indent="0">
              <a:buNone/>
            </a:pPr>
            <a:r>
              <a:rPr lang="en-US" dirty="0"/>
              <a:t>   with Python. </a:t>
            </a:r>
          </a:p>
          <a:p>
            <a:r>
              <a:rPr lang="en-US" dirty="0"/>
              <a:t>NumPy uses a multidimensional array object, and has functions and tools</a:t>
            </a:r>
          </a:p>
          <a:p>
            <a:pPr marL="0" indent="0">
              <a:buNone/>
            </a:pPr>
            <a:r>
              <a:rPr lang="en-US" dirty="0"/>
              <a:t>   for working with these arrays. </a:t>
            </a:r>
          </a:p>
          <a:p>
            <a:r>
              <a:rPr lang="en-US" dirty="0"/>
              <a:t>The powerful n dimensional array in NumPy speeds-up data</a:t>
            </a:r>
          </a:p>
          <a:p>
            <a:pPr marL="0" indent="0">
              <a:buNone/>
            </a:pPr>
            <a:r>
              <a:rPr lang="en-US" dirty="0"/>
              <a:t>   processing. </a:t>
            </a:r>
          </a:p>
          <a:p>
            <a:r>
              <a:rPr lang="en-US" dirty="0"/>
              <a:t>The NumPy library has a large set of routines (built-in functions) for creating, </a:t>
            </a:r>
            <a:r>
              <a:rPr lang="en-US" dirty="0" err="1"/>
              <a:t>manipulating,and</a:t>
            </a:r>
            <a:r>
              <a:rPr lang="en-US" dirty="0"/>
              <a:t> transforming NumPy arrays.</a:t>
            </a:r>
            <a:endParaRPr lang="en-IN" dirty="0"/>
          </a:p>
        </p:txBody>
      </p:sp>
    </p:spTree>
    <p:extLst>
      <p:ext uri="{BB962C8B-B14F-4D97-AF65-F5344CB8AC3E}">
        <p14:creationId xmlns:p14="http://schemas.microsoft.com/office/powerpoint/2010/main" val="115924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6965BC-4626-FFB6-B8CE-618E451F1CFC}"/>
              </a:ext>
            </a:extLst>
          </p:cNvPr>
          <p:cNvPicPr>
            <a:picLocks noGrp="1" noChangeAspect="1"/>
          </p:cNvPicPr>
          <p:nvPr>
            <p:ph idx="1"/>
          </p:nvPr>
        </p:nvPicPr>
        <p:blipFill>
          <a:blip r:embed="rId2"/>
          <a:stretch>
            <a:fillRect/>
          </a:stretch>
        </p:blipFill>
        <p:spPr>
          <a:xfrm>
            <a:off x="1129949" y="1825625"/>
            <a:ext cx="9932102" cy="4351338"/>
          </a:xfrm>
        </p:spPr>
      </p:pic>
      <p:pic>
        <p:nvPicPr>
          <p:cNvPr id="13" name="Picture 12">
            <a:extLst>
              <a:ext uri="{FF2B5EF4-FFF2-40B4-BE49-F238E27FC236}">
                <a16:creationId xmlns:a16="http://schemas.microsoft.com/office/drawing/2014/main" id="{85EE8B09-4D60-1E40-1297-A7D62E00DA1A}"/>
              </a:ext>
            </a:extLst>
          </p:cNvPr>
          <p:cNvPicPr>
            <a:picLocks noChangeAspect="1"/>
          </p:cNvPicPr>
          <p:nvPr/>
        </p:nvPicPr>
        <p:blipFill>
          <a:blip r:embed="rId3"/>
          <a:stretch>
            <a:fillRect/>
          </a:stretch>
        </p:blipFill>
        <p:spPr>
          <a:xfrm>
            <a:off x="3446711" y="1306430"/>
            <a:ext cx="5029636" cy="358171"/>
          </a:xfrm>
          <a:prstGeom prst="rect">
            <a:avLst/>
          </a:prstGeom>
        </p:spPr>
      </p:pic>
    </p:spTree>
    <p:extLst>
      <p:ext uri="{BB962C8B-B14F-4D97-AF65-F5344CB8AC3E}">
        <p14:creationId xmlns:p14="http://schemas.microsoft.com/office/powerpoint/2010/main" val="256984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6E69-E774-F32B-2F18-8F310C2BE741}"/>
              </a:ext>
            </a:extLst>
          </p:cNvPr>
          <p:cNvSpPr>
            <a:spLocks noGrp="1"/>
          </p:cNvSpPr>
          <p:nvPr>
            <p:ph type="title"/>
          </p:nvPr>
        </p:nvSpPr>
        <p:spPr/>
        <p:txBody>
          <a:bodyPr/>
          <a:lstStyle/>
          <a:p>
            <a:r>
              <a:rPr lang="en-US" dirty="0"/>
              <a:t>Creation of NumPy Arrays from List</a:t>
            </a:r>
            <a:endParaRPr lang="en-IN" dirty="0"/>
          </a:p>
        </p:txBody>
      </p:sp>
      <p:sp>
        <p:nvSpPr>
          <p:cNvPr id="3" name="Content Placeholder 2">
            <a:extLst>
              <a:ext uri="{FF2B5EF4-FFF2-40B4-BE49-F238E27FC236}">
                <a16:creationId xmlns:a16="http://schemas.microsoft.com/office/drawing/2014/main" id="{963F7CD4-09C0-3883-E4CE-6E798ABED6F9}"/>
              </a:ext>
            </a:extLst>
          </p:cNvPr>
          <p:cNvSpPr>
            <a:spLocks noGrp="1"/>
          </p:cNvSpPr>
          <p:nvPr>
            <p:ph idx="1"/>
          </p:nvPr>
        </p:nvSpPr>
        <p:spPr/>
        <p:txBody>
          <a:bodyPr>
            <a:normAutofit/>
          </a:bodyPr>
          <a:lstStyle/>
          <a:p>
            <a:pPr marL="0" indent="0">
              <a:buNone/>
            </a:pPr>
            <a:r>
              <a:rPr lang="en-US" sz="1800" b="1" dirty="0"/>
              <a:t>Installing NumPy</a:t>
            </a:r>
          </a:p>
          <a:p>
            <a:pPr marL="0" indent="0">
              <a:buNone/>
            </a:pPr>
            <a:r>
              <a:rPr lang="en-US" sz="1800" dirty="0"/>
              <a:t>NumPy can be installed by typing following command:</a:t>
            </a:r>
          </a:p>
          <a:p>
            <a:pPr marL="0" indent="0">
              <a:buNone/>
            </a:pPr>
            <a:r>
              <a:rPr lang="en-US" sz="1800" b="1" dirty="0">
                <a:solidFill>
                  <a:srgbClr val="00B0F0"/>
                </a:solidFill>
              </a:rPr>
              <a:t>pip install NumPy</a:t>
            </a:r>
          </a:p>
          <a:p>
            <a:pPr marL="0" indent="0">
              <a:buNone/>
            </a:pPr>
            <a:endParaRPr lang="en-US" sz="1800" b="1" dirty="0">
              <a:solidFill>
                <a:srgbClr val="00B0F0"/>
              </a:solidFill>
            </a:endParaRPr>
          </a:p>
          <a:p>
            <a:pPr marL="0" indent="0">
              <a:buNone/>
            </a:pPr>
            <a:r>
              <a:rPr lang="en-US" sz="1800" b="1" dirty="0"/>
              <a:t>There are several ways to create arrays. To create an array and to use its methods, first we need to import the NumPy library.</a:t>
            </a:r>
          </a:p>
          <a:p>
            <a:pPr marL="0" indent="0">
              <a:buNone/>
            </a:pPr>
            <a:r>
              <a:rPr lang="en-US" sz="1800" dirty="0"/>
              <a:t>The NumPy’s array() function converts a given list into an array. For example,</a:t>
            </a:r>
          </a:p>
          <a:p>
            <a:pPr marL="0" indent="0">
              <a:buNone/>
            </a:pPr>
            <a:r>
              <a:rPr lang="en-US" sz="1800" dirty="0"/>
              <a:t> </a:t>
            </a:r>
            <a:r>
              <a:rPr lang="en-US" sz="1800" b="1" dirty="0">
                <a:solidFill>
                  <a:srgbClr val="00B0F0"/>
                </a:solidFill>
              </a:rPr>
              <a:t>array1 = </a:t>
            </a:r>
            <a:r>
              <a:rPr lang="en-US" sz="1800" b="1" dirty="0" err="1">
                <a:solidFill>
                  <a:srgbClr val="00B0F0"/>
                </a:solidFill>
              </a:rPr>
              <a:t>np.array</a:t>
            </a:r>
            <a:r>
              <a:rPr lang="en-US" sz="1800" b="1" dirty="0">
                <a:solidFill>
                  <a:srgbClr val="00B0F0"/>
                </a:solidFill>
              </a:rPr>
              <a:t>([10,20,30])</a:t>
            </a:r>
          </a:p>
          <a:p>
            <a:pPr marL="0" indent="0">
              <a:buNone/>
            </a:pPr>
            <a:r>
              <a:rPr lang="en-US" sz="1800" b="1" dirty="0">
                <a:solidFill>
                  <a:srgbClr val="00B0F0"/>
                </a:solidFill>
              </a:rPr>
              <a:t> print(array1)</a:t>
            </a:r>
          </a:p>
          <a:p>
            <a:pPr marL="0" indent="0">
              <a:buNone/>
            </a:pPr>
            <a:r>
              <a:rPr lang="en-US" sz="1800" b="1" dirty="0"/>
              <a:t>Result:</a:t>
            </a:r>
          </a:p>
          <a:p>
            <a:pPr marL="0" indent="0">
              <a:buNone/>
            </a:pPr>
            <a:r>
              <a:rPr lang="en-US" sz="1800" dirty="0"/>
              <a:t>array([10, 20, 30])</a:t>
            </a:r>
            <a:endParaRPr lang="en-IN" sz="1800" dirty="0"/>
          </a:p>
        </p:txBody>
      </p:sp>
    </p:spTree>
    <p:extLst>
      <p:ext uri="{BB962C8B-B14F-4D97-AF65-F5344CB8AC3E}">
        <p14:creationId xmlns:p14="http://schemas.microsoft.com/office/powerpoint/2010/main" val="1351872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D54A-BE27-F99A-288A-DCB36702204A}"/>
              </a:ext>
            </a:extLst>
          </p:cNvPr>
          <p:cNvSpPr>
            <a:spLocks noGrp="1"/>
          </p:cNvSpPr>
          <p:nvPr>
            <p:ph type="title"/>
          </p:nvPr>
        </p:nvSpPr>
        <p:spPr/>
        <p:txBody>
          <a:bodyPr/>
          <a:lstStyle/>
          <a:p>
            <a:r>
              <a:rPr lang="en-US" dirty="0"/>
              <a:t>Creation of NumPy Arrays from List</a:t>
            </a:r>
            <a:endParaRPr lang="en-IN" dirty="0"/>
          </a:p>
        </p:txBody>
      </p:sp>
      <p:sp>
        <p:nvSpPr>
          <p:cNvPr id="3" name="Content Placeholder 2">
            <a:extLst>
              <a:ext uri="{FF2B5EF4-FFF2-40B4-BE49-F238E27FC236}">
                <a16:creationId xmlns:a16="http://schemas.microsoft.com/office/drawing/2014/main" id="{571D508B-2E7F-5B88-22DC-244CBC8AEFC3}"/>
              </a:ext>
            </a:extLst>
          </p:cNvPr>
          <p:cNvSpPr>
            <a:spLocks noGrp="1"/>
          </p:cNvSpPr>
          <p:nvPr>
            <p:ph idx="1"/>
          </p:nvPr>
        </p:nvSpPr>
        <p:spPr/>
        <p:txBody>
          <a:bodyPr>
            <a:normAutofit fontScale="92500" lnSpcReduction="10000"/>
          </a:bodyPr>
          <a:lstStyle/>
          <a:p>
            <a:pPr marL="0" indent="0">
              <a:buNone/>
            </a:pPr>
            <a:r>
              <a:rPr lang="en-US" b="1" dirty="0"/>
              <a:t>Creating a 1-D Array</a:t>
            </a:r>
          </a:p>
          <a:p>
            <a:pPr marL="0" indent="0">
              <a:buNone/>
            </a:pPr>
            <a:r>
              <a:rPr lang="en-US" dirty="0"/>
              <a:t>An array with only single row of elements is called 1-D array. Let us try to create a 1-D array from a list which contains numbers as well as strings.</a:t>
            </a:r>
          </a:p>
          <a:p>
            <a:pPr marL="0" indent="0">
              <a:buNone/>
            </a:pPr>
            <a:endParaRPr lang="en-US" dirty="0"/>
          </a:p>
          <a:p>
            <a:pPr marL="0" indent="0">
              <a:buNone/>
            </a:pPr>
            <a:r>
              <a:rPr lang="en-US" b="1" dirty="0">
                <a:solidFill>
                  <a:schemeClr val="accent1"/>
                </a:solidFill>
              </a:rPr>
              <a:t>&gt;&gt;&gt; array2 = </a:t>
            </a:r>
            <a:r>
              <a:rPr lang="en-US" b="1" dirty="0" err="1">
                <a:solidFill>
                  <a:schemeClr val="accent1"/>
                </a:solidFill>
              </a:rPr>
              <a:t>np.array</a:t>
            </a:r>
            <a:r>
              <a:rPr lang="en-US" b="1" dirty="0">
                <a:solidFill>
                  <a:schemeClr val="accent1"/>
                </a:solidFill>
              </a:rPr>
              <a:t>([5,-7.4,'a',7.2])</a:t>
            </a:r>
          </a:p>
          <a:p>
            <a:pPr marL="0" indent="0">
              <a:buNone/>
            </a:pPr>
            <a:r>
              <a:rPr lang="en-US" b="1" dirty="0">
                <a:solidFill>
                  <a:schemeClr val="accent1"/>
                </a:solidFill>
              </a:rPr>
              <a:t>&gt;&gt;&gt; array2</a:t>
            </a:r>
            <a:r>
              <a:rPr lang="en-US" b="1" dirty="0"/>
              <a:t>array(['5', '-7.4', 'a', '7.2'],</a:t>
            </a:r>
            <a:r>
              <a:rPr lang="en-US" b="1" dirty="0" err="1"/>
              <a:t>dtype</a:t>
            </a:r>
            <a:r>
              <a:rPr lang="en-US" b="1" dirty="0"/>
              <a:t>='&lt;U32')</a:t>
            </a:r>
          </a:p>
          <a:p>
            <a:pPr marL="0" indent="0">
              <a:buNone/>
            </a:pPr>
            <a:endParaRPr lang="en-US" b="1" dirty="0">
              <a:solidFill>
                <a:schemeClr val="accent1"/>
              </a:solidFill>
            </a:endParaRPr>
          </a:p>
          <a:p>
            <a:pPr marL="0" indent="0">
              <a:buNone/>
            </a:pPr>
            <a:r>
              <a:rPr lang="en-US" dirty="0"/>
              <a:t>Observe that since there is a string value in the list, all integer and float values have been promoted to string, while converting the list to array.</a:t>
            </a:r>
          </a:p>
          <a:p>
            <a:pPr marL="0" indent="0">
              <a:buNone/>
            </a:pPr>
            <a:r>
              <a:rPr lang="en-US" dirty="0"/>
              <a:t>Note: U32 means Unicode-32 data type.</a:t>
            </a:r>
          </a:p>
          <a:p>
            <a:pPr marL="0" indent="0">
              <a:buNone/>
            </a:pPr>
            <a:endParaRPr lang="en-IN" dirty="0"/>
          </a:p>
        </p:txBody>
      </p:sp>
    </p:spTree>
    <p:extLst>
      <p:ext uri="{BB962C8B-B14F-4D97-AF65-F5344CB8AC3E}">
        <p14:creationId xmlns:p14="http://schemas.microsoft.com/office/powerpoint/2010/main" val="226600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4772-DBE0-D862-8BD2-315B98CCD801}"/>
              </a:ext>
            </a:extLst>
          </p:cNvPr>
          <p:cNvSpPr>
            <a:spLocks noGrp="1"/>
          </p:cNvSpPr>
          <p:nvPr>
            <p:ph type="title"/>
          </p:nvPr>
        </p:nvSpPr>
        <p:spPr/>
        <p:txBody>
          <a:bodyPr/>
          <a:lstStyle/>
          <a:p>
            <a:r>
              <a:rPr lang="en-US" dirty="0"/>
              <a:t>Creation of NumPy Arrays from List</a:t>
            </a:r>
            <a:endParaRPr lang="en-IN" dirty="0"/>
          </a:p>
        </p:txBody>
      </p:sp>
      <p:sp>
        <p:nvSpPr>
          <p:cNvPr id="3" name="Content Placeholder 2">
            <a:extLst>
              <a:ext uri="{FF2B5EF4-FFF2-40B4-BE49-F238E27FC236}">
                <a16:creationId xmlns:a16="http://schemas.microsoft.com/office/drawing/2014/main" id="{F3679648-50C7-A083-080C-CE9B1FA6AC28}"/>
              </a:ext>
            </a:extLst>
          </p:cNvPr>
          <p:cNvSpPr>
            <a:spLocks noGrp="1"/>
          </p:cNvSpPr>
          <p:nvPr>
            <p:ph idx="1"/>
          </p:nvPr>
        </p:nvSpPr>
        <p:spPr/>
        <p:txBody>
          <a:bodyPr>
            <a:normAutofit fontScale="85000" lnSpcReduction="20000"/>
          </a:bodyPr>
          <a:lstStyle/>
          <a:p>
            <a:pPr marL="0" indent="0">
              <a:buNone/>
            </a:pPr>
            <a:r>
              <a:rPr lang="en-US" b="1" dirty="0"/>
              <a:t>Creating a 2-D Array</a:t>
            </a:r>
          </a:p>
          <a:p>
            <a:pPr marL="0" indent="0">
              <a:buNone/>
            </a:pPr>
            <a:r>
              <a:rPr lang="en-US" dirty="0"/>
              <a:t>We can create a two dimensional (2-D) arrays by passing nested lists to the array() function.</a:t>
            </a:r>
          </a:p>
          <a:p>
            <a:pPr marL="0" indent="0">
              <a:buNone/>
            </a:pPr>
            <a:r>
              <a:rPr lang="en-US" b="1" dirty="0">
                <a:solidFill>
                  <a:schemeClr val="accent1"/>
                </a:solidFill>
              </a:rPr>
              <a:t> &gt;&gt;&gt; array3 = </a:t>
            </a:r>
            <a:r>
              <a:rPr lang="en-US" b="1" dirty="0" err="1">
                <a:solidFill>
                  <a:schemeClr val="accent1"/>
                </a:solidFill>
              </a:rPr>
              <a:t>np.array</a:t>
            </a:r>
            <a:r>
              <a:rPr lang="en-US" b="1" dirty="0">
                <a:solidFill>
                  <a:schemeClr val="accent1"/>
                </a:solidFill>
              </a:rPr>
              <a:t>([[2.4,3],[4.91,7],[0,-1]])</a:t>
            </a:r>
          </a:p>
          <a:p>
            <a:pPr marL="0" indent="0">
              <a:buNone/>
            </a:pPr>
            <a:r>
              <a:rPr lang="en-US" dirty="0"/>
              <a:t>A list is called nested list when each element is a list itself.</a:t>
            </a:r>
          </a:p>
          <a:p>
            <a:pPr marL="0" indent="0">
              <a:buNone/>
            </a:pPr>
            <a:r>
              <a:rPr lang="en-US" b="1" dirty="0">
                <a:solidFill>
                  <a:schemeClr val="accent1"/>
                </a:solidFill>
              </a:rPr>
              <a:t>print(array3)</a:t>
            </a:r>
          </a:p>
          <a:p>
            <a:pPr marL="0" indent="0">
              <a:buNone/>
            </a:pPr>
            <a:r>
              <a:rPr lang="en-US" b="1" dirty="0"/>
              <a:t>Result:</a:t>
            </a:r>
          </a:p>
          <a:p>
            <a:pPr marL="0" indent="0">
              <a:buNone/>
            </a:pPr>
            <a:r>
              <a:rPr lang="en-US" dirty="0"/>
              <a:t>array([[ 2.4 , 3. ],</a:t>
            </a:r>
          </a:p>
          <a:p>
            <a:pPr marL="0" indent="0">
              <a:buNone/>
            </a:pPr>
            <a:r>
              <a:rPr lang="en-US" dirty="0"/>
              <a:t>[ 4.91, 7. ],</a:t>
            </a:r>
          </a:p>
          <a:p>
            <a:pPr marL="0" indent="0">
              <a:buNone/>
            </a:pPr>
            <a:r>
              <a:rPr lang="en-US" dirty="0"/>
              <a:t>[ 0. , -1. ]])</a:t>
            </a:r>
          </a:p>
          <a:p>
            <a:pPr marL="0" indent="0">
              <a:buNone/>
            </a:pPr>
            <a:r>
              <a:rPr lang="en-US" dirty="0"/>
              <a:t>Observe that the integers 3, 7, 0 and -1 have </a:t>
            </a:r>
            <a:r>
              <a:rPr lang="en-US" dirty="0" err="1"/>
              <a:t>beenpromoted</a:t>
            </a:r>
            <a:r>
              <a:rPr lang="en-US" dirty="0"/>
              <a:t> to floats</a:t>
            </a:r>
            <a:endParaRPr lang="en-IN" dirty="0"/>
          </a:p>
        </p:txBody>
      </p:sp>
    </p:spTree>
    <p:extLst>
      <p:ext uri="{BB962C8B-B14F-4D97-AF65-F5344CB8AC3E}">
        <p14:creationId xmlns:p14="http://schemas.microsoft.com/office/powerpoint/2010/main" val="1758329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A2C0B-F380-ADCB-0A6B-D13D2BEA0DC6}"/>
              </a:ext>
            </a:extLst>
          </p:cNvPr>
          <p:cNvSpPr>
            <a:spLocks noGrp="1"/>
          </p:cNvSpPr>
          <p:nvPr>
            <p:ph type="title"/>
          </p:nvPr>
        </p:nvSpPr>
        <p:spPr/>
        <p:txBody>
          <a:bodyPr/>
          <a:lstStyle/>
          <a:p>
            <a:r>
              <a:rPr lang="en-IN" dirty="0"/>
              <a:t>Attributes of NumPy Array</a:t>
            </a:r>
          </a:p>
        </p:txBody>
      </p:sp>
      <p:sp>
        <p:nvSpPr>
          <p:cNvPr id="3" name="Content Placeholder 2">
            <a:extLst>
              <a:ext uri="{FF2B5EF4-FFF2-40B4-BE49-F238E27FC236}">
                <a16:creationId xmlns:a16="http://schemas.microsoft.com/office/drawing/2014/main" id="{2C0958A6-3830-3709-45F3-2A93A95AA65D}"/>
              </a:ext>
            </a:extLst>
          </p:cNvPr>
          <p:cNvSpPr>
            <a:spLocks noGrp="1"/>
          </p:cNvSpPr>
          <p:nvPr>
            <p:ph idx="1"/>
          </p:nvPr>
        </p:nvSpPr>
        <p:spPr>
          <a:xfrm>
            <a:off x="838200" y="1559859"/>
            <a:ext cx="10515600" cy="4356847"/>
          </a:xfrm>
        </p:spPr>
        <p:txBody>
          <a:bodyPr>
            <a:normAutofit fontScale="62500" lnSpcReduction="20000"/>
          </a:bodyPr>
          <a:lstStyle/>
          <a:p>
            <a:pPr marL="0" indent="0">
              <a:buNone/>
            </a:pPr>
            <a:r>
              <a:rPr lang="en-US" b="1" dirty="0"/>
              <a:t>Some important attributes of a NumPy </a:t>
            </a:r>
            <a:r>
              <a:rPr lang="en-US" b="1" dirty="0" err="1"/>
              <a:t>ndarray</a:t>
            </a:r>
            <a:r>
              <a:rPr lang="en-US" b="1" dirty="0"/>
              <a:t> object are:</a:t>
            </a:r>
          </a:p>
          <a:p>
            <a:pPr marL="0" indent="0">
              <a:buNone/>
            </a:pPr>
            <a:r>
              <a:rPr lang="en-US" b="1" dirty="0"/>
              <a:t>1) </a:t>
            </a:r>
            <a:r>
              <a:rPr lang="en-US" b="1" dirty="0" err="1"/>
              <a:t>ndarray.ndim</a:t>
            </a:r>
            <a:r>
              <a:rPr lang="en-US" b="1" dirty="0"/>
              <a:t>:</a:t>
            </a:r>
            <a:r>
              <a:rPr lang="en-US" dirty="0"/>
              <a:t> gives the number of dimensions of the array as an integer value. Arrays can be 1-D, 2-D or n-D. In this chapter, we shall focus on 1-D and 2-D arrays only. NumPy calls the dimensions as axes (plural of axis). </a:t>
            </a:r>
          </a:p>
          <a:p>
            <a:pPr marL="0" indent="0">
              <a:buNone/>
            </a:pPr>
            <a:r>
              <a:rPr lang="en-US" dirty="0"/>
              <a:t>Thus, a 2-D array has two axes. The row-axis is called axis-0 and the column-axis is called axis-1. The number of axes is also called the array’s rank.</a:t>
            </a:r>
          </a:p>
          <a:p>
            <a:pPr marL="0" indent="0">
              <a:buNone/>
            </a:pPr>
            <a:r>
              <a:rPr lang="en-US" b="1" dirty="0">
                <a:solidFill>
                  <a:schemeClr val="accent1"/>
                </a:solidFill>
              </a:rPr>
              <a:t>&gt;&gt;&gt; array1.ndim</a:t>
            </a:r>
          </a:p>
          <a:p>
            <a:pPr marL="0" indent="0">
              <a:buNone/>
            </a:pPr>
            <a:r>
              <a:rPr lang="en-US" b="1" dirty="0">
                <a:solidFill>
                  <a:schemeClr val="accent1"/>
                </a:solidFill>
              </a:rPr>
              <a:t>1</a:t>
            </a:r>
          </a:p>
          <a:p>
            <a:pPr marL="0" indent="0">
              <a:buNone/>
            </a:pPr>
            <a:r>
              <a:rPr lang="en-US" b="1" dirty="0">
                <a:solidFill>
                  <a:schemeClr val="accent1"/>
                </a:solidFill>
              </a:rPr>
              <a:t>&gt;&gt;&gt; array3.ndim</a:t>
            </a:r>
          </a:p>
          <a:p>
            <a:pPr marL="0" indent="0">
              <a:buNone/>
            </a:pPr>
            <a:r>
              <a:rPr lang="en-US" b="1" dirty="0">
                <a:solidFill>
                  <a:schemeClr val="accent1"/>
                </a:solidFill>
              </a:rPr>
              <a:t>2</a:t>
            </a:r>
          </a:p>
          <a:p>
            <a:pPr marL="0" indent="0">
              <a:buNone/>
            </a:pPr>
            <a:r>
              <a:rPr lang="en-US" b="1" dirty="0"/>
              <a:t>2) </a:t>
            </a:r>
            <a:r>
              <a:rPr lang="en-US" b="1" dirty="0" err="1"/>
              <a:t>ndarray.shape</a:t>
            </a:r>
            <a:r>
              <a:rPr lang="en-US" b="1" dirty="0"/>
              <a:t>: </a:t>
            </a:r>
            <a:r>
              <a:rPr lang="en-US" dirty="0"/>
              <a:t>It gives the sequence of integers indicating the size of the array for each dimension.</a:t>
            </a:r>
          </a:p>
          <a:p>
            <a:pPr marL="0" indent="0">
              <a:buNone/>
            </a:pPr>
            <a:r>
              <a:rPr lang="en-US" b="1" dirty="0">
                <a:solidFill>
                  <a:schemeClr val="accent1"/>
                </a:solidFill>
              </a:rPr>
              <a:t>&gt;&gt;&gt; array1.shape</a:t>
            </a:r>
          </a:p>
          <a:p>
            <a:pPr marL="0" indent="0">
              <a:buNone/>
            </a:pPr>
            <a:r>
              <a:rPr lang="en-US" b="1" dirty="0">
                <a:solidFill>
                  <a:schemeClr val="accent1"/>
                </a:solidFill>
              </a:rPr>
              <a:t>(3,)</a:t>
            </a:r>
          </a:p>
          <a:p>
            <a:pPr marL="0" indent="0">
              <a:buNone/>
            </a:pPr>
            <a:r>
              <a:rPr lang="en-US" b="1" dirty="0">
                <a:solidFill>
                  <a:schemeClr val="accent1"/>
                </a:solidFill>
              </a:rPr>
              <a:t>&gt;&gt;&gt; array3.shape</a:t>
            </a:r>
          </a:p>
          <a:p>
            <a:pPr marL="0" indent="0">
              <a:buNone/>
            </a:pPr>
            <a:r>
              <a:rPr lang="en-US" b="1" dirty="0">
                <a:solidFill>
                  <a:schemeClr val="accent1"/>
                </a:solidFill>
              </a:rPr>
              <a:t>(3, 2)</a:t>
            </a:r>
          </a:p>
          <a:p>
            <a:pPr marL="0" indent="0">
              <a:buNone/>
            </a:pPr>
            <a:endParaRPr lang="en-IN" dirty="0"/>
          </a:p>
        </p:txBody>
      </p:sp>
    </p:spTree>
    <p:extLst>
      <p:ext uri="{BB962C8B-B14F-4D97-AF65-F5344CB8AC3E}">
        <p14:creationId xmlns:p14="http://schemas.microsoft.com/office/powerpoint/2010/main" val="3493585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4DE05-D02E-4DF1-0589-51A77AB5C33A}"/>
              </a:ext>
            </a:extLst>
          </p:cNvPr>
          <p:cNvSpPr>
            <a:spLocks noGrp="1"/>
          </p:cNvSpPr>
          <p:nvPr>
            <p:ph idx="1"/>
          </p:nvPr>
        </p:nvSpPr>
        <p:spPr>
          <a:xfrm>
            <a:off x="632011" y="968188"/>
            <a:ext cx="10515600" cy="5002305"/>
          </a:xfrm>
        </p:spPr>
        <p:txBody>
          <a:bodyPr>
            <a:noAutofit/>
          </a:bodyPr>
          <a:lstStyle/>
          <a:p>
            <a:pPr marL="0" indent="0">
              <a:buNone/>
            </a:pPr>
            <a:r>
              <a:rPr lang="en-US" sz="1800" b="1" dirty="0"/>
              <a:t>3) </a:t>
            </a:r>
            <a:r>
              <a:rPr lang="en-US" sz="1800" b="1" dirty="0" err="1"/>
              <a:t>ndarray.size</a:t>
            </a:r>
            <a:r>
              <a:rPr lang="en-US" sz="1800" dirty="0"/>
              <a:t>: It gives the total number of  elements of the array. This is equal to the product  of the elements of shape.</a:t>
            </a:r>
          </a:p>
          <a:p>
            <a:pPr marL="0" indent="0">
              <a:buNone/>
            </a:pPr>
            <a:r>
              <a:rPr lang="en-US" sz="1800" b="1" dirty="0">
                <a:solidFill>
                  <a:schemeClr val="accent1"/>
                </a:solidFill>
              </a:rPr>
              <a:t>&gt;&gt;&gt; array3.size</a:t>
            </a:r>
          </a:p>
          <a:p>
            <a:pPr marL="0" indent="0">
              <a:buNone/>
            </a:pPr>
            <a:r>
              <a:rPr lang="en-US" sz="1800" b="1" dirty="0">
                <a:solidFill>
                  <a:schemeClr val="accent1"/>
                </a:solidFill>
              </a:rPr>
              <a:t>6</a:t>
            </a:r>
          </a:p>
          <a:p>
            <a:pPr marL="0" indent="0">
              <a:buNone/>
            </a:pPr>
            <a:r>
              <a:rPr lang="en-US" sz="1800" b="1" dirty="0"/>
              <a:t>4) </a:t>
            </a:r>
            <a:r>
              <a:rPr lang="en-US" sz="1800" b="1" dirty="0" err="1"/>
              <a:t>ndarray.dtype</a:t>
            </a:r>
            <a:r>
              <a:rPr lang="en-US" sz="1800" b="1" dirty="0"/>
              <a:t>: </a:t>
            </a:r>
            <a:r>
              <a:rPr lang="en-US" sz="1800" dirty="0"/>
              <a:t>is the data type of the elements of the array. All the elements of an array are of</a:t>
            </a:r>
          </a:p>
          <a:p>
            <a:pPr marL="0" indent="0">
              <a:buNone/>
            </a:pPr>
            <a:r>
              <a:rPr lang="en-US" sz="1800" dirty="0"/>
              <a:t>same data type. Common data types are int32, int64, float32, float64, U32, etc.</a:t>
            </a:r>
          </a:p>
          <a:p>
            <a:pPr marL="0" indent="0">
              <a:buNone/>
            </a:pPr>
            <a:r>
              <a:rPr lang="en-US" sz="1800" b="1" dirty="0">
                <a:solidFill>
                  <a:schemeClr val="accent1"/>
                </a:solidFill>
              </a:rPr>
              <a:t>&gt;&gt;&gt; array1.dtype</a:t>
            </a:r>
          </a:p>
          <a:p>
            <a:pPr marL="0" indent="0">
              <a:buNone/>
            </a:pPr>
            <a:r>
              <a:rPr lang="en-US" sz="1800" b="1" dirty="0" err="1">
                <a:solidFill>
                  <a:schemeClr val="accent1"/>
                </a:solidFill>
              </a:rPr>
              <a:t>dtype</a:t>
            </a:r>
            <a:r>
              <a:rPr lang="en-US" sz="1800" b="1" dirty="0">
                <a:solidFill>
                  <a:schemeClr val="accent1"/>
                </a:solidFill>
              </a:rPr>
              <a:t>('int32’)</a:t>
            </a:r>
          </a:p>
          <a:p>
            <a:pPr marL="0" indent="0">
              <a:buNone/>
            </a:pPr>
            <a:r>
              <a:rPr lang="en-US" sz="1800" dirty="0"/>
              <a:t> 5</a:t>
            </a:r>
            <a:r>
              <a:rPr lang="en-US" sz="1800" b="1" dirty="0"/>
              <a:t>) </a:t>
            </a:r>
            <a:r>
              <a:rPr lang="en-US" sz="1800" b="1" dirty="0" err="1"/>
              <a:t>ndarray.itemsize</a:t>
            </a:r>
            <a:r>
              <a:rPr lang="en-US" sz="1800" b="1" dirty="0"/>
              <a:t>: </a:t>
            </a:r>
            <a:r>
              <a:rPr lang="en-US" sz="1800" dirty="0"/>
              <a:t>It specifies the size in bytes of each element of the array. Data type int32 and</a:t>
            </a:r>
          </a:p>
          <a:p>
            <a:pPr marL="0" indent="0">
              <a:buNone/>
            </a:pPr>
            <a:r>
              <a:rPr lang="en-US" sz="1800" dirty="0"/>
              <a:t>float32 means each element of the array occupies 32 bits in memory. 8 bits form a byte. Thus, an</a:t>
            </a:r>
          </a:p>
          <a:p>
            <a:pPr marL="0" indent="0">
              <a:buNone/>
            </a:pPr>
            <a:r>
              <a:rPr lang="en-US" sz="1800" dirty="0"/>
              <a:t>array of elements of type int32 has </a:t>
            </a:r>
            <a:r>
              <a:rPr lang="en-US" sz="1800" dirty="0" err="1"/>
              <a:t>itemsize</a:t>
            </a:r>
            <a:r>
              <a:rPr lang="en-US" sz="1800" dirty="0"/>
              <a:t> 32/8=4 bytes. Likewise, int64/float64 means each item</a:t>
            </a:r>
          </a:p>
          <a:p>
            <a:pPr marL="0" indent="0">
              <a:buNone/>
            </a:pPr>
            <a:r>
              <a:rPr lang="en-US" sz="1800" dirty="0"/>
              <a:t>has </a:t>
            </a:r>
            <a:r>
              <a:rPr lang="en-US" sz="1800" dirty="0" err="1"/>
              <a:t>itemsize</a:t>
            </a:r>
            <a:r>
              <a:rPr lang="en-US" sz="1800" dirty="0"/>
              <a:t> 64/8=8 bytes.</a:t>
            </a:r>
          </a:p>
          <a:p>
            <a:pPr marL="0" indent="0">
              <a:buNone/>
            </a:pPr>
            <a:r>
              <a:rPr lang="en-US" sz="1800" b="1" dirty="0">
                <a:solidFill>
                  <a:schemeClr val="accent1"/>
                </a:solidFill>
              </a:rPr>
              <a:t>&gt;&gt;&gt; array1.itemsize</a:t>
            </a:r>
          </a:p>
          <a:p>
            <a:pPr marL="0" indent="0">
              <a:buNone/>
            </a:pPr>
            <a:r>
              <a:rPr lang="en-US" sz="1800" b="1" dirty="0">
                <a:solidFill>
                  <a:schemeClr val="accent1"/>
                </a:solidFill>
              </a:rPr>
              <a:t>4  </a:t>
            </a:r>
          </a:p>
          <a:p>
            <a:pPr marL="0" indent="0">
              <a:buNone/>
            </a:pPr>
            <a:r>
              <a:rPr lang="en-US" sz="1800" dirty="0"/>
              <a:t> </a:t>
            </a:r>
          </a:p>
          <a:p>
            <a:pPr marL="0" indent="0">
              <a:buNone/>
            </a:pPr>
            <a:endParaRPr lang="en-IN" sz="1800" dirty="0"/>
          </a:p>
        </p:txBody>
      </p:sp>
    </p:spTree>
    <p:extLst>
      <p:ext uri="{BB962C8B-B14F-4D97-AF65-F5344CB8AC3E}">
        <p14:creationId xmlns:p14="http://schemas.microsoft.com/office/powerpoint/2010/main" val="3178244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6B684-58CF-C311-9966-AB236C996808}"/>
              </a:ext>
            </a:extLst>
          </p:cNvPr>
          <p:cNvSpPr>
            <a:spLocks noGrp="1"/>
          </p:cNvSpPr>
          <p:nvPr>
            <p:ph type="title"/>
          </p:nvPr>
        </p:nvSpPr>
        <p:spPr/>
        <p:txBody>
          <a:bodyPr/>
          <a:lstStyle/>
          <a:p>
            <a:r>
              <a:rPr lang="en-US" dirty="0"/>
              <a:t>Other Ways of Creating NumPy Arrays</a:t>
            </a:r>
            <a:endParaRPr lang="en-IN" dirty="0"/>
          </a:p>
        </p:txBody>
      </p:sp>
      <p:sp>
        <p:nvSpPr>
          <p:cNvPr id="3" name="Content Placeholder 2">
            <a:extLst>
              <a:ext uri="{FF2B5EF4-FFF2-40B4-BE49-F238E27FC236}">
                <a16:creationId xmlns:a16="http://schemas.microsoft.com/office/drawing/2014/main" id="{8CED0699-D24D-5366-1E15-5DF2D06B9B0B}"/>
              </a:ext>
            </a:extLst>
          </p:cNvPr>
          <p:cNvSpPr>
            <a:spLocks noGrp="1"/>
          </p:cNvSpPr>
          <p:nvPr>
            <p:ph idx="1"/>
          </p:nvPr>
        </p:nvSpPr>
        <p:spPr/>
        <p:txBody>
          <a:bodyPr>
            <a:normAutofit fontScale="92500" lnSpcReduction="20000"/>
          </a:bodyPr>
          <a:lstStyle/>
          <a:p>
            <a:pPr marL="514350" indent="-514350">
              <a:buFont typeface="+mj-lt"/>
              <a:buAutoNum type="arabicPeriod"/>
            </a:pPr>
            <a:r>
              <a:rPr lang="en-US" dirty="0"/>
              <a:t>We can specify data type (integer, float, etc.) while creating array using </a:t>
            </a:r>
            <a:r>
              <a:rPr lang="en-US" dirty="0" err="1"/>
              <a:t>dtype</a:t>
            </a:r>
            <a:r>
              <a:rPr lang="en-US" dirty="0"/>
              <a:t> as an argument to array(). This will convert the data automatically to the mentioned type.</a:t>
            </a:r>
          </a:p>
          <a:p>
            <a:pPr marL="0" indent="0">
              <a:buNone/>
            </a:pPr>
            <a:r>
              <a:rPr lang="en-US" b="1" dirty="0">
                <a:solidFill>
                  <a:schemeClr val="accent1"/>
                </a:solidFill>
              </a:rPr>
              <a:t>        Example:</a:t>
            </a:r>
          </a:p>
          <a:p>
            <a:pPr marL="0" indent="0">
              <a:buNone/>
            </a:pPr>
            <a:r>
              <a:rPr lang="en-US" dirty="0"/>
              <a:t>        </a:t>
            </a:r>
            <a:r>
              <a:rPr lang="en-US" dirty="0">
                <a:solidFill>
                  <a:schemeClr val="accent1"/>
                </a:solidFill>
              </a:rPr>
              <a:t>array4 = </a:t>
            </a:r>
            <a:r>
              <a:rPr lang="en-US" dirty="0" err="1">
                <a:solidFill>
                  <a:schemeClr val="accent1"/>
                </a:solidFill>
              </a:rPr>
              <a:t>np.array</a:t>
            </a:r>
            <a:r>
              <a:rPr lang="en-US" dirty="0">
                <a:solidFill>
                  <a:schemeClr val="accent1"/>
                </a:solidFill>
              </a:rPr>
              <a:t>( [ [1,2], [3,4] ],</a:t>
            </a:r>
            <a:r>
              <a:rPr lang="en-US" dirty="0" err="1">
                <a:solidFill>
                  <a:schemeClr val="accent1"/>
                </a:solidFill>
              </a:rPr>
              <a:t>dtype</a:t>
            </a:r>
            <a:r>
              <a:rPr lang="en-US" dirty="0">
                <a:solidFill>
                  <a:schemeClr val="accent1"/>
                </a:solidFill>
              </a:rPr>
              <a:t>=float)</a:t>
            </a:r>
          </a:p>
          <a:p>
            <a:pPr marL="0" indent="0">
              <a:buNone/>
            </a:pPr>
            <a:r>
              <a:rPr lang="en-US" dirty="0"/>
              <a:t>        	Think and Reflect When we may require to create an array </a:t>
            </a:r>
            <a:r>
              <a:rPr lang="en-US" dirty="0" err="1"/>
              <a:t>initialised</a:t>
            </a:r>
            <a:r>
              <a:rPr lang="en-US" dirty="0"/>
              <a:t> 	to zeros or ones?</a:t>
            </a:r>
          </a:p>
          <a:p>
            <a:pPr marL="0" indent="0">
              <a:buNone/>
            </a:pPr>
            <a:r>
              <a:rPr lang="en-US" dirty="0"/>
              <a:t>       	print(array4)</a:t>
            </a:r>
          </a:p>
          <a:p>
            <a:pPr marL="0" indent="0">
              <a:buNone/>
            </a:pPr>
            <a:r>
              <a:rPr lang="en-US" dirty="0"/>
              <a:t>	</a:t>
            </a:r>
            <a:r>
              <a:rPr lang="en-US" b="1" dirty="0"/>
              <a:t>Result:</a:t>
            </a:r>
          </a:p>
          <a:p>
            <a:pPr marL="0" indent="0">
              <a:buNone/>
            </a:pPr>
            <a:r>
              <a:rPr lang="en-US" dirty="0"/>
              <a:t>	[[1., 2.],</a:t>
            </a:r>
          </a:p>
          <a:p>
            <a:pPr marL="0" indent="0">
              <a:buNone/>
            </a:pPr>
            <a:r>
              <a:rPr lang="en-US" dirty="0"/>
              <a:t>	[3., 4.]]</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782344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2C2AC-90E5-F55D-DD5A-BB08905D6DE1}"/>
              </a:ext>
            </a:extLst>
          </p:cNvPr>
          <p:cNvSpPr>
            <a:spLocks noGrp="1"/>
          </p:cNvSpPr>
          <p:nvPr>
            <p:ph type="title"/>
          </p:nvPr>
        </p:nvSpPr>
        <p:spPr/>
        <p:txBody>
          <a:bodyPr/>
          <a:lstStyle/>
          <a:p>
            <a:r>
              <a:rPr lang="en-US" dirty="0"/>
              <a:t>Other Ways of Creating NumPy Arrays</a:t>
            </a:r>
            <a:endParaRPr lang="en-IN" dirty="0"/>
          </a:p>
        </p:txBody>
      </p:sp>
      <p:sp>
        <p:nvSpPr>
          <p:cNvPr id="3" name="Content Placeholder 2">
            <a:extLst>
              <a:ext uri="{FF2B5EF4-FFF2-40B4-BE49-F238E27FC236}">
                <a16:creationId xmlns:a16="http://schemas.microsoft.com/office/drawing/2014/main" id="{ADD06194-65D6-202C-F6B1-745B40CEC939}"/>
              </a:ext>
            </a:extLst>
          </p:cNvPr>
          <p:cNvSpPr>
            <a:spLocks noGrp="1"/>
          </p:cNvSpPr>
          <p:nvPr>
            <p:ph idx="1"/>
          </p:nvPr>
        </p:nvSpPr>
        <p:spPr/>
        <p:txBody>
          <a:bodyPr>
            <a:normAutofit fontScale="70000" lnSpcReduction="20000"/>
          </a:bodyPr>
          <a:lstStyle/>
          <a:p>
            <a:pPr marL="0" indent="0">
              <a:buNone/>
            </a:pPr>
            <a:r>
              <a:rPr lang="en-US" dirty="0"/>
              <a:t>2. We can create an array with all elements initialized  to 0 using the function zeros(). By default, the  data type of the array created by zeros() is float. The following code will create an array with 3 rows and 4 columns with each element set to 0.</a:t>
            </a:r>
          </a:p>
          <a:p>
            <a:pPr marL="0" indent="0">
              <a:buNone/>
            </a:pPr>
            <a:r>
              <a:rPr lang="en-US" dirty="0">
                <a:solidFill>
                  <a:schemeClr val="accent1"/>
                </a:solidFill>
              </a:rPr>
              <a:t>array5 = </a:t>
            </a:r>
            <a:r>
              <a:rPr lang="en-US" dirty="0" err="1">
                <a:solidFill>
                  <a:schemeClr val="accent1"/>
                </a:solidFill>
              </a:rPr>
              <a:t>np.zeros</a:t>
            </a:r>
            <a:r>
              <a:rPr lang="en-US" dirty="0">
                <a:solidFill>
                  <a:schemeClr val="accent1"/>
                </a:solidFill>
              </a:rPr>
              <a:t>((3,4))</a:t>
            </a:r>
          </a:p>
          <a:p>
            <a:pPr marL="0" indent="0">
              <a:buNone/>
            </a:pPr>
            <a:r>
              <a:rPr lang="en-US" dirty="0"/>
              <a:t>[[0., 0., 0., 0.],</a:t>
            </a:r>
          </a:p>
          <a:p>
            <a:pPr marL="0" indent="0">
              <a:buNone/>
            </a:pPr>
            <a:r>
              <a:rPr lang="en-US" dirty="0"/>
              <a:t>[0., 0., 0., 0.],</a:t>
            </a:r>
          </a:p>
          <a:p>
            <a:pPr marL="0" indent="0">
              <a:buNone/>
            </a:pPr>
            <a:r>
              <a:rPr lang="en-US" dirty="0"/>
              <a:t>[0., 0., 0., 0.]]</a:t>
            </a:r>
          </a:p>
          <a:p>
            <a:pPr marL="0" indent="0">
              <a:buNone/>
            </a:pPr>
            <a:r>
              <a:rPr lang="en-US" dirty="0"/>
              <a:t>3. We can create an array with all elements initialized to 1 using the function ones(). By default, the data type of the array created by ones() is float. The following code will create an array with 3 rows and 2 columns.</a:t>
            </a:r>
          </a:p>
          <a:p>
            <a:pPr marL="0" indent="0">
              <a:buNone/>
            </a:pPr>
            <a:r>
              <a:rPr lang="en-US" dirty="0">
                <a:solidFill>
                  <a:schemeClr val="accent1"/>
                </a:solidFill>
              </a:rPr>
              <a:t>array6 = </a:t>
            </a:r>
            <a:r>
              <a:rPr lang="en-US" dirty="0" err="1">
                <a:solidFill>
                  <a:schemeClr val="accent1"/>
                </a:solidFill>
              </a:rPr>
              <a:t>np.ones</a:t>
            </a:r>
            <a:r>
              <a:rPr lang="en-US" dirty="0">
                <a:solidFill>
                  <a:schemeClr val="accent1"/>
                </a:solidFill>
              </a:rPr>
              <a:t>((3,2))</a:t>
            </a:r>
          </a:p>
          <a:p>
            <a:pPr marL="0" indent="0">
              <a:buNone/>
            </a:pPr>
            <a:r>
              <a:rPr lang="en-US" dirty="0"/>
              <a:t>[[1., 1.],</a:t>
            </a:r>
          </a:p>
          <a:p>
            <a:pPr marL="0" indent="0">
              <a:buNone/>
            </a:pPr>
            <a:r>
              <a:rPr lang="en-US" dirty="0"/>
              <a:t>[1., 1.],</a:t>
            </a:r>
          </a:p>
          <a:p>
            <a:pPr marL="0" indent="0">
              <a:buNone/>
            </a:pPr>
            <a:r>
              <a:rPr lang="en-US" dirty="0"/>
              <a:t>[1., 1.]]</a:t>
            </a:r>
            <a:endParaRPr lang="en-IN" dirty="0"/>
          </a:p>
        </p:txBody>
      </p:sp>
    </p:spTree>
    <p:extLst>
      <p:ext uri="{BB962C8B-B14F-4D97-AF65-F5344CB8AC3E}">
        <p14:creationId xmlns:p14="http://schemas.microsoft.com/office/powerpoint/2010/main" val="1352898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BBD3-C554-10C4-C765-8C6A38BC9258}"/>
              </a:ext>
            </a:extLst>
          </p:cNvPr>
          <p:cNvSpPr>
            <a:spLocks noGrp="1"/>
          </p:cNvSpPr>
          <p:nvPr>
            <p:ph type="title"/>
          </p:nvPr>
        </p:nvSpPr>
        <p:spPr/>
        <p:txBody>
          <a:bodyPr/>
          <a:lstStyle/>
          <a:p>
            <a:r>
              <a:rPr lang="en-US"/>
              <a:t>Other Ways of Creating NumPy Arrays</a:t>
            </a:r>
            <a:endParaRPr lang="en-IN"/>
          </a:p>
        </p:txBody>
      </p:sp>
      <p:sp>
        <p:nvSpPr>
          <p:cNvPr id="3" name="Content Placeholder 2">
            <a:extLst>
              <a:ext uri="{FF2B5EF4-FFF2-40B4-BE49-F238E27FC236}">
                <a16:creationId xmlns:a16="http://schemas.microsoft.com/office/drawing/2014/main" id="{A06BB94E-3EC3-CE9E-4147-454D11F8FD56}"/>
              </a:ext>
            </a:extLst>
          </p:cNvPr>
          <p:cNvSpPr>
            <a:spLocks noGrp="1"/>
          </p:cNvSpPr>
          <p:nvPr>
            <p:ph idx="1"/>
          </p:nvPr>
        </p:nvSpPr>
        <p:spPr/>
        <p:txBody>
          <a:bodyPr>
            <a:normAutofit/>
          </a:bodyPr>
          <a:lstStyle/>
          <a:p>
            <a:pPr marL="0" indent="0">
              <a:buNone/>
            </a:pPr>
            <a:r>
              <a:rPr lang="en-US" dirty="0"/>
              <a:t>4. We can create an array with numbers in a given range and sequence using the </a:t>
            </a:r>
            <a:r>
              <a:rPr lang="en-US" dirty="0" err="1"/>
              <a:t>arange</a:t>
            </a:r>
            <a:r>
              <a:rPr lang="en-US" dirty="0"/>
              <a:t>() function. This function is analogous to the range() function of Python.</a:t>
            </a:r>
          </a:p>
          <a:p>
            <a:pPr marL="0" indent="0">
              <a:buNone/>
            </a:pPr>
            <a:r>
              <a:rPr lang="en-US" b="1" dirty="0">
                <a:solidFill>
                  <a:schemeClr val="accent1"/>
                </a:solidFill>
              </a:rPr>
              <a:t>array7 = </a:t>
            </a:r>
            <a:r>
              <a:rPr lang="en-US" b="1" dirty="0" err="1">
                <a:solidFill>
                  <a:schemeClr val="accent1"/>
                </a:solidFill>
              </a:rPr>
              <a:t>np.arange</a:t>
            </a:r>
            <a:r>
              <a:rPr lang="en-US" b="1" dirty="0">
                <a:solidFill>
                  <a:schemeClr val="accent1"/>
                </a:solidFill>
              </a:rPr>
              <a:t>(6)</a:t>
            </a:r>
          </a:p>
          <a:p>
            <a:pPr marL="0" indent="0">
              <a:buNone/>
            </a:pPr>
            <a:r>
              <a:rPr lang="en-US" dirty="0"/>
              <a:t>print(array7)</a:t>
            </a:r>
          </a:p>
          <a:p>
            <a:pPr marL="0" indent="0">
              <a:buNone/>
            </a:pPr>
            <a:r>
              <a:rPr lang="en-US" dirty="0"/>
              <a:t>array([0, 1, 2, 3, 4, 5])</a:t>
            </a:r>
          </a:p>
          <a:p>
            <a:pPr marL="0" indent="0">
              <a:buNone/>
            </a:pPr>
            <a:r>
              <a:rPr lang="en-US" b="1" dirty="0">
                <a:solidFill>
                  <a:schemeClr val="accent1"/>
                </a:solidFill>
              </a:rPr>
              <a:t>array8 = </a:t>
            </a:r>
            <a:r>
              <a:rPr lang="en-US" b="1" dirty="0" err="1">
                <a:solidFill>
                  <a:schemeClr val="accent1"/>
                </a:solidFill>
              </a:rPr>
              <a:t>np.arange</a:t>
            </a:r>
            <a:r>
              <a:rPr lang="en-US" b="1" dirty="0">
                <a:solidFill>
                  <a:schemeClr val="accent1"/>
                </a:solidFill>
              </a:rPr>
              <a:t>( -2, 24, 4 )</a:t>
            </a:r>
          </a:p>
          <a:p>
            <a:pPr marL="0" indent="0">
              <a:buNone/>
            </a:pPr>
            <a:r>
              <a:rPr lang="en-US" dirty="0"/>
              <a:t>print(array8)</a:t>
            </a:r>
          </a:p>
          <a:p>
            <a:pPr marL="0" indent="0">
              <a:buNone/>
            </a:pPr>
            <a:r>
              <a:rPr lang="en-US" dirty="0"/>
              <a:t>array([-2, 2, 6, 10, 14, 18, 22])</a:t>
            </a:r>
          </a:p>
          <a:p>
            <a:pPr marL="0" indent="0">
              <a:buNone/>
            </a:pPr>
            <a:endParaRPr lang="en-IN" dirty="0"/>
          </a:p>
        </p:txBody>
      </p:sp>
    </p:spTree>
    <p:extLst>
      <p:ext uri="{BB962C8B-B14F-4D97-AF65-F5344CB8AC3E}">
        <p14:creationId xmlns:p14="http://schemas.microsoft.com/office/powerpoint/2010/main" val="573223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15922-CA6C-490D-E539-FC62F4C8FBE3}"/>
              </a:ext>
            </a:extLst>
          </p:cNvPr>
          <p:cNvSpPr>
            <a:spLocks noGrp="1"/>
          </p:cNvSpPr>
          <p:nvPr>
            <p:ph type="title"/>
          </p:nvPr>
        </p:nvSpPr>
        <p:spPr/>
        <p:txBody>
          <a:bodyPr/>
          <a:lstStyle/>
          <a:p>
            <a:r>
              <a:rPr lang="en-US" dirty="0"/>
              <a:t>INDEXING AND slicing</a:t>
            </a:r>
            <a:br>
              <a:rPr lang="en-US" dirty="0"/>
            </a:br>
            <a:endParaRPr lang="en-IN" dirty="0"/>
          </a:p>
        </p:txBody>
      </p:sp>
      <p:sp>
        <p:nvSpPr>
          <p:cNvPr id="3" name="Content Placeholder 2">
            <a:extLst>
              <a:ext uri="{FF2B5EF4-FFF2-40B4-BE49-F238E27FC236}">
                <a16:creationId xmlns:a16="http://schemas.microsoft.com/office/drawing/2014/main" id="{DB9695AE-D928-7172-5F95-ABD65D409457}"/>
              </a:ext>
            </a:extLst>
          </p:cNvPr>
          <p:cNvSpPr>
            <a:spLocks noGrp="1"/>
          </p:cNvSpPr>
          <p:nvPr>
            <p:ph idx="1"/>
          </p:nvPr>
        </p:nvSpPr>
        <p:spPr/>
        <p:txBody>
          <a:bodyPr/>
          <a:lstStyle/>
          <a:p>
            <a:r>
              <a:rPr lang="en-US" dirty="0"/>
              <a:t>NumPy arrays can be indexed, sliced and iterated over.</a:t>
            </a:r>
          </a:p>
          <a:p>
            <a:r>
              <a:rPr lang="en-IN" b="1" dirty="0">
                <a:solidFill>
                  <a:schemeClr val="accent1"/>
                </a:solidFill>
              </a:rPr>
              <a:t>A=</a:t>
            </a:r>
            <a:r>
              <a:rPr lang="en-IN" b="1" dirty="0" err="1">
                <a:solidFill>
                  <a:schemeClr val="accent1"/>
                </a:solidFill>
              </a:rPr>
              <a:t>np.array</a:t>
            </a:r>
            <a:r>
              <a:rPr lang="en-IN" b="1" dirty="0">
                <a:solidFill>
                  <a:schemeClr val="accent1"/>
                </a:solidFill>
              </a:rPr>
              <a:t>([7,8,9,6,70])</a:t>
            </a:r>
          </a:p>
          <a:p>
            <a:pPr marL="0" indent="0">
              <a:buNone/>
            </a:pPr>
            <a:r>
              <a:rPr lang="en-IN" dirty="0"/>
              <a:t>   print(A[2]) output 9</a:t>
            </a:r>
          </a:p>
          <a:p>
            <a:pPr marL="0" indent="0">
              <a:buNone/>
            </a:pPr>
            <a:r>
              <a:rPr lang="en-IN" dirty="0"/>
              <a:t>   print(A[1:3]) output 8,9</a:t>
            </a:r>
          </a:p>
          <a:p>
            <a:r>
              <a:rPr lang="en-IN" b="1" dirty="0">
                <a:solidFill>
                  <a:schemeClr val="accent1"/>
                </a:solidFill>
              </a:rPr>
              <a:t>D=</a:t>
            </a:r>
            <a:r>
              <a:rPr lang="en-IN" b="1" dirty="0" err="1">
                <a:solidFill>
                  <a:schemeClr val="accent1"/>
                </a:solidFill>
              </a:rPr>
              <a:t>np.array</a:t>
            </a:r>
            <a:r>
              <a:rPr lang="en-IN" b="1" dirty="0">
                <a:solidFill>
                  <a:schemeClr val="accent1"/>
                </a:solidFill>
              </a:rPr>
              <a:t>([[4,5,6],[7,8,9],[3,5,6]])</a:t>
            </a:r>
          </a:p>
          <a:p>
            <a:pPr marL="0" indent="0">
              <a:buNone/>
            </a:pPr>
            <a:r>
              <a:rPr lang="en-IN" b="1" dirty="0">
                <a:solidFill>
                  <a:schemeClr val="accent1"/>
                </a:solidFill>
              </a:rPr>
              <a:t>   </a:t>
            </a:r>
            <a:r>
              <a:rPr lang="en-IN" dirty="0"/>
              <a:t>print(D[2][2]) output 6 </a:t>
            </a:r>
          </a:p>
          <a:p>
            <a:pPr marL="0" indent="0">
              <a:buNone/>
            </a:pPr>
            <a:endParaRPr lang="en-IN" dirty="0"/>
          </a:p>
        </p:txBody>
      </p:sp>
    </p:spTree>
    <p:extLst>
      <p:ext uri="{BB962C8B-B14F-4D97-AF65-F5344CB8AC3E}">
        <p14:creationId xmlns:p14="http://schemas.microsoft.com/office/powerpoint/2010/main" val="1398805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B8A34-654A-15F8-6451-1273B66CDC5F}"/>
              </a:ext>
            </a:extLst>
          </p:cNvPr>
          <p:cNvSpPr>
            <a:spLocks noGrp="1"/>
          </p:cNvSpPr>
          <p:nvPr>
            <p:ph type="title"/>
          </p:nvPr>
        </p:nvSpPr>
        <p:spPr/>
        <p:txBody>
          <a:bodyPr/>
          <a:lstStyle/>
          <a:p>
            <a:r>
              <a:rPr lang="en-IN" dirty="0"/>
              <a:t>Arithmetic Operations</a:t>
            </a:r>
          </a:p>
        </p:txBody>
      </p:sp>
      <p:sp>
        <p:nvSpPr>
          <p:cNvPr id="3" name="Content Placeholder 2">
            <a:extLst>
              <a:ext uri="{FF2B5EF4-FFF2-40B4-BE49-F238E27FC236}">
                <a16:creationId xmlns:a16="http://schemas.microsoft.com/office/drawing/2014/main" id="{C060E929-9558-45A8-3D96-85A9782EFE8D}"/>
              </a:ext>
            </a:extLst>
          </p:cNvPr>
          <p:cNvSpPr>
            <a:spLocks noGrp="1"/>
          </p:cNvSpPr>
          <p:nvPr>
            <p:ph idx="1"/>
          </p:nvPr>
        </p:nvSpPr>
        <p:spPr/>
        <p:txBody>
          <a:bodyPr>
            <a:normAutofit/>
          </a:bodyPr>
          <a:lstStyle/>
          <a:p>
            <a:pPr marL="0" indent="0">
              <a:buNone/>
            </a:pPr>
            <a:r>
              <a:rPr lang="en-US" dirty="0"/>
              <a:t>Arithmetic operations on NumPy arrays are fast and simple. When we perform a basic arithmetic operation like addition, subtraction, multiplication, division etc. on two arrays, the operation is done on each corresponding pair of elements. For instance, adding two arrays will result in the first element in the first array to be added to the first element in the second array, and so on. Consider the following element-wise operations on two arrays:</a:t>
            </a:r>
          </a:p>
          <a:p>
            <a:pPr marL="0" indent="0">
              <a:buNone/>
            </a:pPr>
            <a:r>
              <a:rPr lang="en-US" dirty="0"/>
              <a:t>&gt;&gt;&gt; array1 = </a:t>
            </a:r>
            <a:r>
              <a:rPr lang="en-US" dirty="0" err="1"/>
              <a:t>np.array</a:t>
            </a:r>
            <a:r>
              <a:rPr lang="en-US" dirty="0"/>
              <a:t>([[3,6],[4,2]])</a:t>
            </a:r>
          </a:p>
          <a:p>
            <a:pPr marL="0" indent="0">
              <a:buNone/>
            </a:pPr>
            <a:r>
              <a:rPr lang="en-US" dirty="0"/>
              <a:t>&gt;&gt;&gt; array2 = </a:t>
            </a:r>
            <a:r>
              <a:rPr lang="en-US" dirty="0" err="1"/>
              <a:t>np.array</a:t>
            </a:r>
            <a:r>
              <a:rPr lang="en-US" dirty="0"/>
              <a:t>([[10,20],[15,12]])</a:t>
            </a:r>
            <a:endParaRPr lang="en-IN" dirty="0"/>
          </a:p>
        </p:txBody>
      </p:sp>
    </p:spTree>
    <p:extLst>
      <p:ext uri="{BB962C8B-B14F-4D97-AF65-F5344CB8AC3E}">
        <p14:creationId xmlns:p14="http://schemas.microsoft.com/office/powerpoint/2010/main" val="1967216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32C11-A0CC-14CF-A6FE-95EFC001B181}"/>
              </a:ext>
            </a:extLst>
          </p:cNvPr>
          <p:cNvSpPr>
            <a:spLocks noGrp="1"/>
          </p:cNvSpPr>
          <p:nvPr>
            <p:ph type="title"/>
          </p:nvPr>
        </p:nvSpPr>
        <p:spPr/>
        <p:txBody>
          <a:bodyPr/>
          <a:lstStyle/>
          <a:p>
            <a:r>
              <a:rPr lang="en-IN" dirty="0"/>
              <a:t>Arithmetic Operations</a:t>
            </a:r>
          </a:p>
        </p:txBody>
      </p:sp>
      <p:sp>
        <p:nvSpPr>
          <p:cNvPr id="3" name="Content Placeholder 2">
            <a:extLst>
              <a:ext uri="{FF2B5EF4-FFF2-40B4-BE49-F238E27FC236}">
                <a16:creationId xmlns:a16="http://schemas.microsoft.com/office/drawing/2014/main" id="{E919F07C-AEE5-3F01-73E3-FA8D841A81D8}"/>
              </a:ext>
            </a:extLst>
          </p:cNvPr>
          <p:cNvSpPr>
            <a:spLocks noGrp="1"/>
          </p:cNvSpPr>
          <p:nvPr>
            <p:ph idx="1"/>
          </p:nvPr>
        </p:nvSpPr>
        <p:spPr/>
        <p:txBody>
          <a:bodyPr>
            <a:normAutofit fontScale="77500" lnSpcReduction="20000"/>
          </a:bodyPr>
          <a:lstStyle/>
          <a:p>
            <a:pPr marL="0" indent="0">
              <a:buNone/>
            </a:pPr>
            <a:r>
              <a:rPr lang="en-US" dirty="0"/>
              <a:t>#Element-wise addition of two matrices.</a:t>
            </a:r>
          </a:p>
          <a:p>
            <a:pPr marL="0" indent="0">
              <a:buNone/>
            </a:pPr>
            <a:r>
              <a:rPr lang="en-US" b="1" dirty="0">
                <a:solidFill>
                  <a:schemeClr val="accent1"/>
                </a:solidFill>
              </a:rPr>
              <a:t>&gt;&gt;&gt; array1 + array2</a:t>
            </a:r>
          </a:p>
          <a:p>
            <a:pPr marL="0" indent="0">
              <a:buNone/>
            </a:pPr>
            <a:r>
              <a:rPr lang="en-US" dirty="0"/>
              <a:t>array([[13, 26],</a:t>
            </a:r>
          </a:p>
          <a:p>
            <a:pPr marL="0" indent="0">
              <a:buNone/>
            </a:pPr>
            <a:r>
              <a:rPr lang="en-US" dirty="0"/>
              <a:t>[19, 14]])</a:t>
            </a:r>
          </a:p>
          <a:p>
            <a:pPr marL="0" indent="0">
              <a:buNone/>
            </a:pPr>
            <a:r>
              <a:rPr lang="en-US" dirty="0"/>
              <a:t>#Subtraction</a:t>
            </a:r>
          </a:p>
          <a:p>
            <a:pPr marL="0" indent="0">
              <a:buNone/>
            </a:pPr>
            <a:r>
              <a:rPr lang="en-US" b="1" dirty="0">
                <a:solidFill>
                  <a:schemeClr val="accent1"/>
                </a:solidFill>
              </a:rPr>
              <a:t>&gt;&gt;&gt; array1 - array2</a:t>
            </a:r>
          </a:p>
          <a:p>
            <a:pPr marL="0" indent="0">
              <a:buNone/>
            </a:pPr>
            <a:r>
              <a:rPr lang="en-US" dirty="0"/>
              <a:t>array([[ -7, -14],</a:t>
            </a:r>
          </a:p>
          <a:p>
            <a:pPr marL="0" indent="0">
              <a:buNone/>
            </a:pPr>
            <a:r>
              <a:rPr lang="en-US" dirty="0"/>
              <a:t>[-11, -10]])</a:t>
            </a:r>
          </a:p>
          <a:p>
            <a:pPr marL="0" indent="0">
              <a:buNone/>
            </a:pPr>
            <a:r>
              <a:rPr lang="en-US" dirty="0"/>
              <a:t>#Multiplication</a:t>
            </a:r>
          </a:p>
          <a:p>
            <a:pPr marL="0" indent="0">
              <a:buNone/>
            </a:pPr>
            <a:r>
              <a:rPr lang="en-US" b="1" dirty="0">
                <a:solidFill>
                  <a:schemeClr val="accent1"/>
                </a:solidFill>
              </a:rPr>
              <a:t>&gt;&gt;&gt; array1 * array2</a:t>
            </a:r>
          </a:p>
          <a:p>
            <a:pPr marL="0" indent="0">
              <a:buNone/>
            </a:pPr>
            <a:r>
              <a:rPr lang="en-US" dirty="0"/>
              <a:t>array([[ 30, 120],</a:t>
            </a:r>
          </a:p>
          <a:p>
            <a:pPr marL="0" indent="0">
              <a:buNone/>
            </a:pPr>
            <a:r>
              <a:rPr lang="en-US" dirty="0"/>
              <a:t>[ 60, 24]])</a:t>
            </a:r>
            <a:endParaRPr lang="en-IN" dirty="0"/>
          </a:p>
        </p:txBody>
      </p:sp>
    </p:spTree>
    <p:extLst>
      <p:ext uri="{BB962C8B-B14F-4D97-AF65-F5344CB8AC3E}">
        <p14:creationId xmlns:p14="http://schemas.microsoft.com/office/powerpoint/2010/main" val="3579833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8486-3762-55BD-A060-8BC04DF03418}"/>
              </a:ext>
            </a:extLst>
          </p:cNvPr>
          <p:cNvSpPr>
            <a:spLocks noGrp="1"/>
          </p:cNvSpPr>
          <p:nvPr>
            <p:ph type="title"/>
          </p:nvPr>
        </p:nvSpPr>
        <p:spPr/>
        <p:txBody>
          <a:bodyPr/>
          <a:lstStyle/>
          <a:p>
            <a:r>
              <a:rPr lang="en-IN" dirty="0"/>
              <a:t>Arithmetic Operations</a:t>
            </a:r>
          </a:p>
        </p:txBody>
      </p:sp>
      <p:sp>
        <p:nvSpPr>
          <p:cNvPr id="3" name="Content Placeholder 2">
            <a:extLst>
              <a:ext uri="{FF2B5EF4-FFF2-40B4-BE49-F238E27FC236}">
                <a16:creationId xmlns:a16="http://schemas.microsoft.com/office/drawing/2014/main" id="{6396F74E-6643-F0B8-960B-119151872F49}"/>
              </a:ext>
            </a:extLst>
          </p:cNvPr>
          <p:cNvSpPr>
            <a:spLocks noGrp="1"/>
          </p:cNvSpPr>
          <p:nvPr>
            <p:ph idx="1"/>
          </p:nvPr>
        </p:nvSpPr>
        <p:spPr/>
        <p:txBody>
          <a:bodyPr>
            <a:normAutofit fontScale="40000" lnSpcReduction="20000"/>
          </a:bodyPr>
          <a:lstStyle/>
          <a:p>
            <a:pPr marL="0" indent="0">
              <a:buNone/>
            </a:pPr>
            <a:r>
              <a:rPr lang="en-US" dirty="0"/>
              <a:t>#Matrix Multiplication</a:t>
            </a:r>
          </a:p>
          <a:p>
            <a:pPr marL="0" indent="0">
              <a:buNone/>
            </a:pPr>
            <a:r>
              <a:rPr lang="en-US" b="1" dirty="0">
                <a:solidFill>
                  <a:schemeClr val="accent1"/>
                </a:solidFill>
              </a:rPr>
              <a:t>&gt;&gt;&gt; array1 @ array2</a:t>
            </a:r>
          </a:p>
          <a:p>
            <a:pPr marL="0" indent="0">
              <a:buNone/>
            </a:pPr>
            <a:r>
              <a:rPr lang="en-US" dirty="0"/>
              <a:t>array([[120, 132],</a:t>
            </a:r>
          </a:p>
          <a:p>
            <a:pPr marL="0" indent="0">
              <a:buNone/>
            </a:pPr>
            <a:r>
              <a:rPr lang="en-US" dirty="0"/>
              <a:t>[ 70, 104]])</a:t>
            </a:r>
          </a:p>
          <a:p>
            <a:pPr marL="0" indent="0">
              <a:buNone/>
            </a:pPr>
            <a:r>
              <a:rPr lang="en-US" dirty="0"/>
              <a:t>#Exponentiation</a:t>
            </a:r>
          </a:p>
          <a:p>
            <a:pPr marL="0" indent="0">
              <a:buNone/>
            </a:pPr>
            <a:r>
              <a:rPr lang="en-US" b="1" dirty="0">
                <a:solidFill>
                  <a:schemeClr val="accent1"/>
                </a:solidFill>
              </a:rPr>
              <a:t>&gt;&gt;&gt; array1 ** 3</a:t>
            </a:r>
          </a:p>
          <a:p>
            <a:pPr marL="0" indent="0">
              <a:buNone/>
            </a:pPr>
            <a:r>
              <a:rPr lang="en-US" dirty="0"/>
              <a:t>array([[ 27, 216],</a:t>
            </a:r>
          </a:p>
          <a:p>
            <a:pPr marL="0" indent="0">
              <a:buNone/>
            </a:pPr>
            <a:r>
              <a:rPr lang="en-US" dirty="0"/>
              <a:t>[ 64, 8]], </a:t>
            </a:r>
            <a:r>
              <a:rPr lang="en-US" dirty="0" err="1"/>
              <a:t>dtype</a:t>
            </a:r>
            <a:r>
              <a:rPr lang="en-US" dirty="0"/>
              <a:t>=int32)</a:t>
            </a:r>
          </a:p>
          <a:p>
            <a:pPr marL="0" indent="0">
              <a:buNone/>
            </a:pPr>
            <a:r>
              <a:rPr lang="en-US" dirty="0"/>
              <a:t>#Division</a:t>
            </a:r>
          </a:p>
          <a:p>
            <a:pPr marL="0" indent="0">
              <a:buNone/>
            </a:pPr>
            <a:r>
              <a:rPr lang="en-US" b="1" dirty="0">
                <a:solidFill>
                  <a:schemeClr val="accent1"/>
                </a:solidFill>
              </a:rPr>
              <a:t>&gt;&gt;&gt; array2 / array1</a:t>
            </a:r>
          </a:p>
          <a:p>
            <a:pPr marL="0" indent="0">
              <a:buNone/>
            </a:pPr>
            <a:r>
              <a:rPr lang="en-US" dirty="0"/>
              <a:t>array([[3.33333333, 3.33333333],</a:t>
            </a:r>
          </a:p>
          <a:p>
            <a:pPr marL="0" indent="0">
              <a:buNone/>
            </a:pPr>
            <a:r>
              <a:rPr lang="en-US" dirty="0"/>
              <a:t>[3.75 , 6. ]])</a:t>
            </a:r>
          </a:p>
          <a:p>
            <a:pPr marL="0" indent="0">
              <a:buNone/>
            </a:pPr>
            <a:r>
              <a:rPr lang="en-US" dirty="0"/>
              <a:t>#Element wise Remainder of Division</a:t>
            </a:r>
          </a:p>
          <a:p>
            <a:pPr marL="0" indent="0">
              <a:buNone/>
            </a:pPr>
            <a:r>
              <a:rPr lang="en-US" dirty="0"/>
              <a:t>#(Modulo)</a:t>
            </a:r>
          </a:p>
          <a:p>
            <a:pPr marL="0" indent="0">
              <a:buNone/>
            </a:pPr>
            <a:r>
              <a:rPr lang="en-US" b="1" dirty="0">
                <a:solidFill>
                  <a:schemeClr val="accent1"/>
                </a:solidFill>
              </a:rPr>
              <a:t>&gt;&gt;&gt; array2 % array1</a:t>
            </a:r>
          </a:p>
          <a:p>
            <a:pPr marL="0" indent="0">
              <a:buNone/>
            </a:pPr>
            <a:r>
              <a:rPr lang="en-US" dirty="0"/>
              <a:t>array([[1, 2],</a:t>
            </a:r>
          </a:p>
          <a:p>
            <a:pPr marL="0" indent="0">
              <a:buNone/>
            </a:pPr>
            <a:r>
              <a:rPr lang="en-US" dirty="0"/>
              <a:t>[3, 0]], </a:t>
            </a:r>
            <a:r>
              <a:rPr lang="en-US" dirty="0" err="1"/>
              <a:t>dtype</a:t>
            </a:r>
            <a:r>
              <a:rPr lang="en-US" dirty="0"/>
              <a:t>=int32)</a:t>
            </a:r>
            <a:endParaRPr lang="en-IN" dirty="0"/>
          </a:p>
        </p:txBody>
      </p:sp>
    </p:spTree>
    <p:extLst>
      <p:ext uri="{BB962C8B-B14F-4D97-AF65-F5344CB8AC3E}">
        <p14:creationId xmlns:p14="http://schemas.microsoft.com/office/powerpoint/2010/main" val="1635968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9F257-BC87-A311-72F1-3F02B0EB0D7F}"/>
              </a:ext>
            </a:extLst>
          </p:cNvPr>
          <p:cNvSpPr>
            <a:spLocks noGrp="1"/>
          </p:cNvSpPr>
          <p:nvPr>
            <p:ph type="title"/>
          </p:nvPr>
        </p:nvSpPr>
        <p:spPr/>
        <p:txBody>
          <a:bodyPr/>
          <a:lstStyle/>
          <a:p>
            <a:r>
              <a:rPr lang="en-IN" dirty="0"/>
              <a:t>Arithmetic Operations</a:t>
            </a:r>
          </a:p>
        </p:txBody>
      </p:sp>
      <p:sp>
        <p:nvSpPr>
          <p:cNvPr id="3" name="Content Placeholder 2">
            <a:extLst>
              <a:ext uri="{FF2B5EF4-FFF2-40B4-BE49-F238E27FC236}">
                <a16:creationId xmlns:a16="http://schemas.microsoft.com/office/drawing/2014/main" id="{0EA2524A-EB95-7F40-533F-E7517CB26F75}"/>
              </a:ext>
            </a:extLst>
          </p:cNvPr>
          <p:cNvSpPr>
            <a:spLocks noGrp="1"/>
          </p:cNvSpPr>
          <p:nvPr>
            <p:ph idx="1"/>
          </p:nvPr>
        </p:nvSpPr>
        <p:spPr/>
        <p:txBody>
          <a:bodyPr/>
          <a:lstStyle/>
          <a:p>
            <a:pPr marL="0" indent="0">
              <a:buNone/>
            </a:pPr>
            <a:r>
              <a:rPr lang="en-US" dirty="0"/>
              <a:t>It is important to note that for element-wise</a:t>
            </a:r>
          </a:p>
          <a:p>
            <a:pPr marL="0" indent="0">
              <a:buNone/>
            </a:pPr>
            <a:r>
              <a:rPr lang="en-US" dirty="0"/>
              <a:t>operations, size of both arrays must be same. That is,</a:t>
            </a:r>
          </a:p>
          <a:p>
            <a:pPr marL="0" indent="0">
              <a:buNone/>
            </a:pPr>
            <a:r>
              <a:rPr lang="en-US" dirty="0"/>
              <a:t>array1.shape must be equal to array2.shape</a:t>
            </a:r>
            <a:endParaRPr lang="en-IN" dirty="0"/>
          </a:p>
        </p:txBody>
      </p:sp>
    </p:spTree>
    <p:extLst>
      <p:ext uri="{BB962C8B-B14F-4D97-AF65-F5344CB8AC3E}">
        <p14:creationId xmlns:p14="http://schemas.microsoft.com/office/powerpoint/2010/main" val="1169729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E43A-2FAF-6643-7B36-85986B28CEDB}"/>
              </a:ext>
            </a:extLst>
          </p:cNvPr>
          <p:cNvSpPr>
            <a:spLocks noGrp="1"/>
          </p:cNvSpPr>
          <p:nvPr>
            <p:ph type="title"/>
          </p:nvPr>
        </p:nvSpPr>
        <p:spPr/>
        <p:txBody>
          <a:bodyPr/>
          <a:lstStyle/>
          <a:p>
            <a:r>
              <a:rPr lang="en-IN" dirty="0"/>
              <a:t>Transpose</a:t>
            </a:r>
          </a:p>
        </p:txBody>
      </p:sp>
      <p:sp>
        <p:nvSpPr>
          <p:cNvPr id="3" name="Content Placeholder 2">
            <a:extLst>
              <a:ext uri="{FF2B5EF4-FFF2-40B4-BE49-F238E27FC236}">
                <a16:creationId xmlns:a16="http://schemas.microsoft.com/office/drawing/2014/main" id="{93548E96-8915-572C-D126-AC7D65C44274}"/>
              </a:ext>
            </a:extLst>
          </p:cNvPr>
          <p:cNvSpPr>
            <a:spLocks noGrp="1"/>
          </p:cNvSpPr>
          <p:nvPr>
            <p:ph idx="1"/>
          </p:nvPr>
        </p:nvSpPr>
        <p:spPr/>
        <p:txBody>
          <a:bodyPr>
            <a:normAutofit fontScale="47500" lnSpcReduction="20000"/>
          </a:bodyPr>
          <a:lstStyle/>
          <a:p>
            <a:pPr marL="0" indent="0">
              <a:buNone/>
            </a:pPr>
            <a:r>
              <a:rPr lang="en-US" dirty="0"/>
              <a:t>Transposing an array turns its rows into columns and</a:t>
            </a:r>
          </a:p>
          <a:p>
            <a:pPr marL="0" indent="0">
              <a:buNone/>
            </a:pPr>
            <a:r>
              <a:rPr lang="en-US" dirty="0"/>
              <a:t>columns into rows just like matrices in mathematics.</a:t>
            </a:r>
          </a:p>
          <a:p>
            <a:pPr marL="0" indent="0">
              <a:buNone/>
            </a:pPr>
            <a:r>
              <a:rPr lang="en-US" dirty="0"/>
              <a:t>#Transpose</a:t>
            </a:r>
          </a:p>
          <a:p>
            <a:pPr marL="0" indent="0">
              <a:buNone/>
            </a:pPr>
            <a:r>
              <a:rPr lang="en-US" dirty="0"/>
              <a:t>&gt;&gt;&gt; array3 = </a:t>
            </a:r>
            <a:r>
              <a:rPr lang="en-US" dirty="0" err="1"/>
              <a:t>np.array</a:t>
            </a:r>
            <a:r>
              <a:rPr lang="en-US" dirty="0"/>
              <a:t>([[10,-7,0, 20],</a:t>
            </a:r>
          </a:p>
          <a:p>
            <a:pPr marL="0" indent="0">
              <a:buNone/>
            </a:pPr>
            <a:r>
              <a:rPr lang="en-US" dirty="0"/>
              <a:t>[-5,1,200,40],[30,1,-1,4]])</a:t>
            </a:r>
          </a:p>
          <a:p>
            <a:pPr marL="0" indent="0">
              <a:buNone/>
            </a:pPr>
            <a:r>
              <a:rPr lang="en-US" dirty="0" err="1"/>
              <a:t>NOtEs</a:t>
            </a:r>
            <a:endParaRPr lang="en-US" dirty="0"/>
          </a:p>
          <a:p>
            <a:pPr marL="0" indent="0">
              <a:buNone/>
            </a:pPr>
            <a:r>
              <a:rPr lang="en-US" dirty="0"/>
              <a:t>&gt;&gt;&gt; array3</a:t>
            </a:r>
          </a:p>
          <a:p>
            <a:pPr marL="0" indent="0">
              <a:buNone/>
            </a:pPr>
            <a:r>
              <a:rPr lang="en-US" dirty="0"/>
              <a:t>array([[ 10, -7, 0, 20],</a:t>
            </a:r>
          </a:p>
          <a:p>
            <a:pPr marL="0" indent="0">
              <a:buNone/>
            </a:pPr>
            <a:r>
              <a:rPr lang="en-US" dirty="0"/>
              <a:t>[ -5, 1, 200, 40],</a:t>
            </a:r>
          </a:p>
          <a:p>
            <a:pPr marL="0" indent="0">
              <a:buNone/>
            </a:pPr>
            <a:r>
              <a:rPr lang="en-US" dirty="0"/>
              <a:t>[ 30, 1, -1, 4]])</a:t>
            </a:r>
          </a:p>
          <a:p>
            <a:pPr marL="0" indent="0">
              <a:buNone/>
            </a:pPr>
            <a:r>
              <a:rPr lang="en-US" dirty="0"/>
              <a:t># the original array does not change</a:t>
            </a:r>
          </a:p>
          <a:p>
            <a:pPr marL="0" indent="0">
              <a:buNone/>
            </a:pPr>
            <a:r>
              <a:rPr lang="en-US" b="1" dirty="0">
                <a:solidFill>
                  <a:schemeClr val="accent1"/>
                </a:solidFill>
              </a:rPr>
              <a:t>&gt;&gt;&gt; array3.transpose()</a:t>
            </a:r>
          </a:p>
          <a:p>
            <a:pPr marL="0" indent="0">
              <a:buNone/>
            </a:pPr>
            <a:r>
              <a:rPr lang="en-US" dirty="0"/>
              <a:t>array([[ 10, -5, 30],</a:t>
            </a:r>
          </a:p>
          <a:p>
            <a:pPr marL="0" indent="0">
              <a:buNone/>
            </a:pPr>
            <a:r>
              <a:rPr lang="en-US" dirty="0"/>
              <a:t>[ -7, 1, 1],</a:t>
            </a:r>
          </a:p>
          <a:p>
            <a:pPr marL="0" indent="0">
              <a:buNone/>
            </a:pPr>
            <a:r>
              <a:rPr lang="en-US" dirty="0"/>
              <a:t>[ 0, 200, -1],</a:t>
            </a:r>
          </a:p>
          <a:p>
            <a:pPr marL="0" indent="0">
              <a:buNone/>
            </a:pPr>
            <a:r>
              <a:rPr lang="en-US" dirty="0"/>
              <a:t>[ 20, 40, 4]])</a:t>
            </a:r>
          </a:p>
          <a:p>
            <a:pPr marL="0" indent="0">
              <a:buNone/>
            </a:pPr>
            <a:endParaRPr lang="en-IN" dirty="0"/>
          </a:p>
        </p:txBody>
      </p:sp>
    </p:spTree>
    <p:extLst>
      <p:ext uri="{BB962C8B-B14F-4D97-AF65-F5344CB8AC3E}">
        <p14:creationId xmlns:p14="http://schemas.microsoft.com/office/powerpoint/2010/main" val="3048449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18CE5-2E77-52A7-21D3-F88304244969}"/>
              </a:ext>
            </a:extLst>
          </p:cNvPr>
          <p:cNvSpPr>
            <a:spLocks noGrp="1"/>
          </p:cNvSpPr>
          <p:nvPr>
            <p:ph type="title"/>
          </p:nvPr>
        </p:nvSpPr>
        <p:spPr/>
        <p:txBody>
          <a:bodyPr/>
          <a:lstStyle/>
          <a:p>
            <a:r>
              <a:rPr lang="en-IN" dirty="0"/>
              <a:t> Sorting</a:t>
            </a:r>
          </a:p>
        </p:txBody>
      </p:sp>
      <p:sp>
        <p:nvSpPr>
          <p:cNvPr id="3" name="Content Placeholder 2">
            <a:extLst>
              <a:ext uri="{FF2B5EF4-FFF2-40B4-BE49-F238E27FC236}">
                <a16:creationId xmlns:a16="http://schemas.microsoft.com/office/drawing/2014/main" id="{835672D1-0799-9FDD-08A1-B084F6D7EF16}"/>
              </a:ext>
            </a:extLst>
          </p:cNvPr>
          <p:cNvSpPr>
            <a:spLocks noGrp="1"/>
          </p:cNvSpPr>
          <p:nvPr>
            <p:ph idx="1"/>
          </p:nvPr>
        </p:nvSpPr>
        <p:spPr/>
        <p:txBody>
          <a:bodyPr/>
          <a:lstStyle/>
          <a:p>
            <a:pPr marL="0" indent="0">
              <a:buNone/>
            </a:pPr>
            <a:r>
              <a:rPr lang="en-US" dirty="0"/>
              <a:t>Sorting is to arrange the elements of an array in</a:t>
            </a:r>
          </a:p>
          <a:p>
            <a:pPr marL="0" indent="0">
              <a:buNone/>
            </a:pPr>
            <a:r>
              <a:rPr lang="en-US" dirty="0"/>
              <a:t>hierarchical order either ascending or descending. By</a:t>
            </a:r>
          </a:p>
          <a:p>
            <a:pPr marL="0" indent="0">
              <a:buNone/>
            </a:pPr>
            <a:r>
              <a:rPr lang="en-US" dirty="0"/>
              <a:t>default, </a:t>
            </a:r>
            <a:r>
              <a:rPr lang="en-US" dirty="0" err="1"/>
              <a:t>numpy</a:t>
            </a:r>
            <a:r>
              <a:rPr lang="en-US" dirty="0"/>
              <a:t> does sorting in ascending order.</a:t>
            </a:r>
          </a:p>
          <a:p>
            <a:pPr marL="0" indent="0">
              <a:buNone/>
            </a:pPr>
            <a:r>
              <a:rPr lang="en-US" dirty="0"/>
              <a:t>&gt;&gt;&gt; array4 = </a:t>
            </a:r>
            <a:r>
              <a:rPr lang="en-US" dirty="0" err="1"/>
              <a:t>np.array</a:t>
            </a:r>
            <a:r>
              <a:rPr lang="en-US" dirty="0"/>
              <a:t>([1,0,2,-3,6,8,4,7])</a:t>
            </a:r>
          </a:p>
          <a:p>
            <a:pPr marL="0" indent="0">
              <a:buNone/>
            </a:pPr>
            <a:r>
              <a:rPr lang="en-US" b="1" dirty="0">
                <a:solidFill>
                  <a:schemeClr val="accent1"/>
                </a:solidFill>
              </a:rPr>
              <a:t>&gt;&gt;&gt; array4.sort()</a:t>
            </a:r>
          </a:p>
          <a:p>
            <a:pPr marL="0" indent="0">
              <a:buNone/>
            </a:pPr>
            <a:r>
              <a:rPr lang="en-US" dirty="0"/>
              <a:t>&gt;&gt;&gt; array4</a:t>
            </a:r>
          </a:p>
          <a:p>
            <a:pPr marL="0" indent="0">
              <a:buNone/>
            </a:pPr>
            <a:r>
              <a:rPr lang="en-US" dirty="0"/>
              <a:t>array([-3, 0, 1, 2, 4, 6, 7, 8])</a:t>
            </a:r>
            <a:endParaRPr lang="en-IN" dirty="0"/>
          </a:p>
        </p:txBody>
      </p:sp>
    </p:spTree>
    <p:extLst>
      <p:ext uri="{BB962C8B-B14F-4D97-AF65-F5344CB8AC3E}">
        <p14:creationId xmlns:p14="http://schemas.microsoft.com/office/powerpoint/2010/main" val="976353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E0A1E-86BD-8279-6B4B-7B7F8A9D408D}"/>
              </a:ext>
            </a:extLst>
          </p:cNvPr>
          <p:cNvSpPr>
            <a:spLocks noGrp="1"/>
          </p:cNvSpPr>
          <p:nvPr>
            <p:ph type="title"/>
          </p:nvPr>
        </p:nvSpPr>
        <p:spPr/>
        <p:txBody>
          <a:bodyPr/>
          <a:lstStyle/>
          <a:p>
            <a:r>
              <a:rPr lang="en-IN" dirty="0"/>
              <a:t>Sorting 2D</a:t>
            </a:r>
          </a:p>
        </p:txBody>
      </p:sp>
      <p:sp>
        <p:nvSpPr>
          <p:cNvPr id="3" name="Content Placeholder 2">
            <a:extLst>
              <a:ext uri="{FF2B5EF4-FFF2-40B4-BE49-F238E27FC236}">
                <a16:creationId xmlns:a16="http://schemas.microsoft.com/office/drawing/2014/main" id="{E1761A50-EA45-E2E5-AF05-F173A89B052C}"/>
              </a:ext>
            </a:extLst>
          </p:cNvPr>
          <p:cNvSpPr>
            <a:spLocks noGrp="1"/>
          </p:cNvSpPr>
          <p:nvPr>
            <p:ph idx="1"/>
          </p:nvPr>
        </p:nvSpPr>
        <p:spPr/>
        <p:txBody>
          <a:bodyPr>
            <a:normAutofit fontScale="55000" lnSpcReduction="20000"/>
          </a:bodyPr>
          <a:lstStyle/>
          <a:p>
            <a:pPr marL="0" indent="0">
              <a:buNone/>
            </a:pPr>
            <a:r>
              <a:rPr lang="en-US" dirty="0"/>
              <a:t>In 2-D array, sorting can be done along either of the axes i.e., row-wise or column-wise. By default, sorting is done row-wise (i.e., on axis = 1). It means to arrange elements in each row in ascending order. When axis=0, sorting is done column-wise, which means each column is sorted in ascending order.</a:t>
            </a:r>
          </a:p>
          <a:p>
            <a:pPr marL="0" indent="0">
              <a:buNone/>
            </a:pPr>
            <a:r>
              <a:rPr lang="en-US" dirty="0"/>
              <a:t>&gt;&gt;&gt; array4 = </a:t>
            </a:r>
            <a:r>
              <a:rPr lang="en-US" dirty="0" err="1"/>
              <a:t>np.array</a:t>
            </a:r>
            <a:r>
              <a:rPr lang="en-US" dirty="0"/>
              <a:t>([[10,-7,0, 20],</a:t>
            </a:r>
          </a:p>
          <a:p>
            <a:pPr marL="0" indent="0">
              <a:buNone/>
            </a:pPr>
            <a:r>
              <a:rPr lang="en-US" dirty="0"/>
              <a:t>[-5,1,200,40],[30,1,-1,4]])</a:t>
            </a:r>
          </a:p>
          <a:p>
            <a:pPr marL="0" indent="0">
              <a:buNone/>
            </a:pPr>
            <a:r>
              <a:rPr lang="en-US" dirty="0"/>
              <a:t>&gt;&gt;&gt; array4</a:t>
            </a:r>
          </a:p>
          <a:p>
            <a:pPr marL="0" indent="0">
              <a:buNone/>
            </a:pPr>
            <a:r>
              <a:rPr lang="en-US" dirty="0"/>
              <a:t>array([[ 10, -7, 0, 20],</a:t>
            </a:r>
          </a:p>
          <a:p>
            <a:pPr marL="0" indent="0">
              <a:buNone/>
            </a:pPr>
            <a:r>
              <a:rPr lang="en-US" dirty="0"/>
              <a:t>[ -5, 1, 200, 40],</a:t>
            </a:r>
          </a:p>
          <a:p>
            <a:pPr marL="0" indent="0">
              <a:buNone/>
            </a:pPr>
            <a:r>
              <a:rPr lang="en-US" dirty="0"/>
              <a:t>[ 30, 1, -1, 4]])</a:t>
            </a:r>
          </a:p>
          <a:p>
            <a:pPr marL="0" indent="0">
              <a:buNone/>
            </a:pPr>
            <a:r>
              <a:rPr lang="en-US" dirty="0"/>
              <a:t>#default is row-wise sorting</a:t>
            </a:r>
          </a:p>
          <a:p>
            <a:pPr marL="0" indent="0">
              <a:buNone/>
            </a:pPr>
            <a:r>
              <a:rPr lang="en-US" b="1" dirty="0">
                <a:solidFill>
                  <a:schemeClr val="accent1"/>
                </a:solidFill>
              </a:rPr>
              <a:t>&gt;&gt;&gt; array4.sort()</a:t>
            </a:r>
          </a:p>
          <a:p>
            <a:pPr marL="0" indent="0">
              <a:buNone/>
            </a:pPr>
            <a:r>
              <a:rPr lang="en-US" dirty="0"/>
              <a:t>&gt;&gt;&gt; array4</a:t>
            </a:r>
          </a:p>
          <a:p>
            <a:pPr marL="0" indent="0">
              <a:buNone/>
            </a:pPr>
            <a:r>
              <a:rPr lang="en-US" dirty="0"/>
              <a:t>array([[ -7, 0, 10, 20],</a:t>
            </a:r>
          </a:p>
          <a:p>
            <a:pPr marL="0" indent="0">
              <a:buNone/>
            </a:pPr>
            <a:r>
              <a:rPr lang="en-US" dirty="0"/>
              <a:t>[ -5, 1, 40, 200],</a:t>
            </a:r>
          </a:p>
          <a:p>
            <a:pPr marL="0" indent="0">
              <a:buNone/>
            </a:pPr>
            <a:r>
              <a:rPr lang="en-US" dirty="0"/>
              <a:t>[ -1, 1, 4, 30]])</a:t>
            </a:r>
          </a:p>
          <a:p>
            <a:pPr marL="0" indent="0">
              <a:buNone/>
            </a:pPr>
            <a:endParaRPr lang="en-IN" dirty="0"/>
          </a:p>
        </p:txBody>
      </p:sp>
    </p:spTree>
    <p:extLst>
      <p:ext uri="{BB962C8B-B14F-4D97-AF65-F5344CB8AC3E}">
        <p14:creationId xmlns:p14="http://schemas.microsoft.com/office/powerpoint/2010/main" val="3610193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1FC2-084A-604D-2477-EAD1250454D4}"/>
              </a:ext>
            </a:extLst>
          </p:cNvPr>
          <p:cNvSpPr>
            <a:spLocks noGrp="1"/>
          </p:cNvSpPr>
          <p:nvPr>
            <p:ph type="title"/>
          </p:nvPr>
        </p:nvSpPr>
        <p:spPr/>
        <p:txBody>
          <a:bodyPr/>
          <a:lstStyle/>
          <a:p>
            <a:r>
              <a:rPr lang="en-IN"/>
              <a:t>Sorting 2D</a:t>
            </a:r>
          </a:p>
        </p:txBody>
      </p:sp>
      <p:sp>
        <p:nvSpPr>
          <p:cNvPr id="3" name="Content Placeholder 2">
            <a:extLst>
              <a:ext uri="{FF2B5EF4-FFF2-40B4-BE49-F238E27FC236}">
                <a16:creationId xmlns:a16="http://schemas.microsoft.com/office/drawing/2014/main" id="{69957BAD-9345-3D21-1114-0B3933A766E9}"/>
              </a:ext>
            </a:extLst>
          </p:cNvPr>
          <p:cNvSpPr>
            <a:spLocks noGrp="1"/>
          </p:cNvSpPr>
          <p:nvPr>
            <p:ph idx="1"/>
          </p:nvPr>
        </p:nvSpPr>
        <p:spPr/>
        <p:txBody>
          <a:bodyPr/>
          <a:lstStyle/>
          <a:p>
            <a:pPr marL="0" indent="0">
              <a:buNone/>
            </a:pPr>
            <a:r>
              <a:rPr lang="en-US" dirty="0"/>
              <a:t>&gt;&gt;&gt; array5 = </a:t>
            </a:r>
            <a:r>
              <a:rPr lang="en-US" dirty="0" err="1"/>
              <a:t>np.array</a:t>
            </a:r>
            <a:r>
              <a:rPr lang="en-US" dirty="0"/>
              <a:t>([[10,-7,0, 20],</a:t>
            </a:r>
          </a:p>
          <a:p>
            <a:pPr marL="0" indent="0">
              <a:buNone/>
            </a:pPr>
            <a:r>
              <a:rPr lang="en-US" dirty="0"/>
              <a:t>[-5,1,200,40],[30,1,-1,4]])</a:t>
            </a:r>
          </a:p>
          <a:p>
            <a:pPr marL="0" indent="0">
              <a:buNone/>
            </a:pPr>
            <a:r>
              <a:rPr lang="en-US" dirty="0"/>
              <a:t>#axis =0 means column-wise sorting</a:t>
            </a:r>
          </a:p>
          <a:p>
            <a:pPr marL="0" indent="0">
              <a:buNone/>
            </a:pPr>
            <a:r>
              <a:rPr lang="en-US" dirty="0">
                <a:solidFill>
                  <a:schemeClr val="accent1"/>
                </a:solidFill>
              </a:rPr>
              <a:t>&gt;&gt;&gt; array5.sort(axis=0)</a:t>
            </a:r>
          </a:p>
          <a:p>
            <a:pPr marL="0" indent="0">
              <a:buNone/>
            </a:pPr>
            <a:r>
              <a:rPr lang="en-US" dirty="0"/>
              <a:t>&gt;&gt;&gt; array5</a:t>
            </a:r>
          </a:p>
          <a:p>
            <a:pPr marL="0" indent="0">
              <a:buNone/>
            </a:pPr>
            <a:r>
              <a:rPr lang="en-US" dirty="0"/>
              <a:t>array([[ -5, -7, -1, 4],</a:t>
            </a:r>
          </a:p>
          <a:p>
            <a:pPr marL="0" indent="0">
              <a:buNone/>
            </a:pPr>
            <a:r>
              <a:rPr lang="en-US" dirty="0"/>
              <a:t>[ 10, 1, 0, 20],</a:t>
            </a:r>
          </a:p>
          <a:p>
            <a:pPr marL="0" indent="0">
              <a:buNone/>
            </a:pPr>
            <a:r>
              <a:rPr lang="en-US" dirty="0"/>
              <a:t>[ 30, 1, 200, 40]])</a:t>
            </a:r>
            <a:endParaRPr lang="en-IN" dirty="0"/>
          </a:p>
        </p:txBody>
      </p:sp>
    </p:spTree>
    <p:extLst>
      <p:ext uri="{BB962C8B-B14F-4D97-AF65-F5344CB8AC3E}">
        <p14:creationId xmlns:p14="http://schemas.microsoft.com/office/powerpoint/2010/main" val="4089054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B78E6-EE51-814D-27FB-0C3704C9E1A0}"/>
              </a:ext>
            </a:extLst>
          </p:cNvPr>
          <p:cNvSpPr>
            <a:spLocks noGrp="1"/>
          </p:cNvSpPr>
          <p:nvPr>
            <p:ph type="title"/>
          </p:nvPr>
        </p:nvSpPr>
        <p:spPr/>
        <p:txBody>
          <a:bodyPr/>
          <a:lstStyle/>
          <a:p>
            <a:r>
              <a:rPr lang="en-IN" dirty="0"/>
              <a:t>CONCATENATING ARRAYS</a:t>
            </a:r>
          </a:p>
        </p:txBody>
      </p:sp>
      <p:sp>
        <p:nvSpPr>
          <p:cNvPr id="3" name="Content Placeholder 2">
            <a:extLst>
              <a:ext uri="{FF2B5EF4-FFF2-40B4-BE49-F238E27FC236}">
                <a16:creationId xmlns:a16="http://schemas.microsoft.com/office/drawing/2014/main" id="{887E61D3-065F-096C-C32C-1CD81E959120}"/>
              </a:ext>
            </a:extLst>
          </p:cNvPr>
          <p:cNvSpPr>
            <a:spLocks noGrp="1"/>
          </p:cNvSpPr>
          <p:nvPr>
            <p:ph idx="1"/>
          </p:nvPr>
        </p:nvSpPr>
        <p:spPr/>
        <p:txBody>
          <a:bodyPr>
            <a:normAutofit fontScale="85000" lnSpcReduction="10000"/>
          </a:bodyPr>
          <a:lstStyle/>
          <a:p>
            <a:r>
              <a:rPr lang="en-US" dirty="0"/>
              <a:t>Concatenation means joining two or more arrays.</a:t>
            </a:r>
          </a:p>
          <a:p>
            <a:r>
              <a:rPr lang="en-US" dirty="0"/>
              <a:t>Concatenating 1-D arrays means appending the sequences one after another. </a:t>
            </a:r>
          </a:p>
          <a:p>
            <a:pPr marL="0" indent="0">
              <a:buNone/>
            </a:pPr>
            <a:r>
              <a:rPr lang="en-US" b="0" dirty="0">
                <a:solidFill>
                  <a:srgbClr val="0070C1"/>
                </a:solidFill>
                <a:effectLst/>
              </a:rPr>
              <a:t>L1</a:t>
            </a:r>
            <a:r>
              <a:rPr lang="en-US" b="0" dirty="0">
                <a:solidFill>
                  <a:srgbClr val="000000"/>
                </a:solidFill>
                <a:effectLst/>
              </a:rPr>
              <a:t>=</a:t>
            </a:r>
            <a:r>
              <a:rPr lang="en-US" b="0" dirty="0" err="1">
                <a:solidFill>
                  <a:srgbClr val="267F99"/>
                </a:solidFill>
                <a:effectLst/>
              </a:rPr>
              <a:t>np</a:t>
            </a:r>
            <a:r>
              <a:rPr lang="en-US" b="0" dirty="0" err="1">
                <a:solidFill>
                  <a:srgbClr val="000000"/>
                </a:solidFill>
                <a:effectLst/>
              </a:rPr>
              <a:t>.</a:t>
            </a:r>
            <a:r>
              <a:rPr lang="en-US" b="0" dirty="0" err="1">
                <a:solidFill>
                  <a:srgbClr val="795E26"/>
                </a:solidFill>
                <a:effectLst/>
              </a:rPr>
              <a:t>array</a:t>
            </a:r>
            <a:r>
              <a:rPr lang="en-US" b="0" dirty="0">
                <a:solidFill>
                  <a:srgbClr val="000000"/>
                </a:solidFill>
                <a:effectLst/>
              </a:rPr>
              <a:t>([</a:t>
            </a:r>
            <a:r>
              <a:rPr lang="en-US" b="0" dirty="0">
                <a:solidFill>
                  <a:srgbClr val="098658"/>
                </a:solidFill>
                <a:effectLst/>
              </a:rPr>
              <a:t>89</a:t>
            </a:r>
            <a:r>
              <a:rPr lang="en-US" b="0" dirty="0">
                <a:solidFill>
                  <a:srgbClr val="000000"/>
                </a:solidFill>
                <a:effectLst/>
              </a:rPr>
              <a:t>,</a:t>
            </a:r>
            <a:r>
              <a:rPr lang="en-US" b="0" dirty="0">
                <a:solidFill>
                  <a:srgbClr val="098658"/>
                </a:solidFill>
                <a:effectLst/>
              </a:rPr>
              <a:t>78</a:t>
            </a:r>
            <a:r>
              <a:rPr lang="en-US" b="0" dirty="0">
                <a:solidFill>
                  <a:srgbClr val="000000"/>
                </a:solidFill>
                <a:effectLst/>
              </a:rPr>
              <a:t>])</a:t>
            </a:r>
          </a:p>
          <a:p>
            <a:pPr marL="0" indent="0">
              <a:buNone/>
            </a:pPr>
            <a:r>
              <a:rPr lang="en-US" b="0" dirty="0">
                <a:solidFill>
                  <a:srgbClr val="0070C1"/>
                </a:solidFill>
                <a:effectLst/>
              </a:rPr>
              <a:t>L2</a:t>
            </a:r>
            <a:r>
              <a:rPr lang="en-US" b="0" dirty="0">
                <a:solidFill>
                  <a:srgbClr val="000000"/>
                </a:solidFill>
                <a:effectLst/>
              </a:rPr>
              <a:t>=</a:t>
            </a:r>
            <a:r>
              <a:rPr lang="en-US" b="0" dirty="0" err="1">
                <a:solidFill>
                  <a:srgbClr val="267F99"/>
                </a:solidFill>
                <a:effectLst/>
              </a:rPr>
              <a:t>np</a:t>
            </a:r>
            <a:r>
              <a:rPr lang="en-US" b="0" dirty="0" err="1">
                <a:solidFill>
                  <a:srgbClr val="000000"/>
                </a:solidFill>
                <a:effectLst/>
              </a:rPr>
              <a:t>.</a:t>
            </a:r>
            <a:r>
              <a:rPr lang="en-US" b="0" dirty="0" err="1">
                <a:solidFill>
                  <a:srgbClr val="795E26"/>
                </a:solidFill>
                <a:effectLst/>
              </a:rPr>
              <a:t>array</a:t>
            </a:r>
            <a:r>
              <a:rPr lang="en-US" b="0" dirty="0">
                <a:solidFill>
                  <a:srgbClr val="000000"/>
                </a:solidFill>
                <a:effectLst/>
              </a:rPr>
              <a:t>([</a:t>
            </a:r>
            <a:r>
              <a:rPr lang="en-US" b="0" dirty="0">
                <a:solidFill>
                  <a:srgbClr val="098658"/>
                </a:solidFill>
                <a:effectLst/>
              </a:rPr>
              <a:t>40</a:t>
            </a:r>
            <a:r>
              <a:rPr lang="en-US" b="0" dirty="0">
                <a:solidFill>
                  <a:srgbClr val="000000"/>
                </a:solidFill>
                <a:effectLst/>
              </a:rPr>
              <a:t>,</a:t>
            </a:r>
            <a:r>
              <a:rPr lang="en-US" b="0" dirty="0">
                <a:solidFill>
                  <a:srgbClr val="098658"/>
                </a:solidFill>
                <a:effectLst/>
              </a:rPr>
              <a:t>60</a:t>
            </a:r>
            <a:r>
              <a:rPr lang="en-US" b="0" dirty="0">
                <a:solidFill>
                  <a:srgbClr val="000000"/>
                </a:solidFill>
                <a:effectLst/>
              </a:rPr>
              <a:t>,</a:t>
            </a:r>
            <a:r>
              <a:rPr lang="en-US" b="0" dirty="0">
                <a:solidFill>
                  <a:srgbClr val="098658"/>
                </a:solidFill>
                <a:effectLst/>
              </a:rPr>
              <a:t>90</a:t>
            </a:r>
            <a:r>
              <a:rPr lang="en-US" b="0" dirty="0">
                <a:solidFill>
                  <a:srgbClr val="000000"/>
                </a:solidFill>
                <a:effectLst/>
              </a:rPr>
              <a:t>])</a:t>
            </a:r>
          </a:p>
          <a:p>
            <a:pPr marL="0" indent="0">
              <a:buNone/>
            </a:pPr>
            <a:r>
              <a:rPr lang="en-US" b="0" dirty="0">
                <a:solidFill>
                  <a:srgbClr val="0070C1"/>
                </a:solidFill>
                <a:effectLst/>
              </a:rPr>
              <a:t>A1</a:t>
            </a:r>
            <a:r>
              <a:rPr lang="en-US" b="0" dirty="0">
                <a:solidFill>
                  <a:srgbClr val="000000"/>
                </a:solidFill>
                <a:effectLst/>
              </a:rPr>
              <a:t>=</a:t>
            </a:r>
            <a:r>
              <a:rPr lang="en-US" b="0" dirty="0" err="1">
                <a:solidFill>
                  <a:srgbClr val="267F99"/>
                </a:solidFill>
                <a:effectLst/>
              </a:rPr>
              <a:t>np</a:t>
            </a:r>
            <a:r>
              <a:rPr lang="en-US" b="0" dirty="0" err="1">
                <a:solidFill>
                  <a:srgbClr val="000000"/>
                </a:solidFill>
                <a:effectLst/>
              </a:rPr>
              <a:t>.</a:t>
            </a:r>
            <a:r>
              <a:rPr lang="en-US" b="0" dirty="0" err="1">
                <a:solidFill>
                  <a:srgbClr val="795E26"/>
                </a:solidFill>
                <a:effectLst/>
              </a:rPr>
              <a:t>concatenate</a:t>
            </a:r>
            <a:r>
              <a:rPr lang="en-US" b="0" dirty="0">
                <a:solidFill>
                  <a:srgbClr val="000000"/>
                </a:solidFill>
                <a:effectLst/>
              </a:rPr>
              <a:t>((</a:t>
            </a:r>
            <a:r>
              <a:rPr lang="en-US" b="0" dirty="0">
                <a:solidFill>
                  <a:srgbClr val="0070C1"/>
                </a:solidFill>
                <a:effectLst/>
              </a:rPr>
              <a:t>L1</a:t>
            </a:r>
            <a:r>
              <a:rPr lang="en-US" b="0" dirty="0">
                <a:solidFill>
                  <a:srgbClr val="000000"/>
                </a:solidFill>
                <a:effectLst/>
              </a:rPr>
              <a:t>,</a:t>
            </a:r>
            <a:r>
              <a:rPr lang="en-US" b="0" dirty="0">
                <a:solidFill>
                  <a:srgbClr val="0070C1"/>
                </a:solidFill>
                <a:effectLst/>
              </a:rPr>
              <a:t>L2</a:t>
            </a:r>
            <a:r>
              <a:rPr lang="en-US" b="0" dirty="0">
                <a:solidFill>
                  <a:srgbClr val="000000"/>
                </a:solidFill>
                <a:effectLst/>
              </a:rPr>
              <a:t>),</a:t>
            </a:r>
            <a:r>
              <a:rPr lang="en-US" b="0" dirty="0" err="1">
                <a:solidFill>
                  <a:srgbClr val="001080"/>
                </a:solidFill>
                <a:effectLst/>
              </a:rPr>
              <a:t>dtype</a:t>
            </a:r>
            <a:r>
              <a:rPr lang="en-US" b="0" dirty="0">
                <a:solidFill>
                  <a:srgbClr val="000000"/>
                </a:solidFill>
                <a:effectLst/>
              </a:rPr>
              <a:t>=</a:t>
            </a:r>
            <a:r>
              <a:rPr lang="en-US" b="0" dirty="0">
                <a:solidFill>
                  <a:srgbClr val="A31515"/>
                </a:solidFill>
                <a:effectLst/>
              </a:rPr>
              <a:t>'int'</a:t>
            </a:r>
            <a:r>
              <a:rPr lang="en-US" b="0" dirty="0">
                <a:solidFill>
                  <a:srgbClr val="000000"/>
                </a:solidFill>
                <a:effectLst/>
              </a:rPr>
              <a:t>)</a:t>
            </a:r>
          </a:p>
          <a:p>
            <a:pPr marL="0" indent="0">
              <a:buNone/>
            </a:pPr>
            <a:r>
              <a:rPr lang="en-US" b="0" dirty="0">
                <a:solidFill>
                  <a:srgbClr val="795E26"/>
                </a:solidFill>
                <a:effectLst/>
              </a:rPr>
              <a:t>print</a:t>
            </a:r>
            <a:r>
              <a:rPr lang="en-US" b="0" dirty="0">
                <a:solidFill>
                  <a:srgbClr val="000000"/>
                </a:solidFill>
                <a:effectLst/>
              </a:rPr>
              <a:t>(</a:t>
            </a:r>
            <a:r>
              <a:rPr lang="en-US" b="0" dirty="0">
                <a:solidFill>
                  <a:srgbClr val="0070C1"/>
                </a:solidFill>
                <a:effectLst/>
              </a:rPr>
              <a:t>A1</a:t>
            </a:r>
            <a:r>
              <a:rPr lang="en-US" b="0" dirty="0">
                <a:solidFill>
                  <a:srgbClr val="000000"/>
                </a:solidFill>
                <a:effectLst/>
              </a:rPr>
              <a:t>) </a:t>
            </a:r>
          </a:p>
          <a:p>
            <a:r>
              <a:rPr lang="en-US" dirty="0">
                <a:solidFill>
                  <a:srgbClr val="000000"/>
                </a:solidFill>
              </a:rPr>
              <a:t>C</a:t>
            </a:r>
            <a:r>
              <a:rPr lang="en-US" b="0" dirty="0">
                <a:solidFill>
                  <a:srgbClr val="000000"/>
                </a:solidFill>
                <a:effectLst/>
              </a:rPr>
              <a:t>an be used to concatenate two or more 2-D arrays either row-wise or column-wise. All the dimensions of the arrays to be concatenated must match exactly except for the dimension or axis along which they need to be joined. </a:t>
            </a:r>
          </a:p>
          <a:p>
            <a:r>
              <a:rPr lang="en-US" b="0" dirty="0">
                <a:solidFill>
                  <a:srgbClr val="000000"/>
                </a:solidFill>
                <a:effectLst/>
              </a:rPr>
              <a:t>Any mismatch in the dimensions results in an error. By default, the concatenation of the arrays happens along axis=0.</a:t>
            </a:r>
          </a:p>
          <a:p>
            <a:pPr marL="0" indent="0">
              <a:buNone/>
            </a:pPr>
            <a:endParaRPr lang="en-US"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1621893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134D-EC56-02BB-E09C-11444E8429DB}"/>
              </a:ext>
            </a:extLst>
          </p:cNvPr>
          <p:cNvSpPr>
            <a:spLocks noGrp="1"/>
          </p:cNvSpPr>
          <p:nvPr>
            <p:ph type="title"/>
          </p:nvPr>
        </p:nvSpPr>
        <p:spPr/>
        <p:txBody>
          <a:bodyPr/>
          <a:lstStyle/>
          <a:p>
            <a:r>
              <a:rPr lang="en-IN" dirty="0"/>
              <a:t>CONCATENATING ARRAYS</a:t>
            </a:r>
          </a:p>
        </p:txBody>
      </p:sp>
      <p:sp>
        <p:nvSpPr>
          <p:cNvPr id="3" name="Content Placeholder 2">
            <a:extLst>
              <a:ext uri="{FF2B5EF4-FFF2-40B4-BE49-F238E27FC236}">
                <a16:creationId xmlns:a16="http://schemas.microsoft.com/office/drawing/2014/main" id="{14418741-97E3-D732-4F4B-63753817320A}"/>
              </a:ext>
            </a:extLst>
          </p:cNvPr>
          <p:cNvSpPr>
            <a:spLocks noGrp="1"/>
          </p:cNvSpPr>
          <p:nvPr>
            <p:ph idx="1"/>
          </p:nvPr>
        </p:nvSpPr>
        <p:spPr/>
        <p:txBody>
          <a:bodyPr>
            <a:normAutofit fontScale="55000" lnSpcReduction="20000"/>
          </a:bodyPr>
          <a:lstStyle/>
          <a:p>
            <a:r>
              <a:rPr lang="en-US" b="0" i="0" dirty="0">
                <a:solidFill>
                  <a:srgbClr val="1F1F1F"/>
                </a:solidFill>
                <a:effectLst/>
                <a:latin typeface="Google Sans"/>
              </a:rPr>
              <a:t>Axis 0 − Axis 0 </a:t>
            </a:r>
            <a:r>
              <a:rPr lang="en-US" b="0" i="0" dirty="0">
                <a:solidFill>
                  <a:srgbClr val="040C28"/>
                </a:solidFill>
                <a:effectLst/>
                <a:latin typeface="Google Sans"/>
              </a:rPr>
              <a:t>refers to the rows of a data frame or a Series</a:t>
            </a:r>
            <a:r>
              <a:rPr lang="en-US" b="0" i="0" dirty="0">
                <a:solidFill>
                  <a:srgbClr val="1F1F1F"/>
                </a:solidFill>
                <a:effectLst/>
                <a:latin typeface="Google Sans"/>
              </a:rPr>
              <a:t>. It is often referred to as the "index axis". When an operation is applied along axis 0, it means that the operation is applied to each row of the Data Frame or Series.</a:t>
            </a:r>
          </a:p>
          <a:p>
            <a:r>
              <a:rPr lang="en-US" b="0" i="0" dirty="0">
                <a:solidFill>
                  <a:srgbClr val="1F1F1F"/>
                </a:solidFill>
                <a:effectLst/>
                <a:latin typeface="Google Sans"/>
              </a:rPr>
              <a:t>Axis 1 − Axis 1 </a:t>
            </a:r>
            <a:r>
              <a:rPr lang="en-US" b="0" i="0" dirty="0">
                <a:solidFill>
                  <a:srgbClr val="040C28"/>
                </a:solidFill>
                <a:effectLst/>
                <a:latin typeface="Google Sans"/>
              </a:rPr>
              <a:t>refers to the columns of a data frame or a Series</a:t>
            </a:r>
            <a:r>
              <a:rPr lang="en-US" b="0" i="0" dirty="0">
                <a:solidFill>
                  <a:srgbClr val="1F1F1F"/>
                </a:solidFill>
                <a:effectLst/>
                <a:latin typeface="Google Sans"/>
              </a:rPr>
              <a:t>. It is often referred to as the "column axis". When an operation is applied along axis 1, it means that the operation is applied to each column of the Data Frame or Series.</a:t>
            </a:r>
          </a:p>
          <a:p>
            <a:pPr marL="0" indent="0">
              <a:buNone/>
            </a:pPr>
            <a:endParaRPr lang="en-US" b="0" dirty="0">
              <a:solidFill>
                <a:srgbClr val="0070C1"/>
              </a:solidFill>
              <a:effectLst/>
              <a:latin typeface="Consolas" panose="020B0609020204030204" pitchFamily="49" charset="0"/>
            </a:endParaRPr>
          </a:p>
          <a:p>
            <a:pPr marL="0" indent="0">
              <a:buNone/>
            </a:pPr>
            <a:r>
              <a:rPr lang="en-US" b="0" dirty="0">
                <a:solidFill>
                  <a:srgbClr val="0070C1"/>
                </a:solidFill>
                <a:effectLst/>
                <a:latin typeface="Consolas" panose="020B0609020204030204" pitchFamily="49" charset="0"/>
              </a:rPr>
              <a:t>L1</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89</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88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90</a:t>
            </a:r>
            <a:r>
              <a:rPr lang="en-US" b="0" dirty="0">
                <a:solidFill>
                  <a:srgbClr val="000000"/>
                </a:solidFill>
                <a:effectLst/>
                <a:latin typeface="Consolas" panose="020B0609020204030204" pitchFamily="49" charset="0"/>
              </a:rPr>
              <a:t>]])</a:t>
            </a:r>
          </a:p>
          <a:p>
            <a:pPr marL="0" indent="0">
              <a:buNone/>
            </a:pPr>
            <a:r>
              <a:rPr lang="en-US" b="0" dirty="0">
                <a:solidFill>
                  <a:srgbClr val="0070C1"/>
                </a:solidFill>
                <a:effectLst/>
                <a:latin typeface="Consolas" panose="020B0609020204030204" pitchFamily="49" charset="0"/>
              </a:rPr>
              <a:t>L2</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60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56</a:t>
            </a:r>
            <a:r>
              <a:rPr lang="en-US" b="0" dirty="0">
                <a:solidFill>
                  <a:srgbClr val="000000"/>
                </a:solidFill>
                <a:effectLst/>
                <a:latin typeface="Consolas" panose="020B0609020204030204" pitchFamily="49" charset="0"/>
              </a:rPr>
              <a:t>]])</a:t>
            </a:r>
          </a:p>
          <a:p>
            <a:pPr marL="0" indent="0">
              <a:buNone/>
            </a:pPr>
            <a:r>
              <a:rPr lang="en-US" b="0" dirty="0">
                <a:solidFill>
                  <a:srgbClr val="0070C1"/>
                </a:solidFill>
                <a:effectLst/>
                <a:latin typeface="Consolas" panose="020B0609020204030204" pitchFamily="49" charset="0"/>
              </a:rPr>
              <a:t>A1</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concatenate</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L1</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L2</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axis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marL="0" indent="0">
              <a:buNone/>
            </a:pPr>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A1</a:t>
            </a:r>
            <a:r>
              <a:rPr lang="en-US" b="0" dirty="0">
                <a:solidFill>
                  <a:srgbClr val="000000"/>
                </a:solidFill>
                <a:effectLst/>
                <a:latin typeface="Consolas" panose="020B0609020204030204" pitchFamily="49" charset="0"/>
              </a:rPr>
              <a:t>) </a:t>
            </a:r>
          </a:p>
          <a:p>
            <a:pPr marL="0" indent="0">
              <a:buNone/>
            </a:pP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Result:</a:t>
            </a:r>
          </a:p>
          <a:p>
            <a:pPr marL="0" indent="0">
              <a:buNone/>
            </a:pPr>
            <a:r>
              <a:rPr lang="en-US" b="0" dirty="0">
                <a:solidFill>
                  <a:srgbClr val="000000"/>
                </a:solidFill>
                <a:effectLst/>
                <a:latin typeface="Consolas" panose="020B0609020204030204" pitchFamily="49" charset="0"/>
              </a:rPr>
              <a:t>[[89 78]</a:t>
            </a:r>
          </a:p>
          <a:p>
            <a:pPr marL="0" indent="0">
              <a:buNone/>
            </a:pPr>
            <a:r>
              <a:rPr lang="en-US" b="0" dirty="0">
                <a:solidFill>
                  <a:srgbClr val="000000"/>
                </a:solidFill>
                <a:effectLst/>
                <a:latin typeface="Consolas" panose="020B0609020204030204" pitchFamily="49" charset="0"/>
              </a:rPr>
              <a:t> [88 90]</a:t>
            </a:r>
          </a:p>
          <a:p>
            <a:pPr marL="0" indent="0">
              <a:buNone/>
            </a:pPr>
            <a:r>
              <a:rPr lang="en-US" b="0" dirty="0">
                <a:solidFill>
                  <a:srgbClr val="000000"/>
                </a:solidFill>
                <a:effectLst/>
                <a:latin typeface="Consolas" panose="020B0609020204030204" pitchFamily="49" charset="0"/>
              </a:rPr>
              <a:t> [40 60]</a:t>
            </a:r>
          </a:p>
          <a:p>
            <a:pPr marL="0" indent="0">
              <a:buNone/>
            </a:pPr>
            <a:r>
              <a:rPr lang="en-US" b="0" dirty="0">
                <a:solidFill>
                  <a:srgbClr val="000000"/>
                </a:solidFill>
                <a:effectLst/>
                <a:latin typeface="Consolas" panose="020B0609020204030204" pitchFamily="49" charset="0"/>
              </a:rPr>
              <a:t> [ 7  7]</a:t>
            </a:r>
          </a:p>
          <a:p>
            <a:pPr marL="0" indent="0">
              <a:buNone/>
            </a:pPr>
            <a:r>
              <a:rPr lang="en-US" b="0" dirty="0">
                <a:solidFill>
                  <a:srgbClr val="000000"/>
                </a:solidFill>
                <a:effectLst/>
                <a:latin typeface="Consolas" panose="020B0609020204030204" pitchFamily="49" charset="0"/>
              </a:rPr>
              <a:t> [ 4 56]]</a:t>
            </a:r>
          </a:p>
          <a:p>
            <a:endParaRPr lang="en-IN" dirty="0"/>
          </a:p>
        </p:txBody>
      </p:sp>
    </p:spTree>
    <p:extLst>
      <p:ext uri="{BB962C8B-B14F-4D97-AF65-F5344CB8AC3E}">
        <p14:creationId xmlns:p14="http://schemas.microsoft.com/office/powerpoint/2010/main" val="291465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A495-19A2-D04A-B236-2C517FEA943D}"/>
              </a:ext>
            </a:extLst>
          </p:cNvPr>
          <p:cNvSpPr>
            <a:spLocks noGrp="1"/>
          </p:cNvSpPr>
          <p:nvPr>
            <p:ph type="title"/>
          </p:nvPr>
        </p:nvSpPr>
        <p:spPr/>
        <p:txBody>
          <a:bodyPr/>
          <a:lstStyle/>
          <a:p>
            <a:r>
              <a:rPr lang="en-IN" dirty="0"/>
              <a:t>CONCATENATING ARRAYS</a:t>
            </a:r>
          </a:p>
        </p:txBody>
      </p:sp>
      <p:sp>
        <p:nvSpPr>
          <p:cNvPr id="3" name="Content Placeholder 2">
            <a:extLst>
              <a:ext uri="{FF2B5EF4-FFF2-40B4-BE49-F238E27FC236}">
                <a16:creationId xmlns:a16="http://schemas.microsoft.com/office/drawing/2014/main" id="{AB47D944-2EA4-AC48-E5FC-5F07A265896C}"/>
              </a:ext>
            </a:extLst>
          </p:cNvPr>
          <p:cNvSpPr>
            <a:spLocks noGrp="1"/>
          </p:cNvSpPr>
          <p:nvPr>
            <p:ph idx="1"/>
          </p:nvPr>
        </p:nvSpPr>
        <p:spPr/>
        <p:txBody>
          <a:bodyPr/>
          <a:lstStyle/>
          <a:p>
            <a:r>
              <a:rPr lang="en-US" b="0" dirty="0">
                <a:solidFill>
                  <a:srgbClr val="0070C1"/>
                </a:solidFill>
                <a:effectLst/>
                <a:latin typeface="Consolas" panose="020B0609020204030204" pitchFamily="49" charset="0"/>
              </a:rPr>
              <a:t>L1</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89</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88</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70C1"/>
                </a:solidFill>
                <a:effectLst/>
                <a:latin typeface="Consolas" panose="020B0609020204030204" pitchFamily="49" charset="0"/>
              </a:rPr>
              <a:t>L2</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60</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56</a:t>
            </a:r>
            <a:r>
              <a:rPr lang="en-US" b="0" dirty="0">
                <a:solidFill>
                  <a:srgbClr val="000000"/>
                </a:solidFill>
                <a:effectLst/>
                <a:latin typeface="Consolas" panose="020B0609020204030204" pitchFamily="49" charset="0"/>
              </a:rPr>
              <a:t>]])</a:t>
            </a:r>
          </a:p>
          <a:p>
            <a:r>
              <a:rPr lang="en-US" b="0" dirty="0">
                <a:solidFill>
                  <a:srgbClr val="0070C1"/>
                </a:solidFill>
                <a:effectLst/>
                <a:latin typeface="Consolas" panose="020B0609020204030204" pitchFamily="49" charset="0"/>
              </a:rPr>
              <a:t>A1</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concatenate</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L1</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L2</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axis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A1</a:t>
            </a:r>
            <a:r>
              <a:rPr lang="en-US" b="0" dirty="0">
                <a:solidFill>
                  <a:srgbClr val="000000"/>
                </a:solidFill>
                <a:effectLst/>
                <a:latin typeface="Consolas" panose="020B0609020204030204" pitchFamily="49" charset="0"/>
              </a:rPr>
              <a:t>) </a:t>
            </a:r>
          </a:p>
          <a:p>
            <a:r>
              <a:rPr lang="en-IN" dirty="0"/>
              <a:t>Result:</a:t>
            </a:r>
          </a:p>
          <a:p>
            <a:pPr marL="0" indent="0">
              <a:buNone/>
            </a:pPr>
            <a:r>
              <a:rPr lang="en-IN" dirty="0"/>
              <a:t>[[89 78 40 60]</a:t>
            </a:r>
          </a:p>
          <a:p>
            <a:pPr marL="0" indent="0">
              <a:buNone/>
            </a:pPr>
            <a:r>
              <a:rPr lang="en-IN" dirty="0"/>
              <a:t> [88 90  7  7]</a:t>
            </a:r>
          </a:p>
          <a:p>
            <a:pPr marL="0" indent="0">
              <a:buNone/>
            </a:pPr>
            <a:r>
              <a:rPr lang="en-IN" dirty="0"/>
              <a:t> [ 0  0  4 56]]</a:t>
            </a:r>
          </a:p>
        </p:txBody>
      </p:sp>
    </p:spTree>
    <p:extLst>
      <p:ext uri="{BB962C8B-B14F-4D97-AF65-F5344CB8AC3E}">
        <p14:creationId xmlns:p14="http://schemas.microsoft.com/office/powerpoint/2010/main" val="3314242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A34A-AE87-B1CE-532C-849BEADCB688}"/>
              </a:ext>
            </a:extLst>
          </p:cNvPr>
          <p:cNvSpPr>
            <a:spLocks noGrp="1"/>
          </p:cNvSpPr>
          <p:nvPr>
            <p:ph type="title"/>
          </p:nvPr>
        </p:nvSpPr>
        <p:spPr/>
        <p:txBody>
          <a:bodyPr/>
          <a:lstStyle/>
          <a:p>
            <a:r>
              <a:rPr lang="en-US" dirty="0"/>
              <a:t>RESHAPING ARRAYS</a:t>
            </a:r>
            <a:endParaRPr lang="en-IN" dirty="0"/>
          </a:p>
        </p:txBody>
      </p:sp>
      <p:sp>
        <p:nvSpPr>
          <p:cNvPr id="3" name="Content Placeholder 2">
            <a:extLst>
              <a:ext uri="{FF2B5EF4-FFF2-40B4-BE49-F238E27FC236}">
                <a16:creationId xmlns:a16="http://schemas.microsoft.com/office/drawing/2014/main" id="{C89C0029-0B86-9F72-6768-6E85F4B433C4}"/>
              </a:ext>
            </a:extLst>
          </p:cNvPr>
          <p:cNvSpPr>
            <a:spLocks noGrp="1"/>
          </p:cNvSpPr>
          <p:nvPr>
            <p:ph idx="1"/>
          </p:nvPr>
        </p:nvSpPr>
        <p:spPr/>
        <p:txBody>
          <a:bodyPr>
            <a:normAutofit fontScale="62500" lnSpcReduction="20000"/>
          </a:bodyPr>
          <a:lstStyle/>
          <a:p>
            <a:r>
              <a:rPr lang="en-US" dirty="0"/>
              <a:t>We can modify the shape of an array using the reshape() function. Reshaping an array cannot be used to change the total number of elements in the array. Attempting to change the number of elements in the array using reshape() results in an error.</a:t>
            </a:r>
          </a:p>
          <a:p>
            <a:r>
              <a:rPr lang="en-US" dirty="0"/>
              <a:t>Example </a:t>
            </a:r>
          </a:p>
          <a:p>
            <a:pPr marL="0" indent="0">
              <a:buNone/>
            </a:pPr>
            <a:r>
              <a:rPr lang="en-US" b="1" dirty="0">
                <a:solidFill>
                  <a:schemeClr val="accent1"/>
                </a:solidFill>
              </a:rPr>
              <a:t>array3 = </a:t>
            </a:r>
            <a:r>
              <a:rPr lang="en-US" b="1" dirty="0" err="1">
                <a:solidFill>
                  <a:schemeClr val="accent1"/>
                </a:solidFill>
              </a:rPr>
              <a:t>np.arange</a:t>
            </a:r>
            <a:r>
              <a:rPr lang="en-US" b="1" dirty="0">
                <a:solidFill>
                  <a:schemeClr val="accent1"/>
                </a:solidFill>
              </a:rPr>
              <a:t>(10,22)</a:t>
            </a:r>
          </a:p>
          <a:p>
            <a:pPr marL="0" indent="0">
              <a:buNone/>
            </a:pPr>
            <a:r>
              <a:rPr lang="en-US" dirty="0"/>
              <a:t>print(array3)</a:t>
            </a:r>
          </a:p>
          <a:p>
            <a:pPr marL="0" indent="0">
              <a:buNone/>
            </a:pPr>
            <a:r>
              <a:rPr lang="en-US" dirty="0"/>
              <a:t>[10, 11, 12, 13, 14, 15, 16, 17, 18,19, 20, 21]</a:t>
            </a:r>
          </a:p>
          <a:p>
            <a:pPr marL="0" indent="0">
              <a:buNone/>
            </a:pPr>
            <a:r>
              <a:rPr lang="en-US" b="1" dirty="0">
                <a:solidFill>
                  <a:schemeClr val="accent1"/>
                </a:solidFill>
              </a:rPr>
              <a:t>array3.reshape(3,4)</a:t>
            </a:r>
          </a:p>
          <a:p>
            <a:pPr marL="0" indent="0">
              <a:buNone/>
            </a:pPr>
            <a:r>
              <a:rPr lang="en-US" dirty="0"/>
              <a:t>[[10, 11, 12, 13],</a:t>
            </a:r>
          </a:p>
          <a:p>
            <a:pPr marL="0" indent="0">
              <a:buNone/>
            </a:pPr>
            <a:r>
              <a:rPr lang="en-US" dirty="0"/>
              <a:t>[14, 15, 16, 17],</a:t>
            </a:r>
          </a:p>
          <a:p>
            <a:pPr marL="0" indent="0">
              <a:buNone/>
            </a:pPr>
            <a:r>
              <a:rPr lang="en-US" dirty="0"/>
              <a:t>[18, 19, 20, 21]])</a:t>
            </a:r>
          </a:p>
          <a:p>
            <a:pPr marL="0" indent="0">
              <a:buNone/>
            </a:pPr>
            <a:r>
              <a:rPr lang="en-US" b="1" dirty="0">
                <a:solidFill>
                  <a:schemeClr val="accent1"/>
                </a:solidFill>
              </a:rPr>
              <a:t>array3.reshape(2,6)</a:t>
            </a:r>
          </a:p>
          <a:p>
            <a:pPr marL="0" indent="0">
              <a:buNone/>
            </a:pPr>
            <a:r>
              <a:rPr lang="en-US" dirty="0"/>
              <a:t>array([[10, 11, 12, 13, 14, 15],</a:t>
            </a:r>
          </a:p>
          <a:p>
            <a:pPr marL="0" indent="0">
              <a:buNone/>
            </a:pPr>
            <a:r>
              <a:rPr lang="en-US" dirty="0"/>
              <a:t>[16, 17, 18, 19, 20, 21]])</a:t>
            </a:r>
            <a:endParaRPr lang="en-IN" dirty="0"/>
          </a:p>
        </p:txBody>
      </p:sp>
    </p:spTree>
    <p:extLst>
      <p:ext uri="{BB962C8B-B14F-4D97-AF65-F5344CB8AC3E}">
        <p14:creationId xmlns:p14="http://schemas.microsoft.com/office/powerpoint/2010/main" val="4161456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D9DC-D1F0-4A95-CCF0-69257945858B}"/>
              </a:ext>
            </a:extLst>
          </p:cNvPr>
          <p:cNvSpPr>
            <a:spLocks noGrp="1"/>
          </p:cNvSpPr>
          <p:nvPr>
            <p:ph type="title"/>
          </p:nvPr>
        </p:nvSpPr>
        <p:spPr/>
        <p:txBody>
          <a:bodyPr/>
          <a:lstStyle/>
          <a:p>
            <a:r>
              <a:rPr lang="en-IN" dirty="0"/>
              <a:t>SPLITTING ARRAYS</a:t>
            </a:r>
          </a:p>
        </p:txBody>
      </p:sp>
      <p:sp>
        <p:nvSpPr>
          <p:cNvPr id="3" name="Content Placeholder 2">
            <a:extLst>
              <a:ext uri="{FF2B5EF4-FFF2-40B4-BE49-F238E27FC236}">
                <a16:creationId xmlns:a16="http://schemas.microsoft.com/office/drawing/2014/main" id="{1A1B3A81-1EEC-EB77-F8AC-52119B9168C3}"/>
              </a:ext>
            </a:extLst>
          </p:cNvPr>
          <p:cNvSpPr>
            <a:spLocks noGrp="1"/>
          </p:cNvSpPr>
          <p:nvPr>
            <p:ph idx="1"/>
          </p:nvPr>
        </p:nvSpPr>
        <p:spPr/>
        <p:txBody>
          <a:bodyPr>
            <a:normAutofit fontScale="55000" lnSpcReduction="20000"/>
          </a:bodyPr>
          <a:lstStyle/>
          <a:p>
            <a:r>
              <a:rPr lang="en-US" dirty="0"/>
              <a:t>We can split an array into two or more subarrays.</a:t>
            </a:r>
          </a:p>
          <a:p>
            <a:r>
              <a:rPr lang="en-US" dirty="0" err="1"/>
              <a:t>numpy.split</a:t>
            </a:r>
            <a:r>
              <a:rPr lang="en-US" dirty="0"/>
              <a:t>() splits an array along the specified axis.</a:t>
            </a:r>
          </a:p>
          <a:p>
            <a:r>
              <a:rPr lang="en-US" dirty="0"/>
              <a:t>We can either specify sequence of index values where an  array is to be split; or we can specify an integer N, that indicates the number of equal parts in which the array is to be split, as parameter(s) to the </a:t>
            </a:r>
            <a:r>
              <a:rPr lang="en-US" dirty="0" err="1"/>
              <a:t>NumPy.split</a:t>
            </a:r>
            <a:r>
              <a:rPr lang="en-US" dirty="0"/>
              <a:t>() function. </a:t>
            </a:r>
          </a:p>
          <a:p>
            <a:r>
              <a:rPr lang="en-US" dirty="0"/>
              <a:t>By default, </a:t>
            </a:r>
            <a:r>
              <a:rPr lang="en-US" dirty="0" err="1"/>
              <a:t>NumPy.split</a:t>
            </a:r>
            <a:r>
              <a:rPr lang="en-US" dirty="0"/>
              <a:t>() splits along axis =0.</a:t>
            </a:r>
          </a:p>
          <a:p>
            <a:r>
              <a:rPr lang="en-US" dirty="0"/>
              <a:t> Consider the array given below:</a:t>
            </a:r>
          </a:p>
          <a:p>
            <a:pPr marL="0" indent="0">
              <a:buNone/>
            </a:pPr>
            <a:r>
              <a:rPr lang="en-US" b="0" dirty="0">
                <a:solidFill>
                  <a:srgbClr val="0070C1"/>
                </a:solidFill>
                <a:effectLst/>
                <a:latin typeface="Consolas" panose="020B0609020204030204" pitchFamily="49" charset="0"/>
              </a:rPr>
              <a:t>A</a:t>
            </a:r>
            <a:r>
              <a:rPr lang="en-US" b="0" dirty="0">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array</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7</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40</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marL="0" indent="0">
              <a:buNone/>
            </a:pPr>
            <a:r>
              <a:rPr lang="en-US" b="0" dirty="0">
                <a:solidFill>
                  <a:srgbClr val="008000"/>
                </a:solidFill>
                <a:effectLst/>
                <a:latin typeface="Consolas" panose="020B0609020204030204" pitchFamily="49" charset="0"/>
              </a:rPr>
              <a:t># [2,3] indicate the row indices on which</a:t>
            </a:r>
            <a:endParaRPr lang="en-US" b="0" dirty="0">
              <a:solidFill>
                <a:srgbClr val="000000"/>
              </a:solidFill>
              <a:effectLst/>
              <a:latin typeface="Consolas" panose="020B0609020204030204" pitchFamily="49" charset="0"/>
            </a:endParaRPr>
          </a:p>
          <a:p>
            <a:pPr marL="0" indent="0">
              <a:buNone/>
            </a:pPr>
            <a:r>
              <a:rPr lang="en-US" b="0" dirty="0">
                <a:solidFill>
                  <a:srgbClr val="008000"/>
                </a:solidFill>
                <a:effectLst/>
                <a:latin typeface="Consolas" panose="020B0609020204030204" pitchFamily="49" charset="0"/>
              </a:rPr>
              <a:t># to split the array means 0:2 (2 not included) 2:3 (3 not included)</a:t>
            </a:r>
            <a:endParaRPr lang="en-US" b="0" dirty="0">
              <a:solidFill>
                <a:srgbClr val="000000"/>
              </a:solidFill>
              <a:effectLst/>
              <a:latin typeface="Consolas" panose="020B0609020204030204" pitchFamily="49" charset="0"/>
            </a:endParaRPr>
          </a:p>
          <a:p>
            <a:pPr marL="0" indent="0">
              <a:buNone/>
            </a:pPr>
            <a:r>
              <a:rPr lang="en-US" b="0" dirty="0">
                <a:solidFill>
                  <a:srgbClr val="001080"/>
                </a:solidFill>
                <a:effectLst/>
                <a:latin typeface="Consolas" panose="020B0609020204030204" pitchFamily="49" charset="0"/>
              </a:rPr>
              <a:t>z</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np</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split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A</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p>
          <a:p>
            <a:pPr marL="0" indent="0">
              <a:buNone/>
            </a:pPr>
            <a:r>
              <a:rPr lang="en-US" b="0" dirty="0">
                <a:solidFill>
                  <a:srgbClr val="795E26"/>
                </a:solidFill>
                <a:effectLst/>
                <a:latin typeface="Consolas" panose="020B0609020204030204" pitchFamily="49" charset="0"/>
              </a:rPr>
              <a:t>print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z</a:t>
            </a:r>
            <a:r>
              <a:rPr lang="en-US" b="0" dirty="0">
                <a:solidFill>
                  <a:srgbClr val="000000"/>
                </a:solidFill>
                <a:effectLst/>
                <a:latin typeface="Consolas" panose="020B0609020204030204" pitchFamily="49" charset="0"/>
              </a:rPr>
              <a:t>)</a:t>
            </a:r>
          </a:p>
          <a:p>
            <a:pPr marL="0" indent="0">
              <a:buNone/>
            </a:pPr>
            <a:endParaRPr lang="en-IN" dirty="0"/>
          </a:p>
        </p:txBody>
      </p:sp>
    </p:spTree>
    <p:extLst>
      <p:ext uri="{BB962C8B-B14F-4D97-AF65-F5344CB8AC3E}">
        <p14:creationId xmlns:p14="http://schemas.microsoft.com/office/powerpoint/2010/main" val="3882617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C753-E16F-C8BA-82DD-442BF30DBBDA}"/>
              </a:ext>
            </a:extLst>
          </p:cNvPr>
          <p:cNvSpPr>
            <a:spLocks noGrp="1"/>
          </p:cNvSpPr>
          <p:nvPr>
            <p:ph type="title"/>
          </p:nvPr>
        </p:nvSpPr>
        <p:spPr/>
        <p:txBody>
          <a:bodyPr/>
          <a:lstStyle/>
          <a:p>
            <a:r>
              <a:rPr lang="en-IN" dirty="0"/>
              <a:t>SPLITTING ARRAYS</a:t>
            </a:r>
          </a:p>
        </p:txBody>
      </p:sp>
      <p:sp>
        <p:nvSpPr>
          <p:cNvPr id="3" name="Content Placeholder 2">
            <a:extLst>
              <a:ext uri="{FF2B5EF4-FFF2-40B4-BE49-F238E27FC236}">
                <a16:creationId xmlns:a16="http://schemas.microsoft.com/office/drawing/2014/main" id="{633B6962-72B7-A5EF-86B0-E7FBBBE5F4F9}"/>
              </a:ext>
            </a:extLst>
          </p:cNvPr>
          <p:cNvSpPr>
            <a:spLocks noGrp="1"/>
          </p:cNvSpPr>
          <p:nvPr>
            <p:ph idx="1"/>
          </p:nvPr>
        </p:nvSpPr>
        <p:spPr/>
        <p:txBody>
          <a:bodyPr/>
          <a:lstStyle/>
          <a:p>
            <a:r>
              <a:rPr lang="en-US" dirty="0"/>
              <a:t>Result:</a:t>
            </a:r>
          </a:p>
          <a:p>
            <a:pPr marL="0" indent="0">
              <a:buNone/>
            </a:pPr>
            <a:r>
              <a:rPr lang="en-US" dirty="0"/>
              <a:t>[array([[ 10,  -7,   0,  20],</a:t>
            </a:r>
          </a:p>
          <a:p>
            <a:pPr marL="0" indent="0">
              <a:buNone/>
            </a:pPr>
            <a:r>
              <a:rPr lang="en-US" dirty="0"/>
              <a:t>       [ -5,   1, 200,  40]]), array([[30,  1, -1,  4]]), array([[1, 2, 0, 4],</a:t>
            </a:r>
          </a:p>
          <a:p>
            <a:pPr marL="0" indent="0">
              <a:buNone/>
            </a:pPr>
            <a:r>
              <a:rPr lang="en-US" dirty="0"/>
              <a:t>       [0, 1, 0, 2]])]</a:t>
            </a:r>
          </a:p>
          <a:p>
            <a:pPr marL="0" indent="0">
              <a:buNone/>
            </a:pPr>
            <a:endParaRPr lang="en-US" dirty="0"/>
          </a:p>
          <a:p>
            <a:pPr marL="0" indent="0">
              <a:buNone/>
            </a:pPr>
            <a:r>
              <a:rPr lang="en-US" dirty="0">
                <a:solidFill>
                  <a:schemeClr val="accent1"/>
                </a:solidFill>
              </a:rPr>
              <a:t>See </a:t>
            </a:r>
            <a:r>
              <a:rPr lang="en-US" dirty="0" err="1">
                <a:solidFill>
                  <a:schemeClr val="accent1"/>
                </a:solidFill>
              </a:rPr>
              <a:t>hsplit</a:t>
            </a:r>
            <a:r>
              <a:rPr lang="en-US" dirty="0">
                <a:solidFill>
                  <a:schemeClr val="accent1"/>
                </a:solidFill>
              </a:rPr>
              <a:t>() column split</a:t>
            </a:r>
            <a:endParaRPr lang="en-IN" dirty="0">
              <a:solidFill>
                <a:schemeClr val="accent1"/>
              </a:solidFill>
            </a:endParaRPr>
          </a:p>
        </p:txBody>
      </p:sp>
    </p:spTree>
    <p:extLst>
      <p:ext uri="{BB962C8B-B14F-4D97-AF65-F5344CB8AC3E}">
        <p14:creationId xmlns:p14="http://schemas.microsoft.com/office/powerpoint/2010/main" val="2172826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6AB2F-3011-A4F6-1823-C710DAFF5623}"/>
              </a:ext>
            </a:extLst>
          </p:cNvPr>
          <p:cNvSpPr>
            <a:spLocks noGrp="1"/>
          </p:cNvSpPr>
          <p:nvPr>
            <p:ph type="title"/>
          </p:nvPr>
        </p:nvSpPr>
        <p:spPr/>
        <p:txBody>
          <a:bodyPr/>
          <a:lstStyle/>
          <a:p>
            <a:r>
              <a:rPr lang="en-IN" dirty="0"/>
              <a:t>STATISTICAL OPERATIONS ON ARRAYS</a:t>
            </a:r>
          </a:p>
        </p:txBody>
      </p:sp>
      <p:sp>
        <p:nvSpPr>
          <p:cNvPr id="3" name="Content Placeholder 2">
            <a:extLst>
              <a:ext uri="{FF2B5EF4-FFF2-40B4-BE49-F238E27FC236}">
                <a16:creationId xmlns:a16="http://schemas.microsoft.com/office/drawing/2014/main" id="{E94F4B38-7600-6B9A-760A-90D9E0DA4ADF}"/>
              </a:ext>
            </a:extLst>
          </p:cNvPr>
          <p:cNvSpPr>
            <a:spLocks noGrp="1"/>
          </p:cNvSpPr>
          <p:nvPr>
            <p:ph idx="1"/>
          </p:nvPr>
        </p:nvSpPr>
        <p:spPr>
          <a:xfrm>
            <a:off x="838200" y="1577788"/>
            <a:ext cx="10515600" cy="4599175"/>
          </a:xfrm>
        </p:spPr>
        <p:txBody>
          <a:bodyPr>
            <a:normAutofit fontScale="47500" lnSpcReduction="20000"/>
          </a:bodyPr>
          <a:lstStyle/>
          <a:p>
            <a:pPr marL="0" indent="0">
              <a:buNone/>
            </a:pPr>
            <a:r>
              <a:rPr lang="en-US" b="1" dirty="0"/>
              <a:t>NumPy provides functions to perform many useful statistical operations on arrays. </a:t>
            </a:r>
          </a:p>
          <a:p>
            <a:pPr marL="0" indent="0">
              <a:buNone/>
            </a:pPr>
            <a:r>
              <a:rPr lang="en-IN" dirty="0"/>
              <a:t>Let us consider two arrays:</a:t>
            </a:r>
          </a:p>
          <a:p>
            <a:pPr marL="0" indent="0">
              <a:buNone/>
            </a:pPr>
            <a:r>
              <a:rPr lang="en-IN" dirty="0" err="1"/>
              <a:t>arrayA</a:t>
            </a:r>
            <a:r>
              <a:rPr lang="en-IN" dirty="0"/>
              <a:t> = </a:t>
            </a:r>
            <a:r>
              <a:rPr lang="en-IN" dirty="0" err="1"/>
              <a:t>np.array</a:t>
            </a:r>
            <a:r>
              <a:rPr lang="en-IN" dirty="0"/>
              <a:t>([1,0,2,-3,6,8,4,7])</a:t>
            </a:r>
          </a:p>
          <a:p>
            <a:pPr marL="0" indent="0">
              <a:buNone/>
            </a:pPr>
            <a:r>
              <a:rPr lang="en-IN" dirty="0" err="1"/>
              <a:t>arrayB</a:t>
            </a:r>
            <a:r>
              <a:rPr lang="en-IN" dirty="0"/>
              <a:t> = </a:t>
            </a:r>
            <a:r>
              <a:rPr lang="en-IN" dirty="0" err="1"/>
              <a:t>np.array</a:t>
            </a:r>
            <a:r>
              <a:rPr lang="en-IN" dirty="0"/>
              <a:t>([[3,6],[4,2]])</a:t>
            </a:r>
          </a:p>
          <a:p>
            <a:pPr marL="0" indent="0">
              <a:buNone/>
            </a:pPr>
            <a:r>
              <a:rPr lang="en-IN" b="1" dirty="0">
                <a:solidFill>
                  <a:schemeClr val="accent1"/>
                </a:solidFill>
              </a:rPr>
              <a:t>1. The max() function finds the maximum element from an array.</a:t>
            </a:r>
          </a:p>
          <a:p>
            <a:pPr marL="0" indent="0">
              <a:buNone/>
            </a:pPr>
            <a:r>
              <a:rPr lang="en-IN" dirty="0"/>
              <a:t># max element form the whole 1-D array</a:t>
            </a:r>
          </a:p>
          <a:p>
            <a:pPr marL="0" indent="0">
              <a:buNone/>
            </a:pPr>
            <a:r>
              <a:rPr lang="en-IN" b="1" dirty="0" err="1">
                <a:solidFill>
                  <a:schemeClr val="accent1"/>
                </a:solidFill>
              </a:rPr>
              <a:t>arrayA.max</a:t>
            </a:r>
            <a:r>
              <a:rPr lang="en-IN" b="1" dirty="0">
                <a:solidFill>
                  <a:schemeClr val="accent1"/>
                </a:solidFill>
              </a:rPr>
              <a:t>()</a:t>
            </a:r>
          </a:p>
          <a:p>
            <a:pPr marL="0" indent="0">
              <a:buNone/>
            </a:pPr>
            <a:r>
              <a:rPr lang="en-IN" dirty="0"/>
              <a:t>8</a:t>
            </a:r>
          </a:p>
          <a:p>
            <a:pPr marL="0" indent="0">
              <a:buNone/>
            </a:pPr>
            <a:r>
              <a:rPr lang="en-IN" dirty="0"/>
              <a:t># max element form the whole 2-D array</a:t>
            </a:r>
          </a:p>
          <a:p>
            <a:pPr marL="0" indent="0">
              <a:buNone/>
            </a:pPr>
            <a:r>
              <a:rPr lang="en-IN" b="1" dirty="0">
                <a:solidFill>
                  <a:schemeClr val="accent1"/>
                </a:solidFill>
              </a:rPr>
              <a:t> </a:t>
            </a:r>
            <a:r>
              <a:rPr lang="en-IN" b="1" dirty="0" err="1">
                <a:solidFill>
                  <a:schemeClr val="accent1"/>
                </a:solidFill>
              </a:rPr>
              <a:t>arrayB.max</a:t>
            </a:r>
            <a:r>
              <a:rPr lang="en-IN" b="1" dirty="0">
                <a:solidFill>
                  <a:schemeClr val="accent1"/>
                </a:solidFill>
              </a:rPr>
              <a:t>()</a:t>
            </a:r>
          </a:p>
          <a:p>
            <a:pPr marL="0" indent="0">
              <a:buNone/>
            </a:pPr>
            <a:r>
              <a:rPr lang="en-IN" dirty="0"/>
              <a:t>6</a:t>
            </a:r>
          </a:p>
          <a:p>
            <a:pPr marL="0" indent="0">
              <a:buNone/>
            </a:pPr>
            <a:r>
              <a:rPr lang="en-IN" dirty="0"/>
              <a:t># if axis=1, it gives column wise maximum</a:t>
            </a:r>
          </a:p>
          <a:p>
            <a:pPr marL="0" indent="0">
              <a:buNone/>
            </a:pPr>
            <a:r>
              <a:rPr lang="en-IN" b="1" dirty="0" err="1">
                <a:solidFill>
                  <a:schemeClr val="accent1"/>
                </a:solidFill>
              </a:rPr>
              <a:t>arrayB.max</a:t>
            </a:r>
            <a:r>
              <a:rPr lang="en-IN" b="1" dirty="0">
                <a:solidFill>
                  <a:schemeClr val="accent1"/>
                </a:solidFill>
              </a:rPr>
              <a:t>(axis=1)</a:t>
            </a:r>
          </a:p>
          <a:p>
            <a:pPr marL="0" indent="0">
              <a:buNone/>
            </a:pPr>
            <a:r>
              <a:rPr lang="en-IN" dirty="0"/>
              <a:t>array([6, 4])</a:t>
            </a:r>
          </a:p>
          <a:p>
            <a:pPr marL="0" indent="0">
              <a:buNone/>
            </a:pPr>
            <a:r>
              <a:rPr lang="en-IN" dirty="0"/>
              <a:t># if axis=0, it gives row wise maximum</a:t>
            </a:r>
          </a:p>
          <a:p>
            <a:pPr marL="0" indent="0">
              <a:buNone/>
            </a:pPr>
            <a:r>
              <a:rPr lang="en-IN" b="1" dirty="0">
                <a:solidFill>
                  <a:schemeClr val="accent1"/>
                </a:solidFill>
              </a:rPr>
              <a:t> </a:t>
            </a:r>
            <a:r>
              <a:rPr lang="en-IN" b="1" dirty="0" err="1">
                <a:solidFill>
                  <a:schemeClr val="accent1"/>
                </a:solidFill>
              </a:rPr>
              <a:t>arrayB.max</a:t>
            </a:r>
            <a:r>
              <a:rPr lang="en-IN" b="1" dirty="0">
                <a:solidFill>
                  <a:schemeClr val="accent1"/>
                </a:solidFill>
              </a:rPr>
              <a:t>(axis=0)</a:t>
            </a:r>
          </a:p>
          <a:p>
            <a:pPr marL="0" indent="0">
              <a:buNone/>
            </a:pPr>
            <a:r>
              <a:rPr lang="en-IN" dirty="0"/>
              <a:t>array([4, 6])</a:t>
            </a:r>
          </a:p>
          <a:p>
            <a:pPr marL="0" indent="0">
              <a:buNone/>
            </a:pPr>
            <a:endParaRPr lang="en-IN" dirty="0"/>
          </a:p>
        </p:txBody>
      </p:sp>
    </p:spTree>
    <p:extLst>
      <p:ext uri="{BB962C8B-B14F-4D97-AF65-F5344CB8AC3E}">
        <p14:creationId xmlns:p14="http://schemas.microsoft.com/office/powerpoint/2010/main" val="2913831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0DEDB-A0E6-D719-4F6C-CB80A8F35863}"/>
              </a:ext>
            </a:extLst>
          </p:cNvPr>
          <p:cNvSpPr>
            <a:spLocks noGrp="1"/>
          </p:cNvSpPr>
          <p:nvPr>
            <p:ph type="title"/>
          </p:nvPr>
        </p:nvSpPr>
        <p:spPr/>
        <p:txBody>
          <a:bodyPr/>
          <a:lstStyle/>
          <a:p>
            <a:r>
              <a:rPr lang="en-IN" dirty="0"/>
              <a:t>STATISTICAL OPERATIONS ON ARRAYS</a:t>
            </a:r>
          </a:p>
        </p:txBody>
      </p:sp>
      <p:sp>
        <p:nvSpPr>
          <p:cNvPr id="3" name="Content Placeholder 2">
            <a:extLst>
              <a:ext uri="{FF2B5EF4-FFF2-40B4-BE49-F238E27FC236}">
                <a16:creationId xmlns:a16="http://schemas.microsoft.com/office/drawing/2014/main" id="{A7452CD8-773C-8ED0-1D78-81958DB103CD}"/>
              </a:ext>
            </a:extLst>
          </p:cNvPr>
          <p:cNvSpPr>
            <a:spLocks noGrp="1"/>
          </p:cNvSpPr>
          <p:nvPr>
            <p:ph idx="1"/>
          </p:nvPr>
        </p:nvSpPr>
        <p:spPr/>
        <p:txBody>
          <a:bodyPr/>
          <a:lstStyle/>
          <a:p>
            <a:pPr marL="0" indent="0">
              <a:buNone/>
            </a:pPr>
            <a:r>
              <a:rPr lang="en-US" b="1" dirty="0">
                <a:solidFill>
                  <a:schemeClr val="accent1"/>
                </a:solidFill>
              </a:rPr>
              <a:t>2. The min() function finds the minimum element from an array.</a:t>
            </a:r>
          </a:p>
          <a:p>
            <a:pPr marL="0" indent="0">
              <a:buNone/>
            </a:pPr>
            <a:r>
              <a:rPr lang="en-US" b="1" dirty="0" err="1">
                <a:solidFill>
                  <a:schemeClr val="accent1"/>
                </a:solidFill>
              </a:rPr>
              <a:t>arrayA.min</a:t>
            </a:r>
            <a:r>
              <a:rPr lang="en-US" b="1" dirty="0">
                <a:solidFill>
                  <a:schemeClr val="accent1"/>
                </a:solidFill>
              </a:rPr>
              <a:t>()</a:t>
            </a:r>
          </a:p>
          <a:p>
            <a:pPr marL="0" indent="0">
              <a:buNone/>
            </a:pPr>
            <a:r>
              <a:rPr lang="en-US" dirty="0"/>
              <a:t>-3</a:t>
            </a:r>
          </a:p>
          <a:p>
            <a:pPr marL="0" indent="0">
              <a:buNone/>
            </a:pPr>
            <a:r>
              <a:rPr lang="en-US" b="1" dirty="0" err="1">
                <a:solidFill>
                  <a:schemeClr val="accent1"/>
                </a:solidFill>
              </a:rPr>
              <a:t>arrayB.min</a:t>
            </a:r>
            <a:r>
              <a:rPr lang="en-US" b="1" dirty="0">
                <a:solidFill>
                  <a:schemeClr val="accent1"/>
                </a:solidFill>
              </a:rPr>
              <a:t>()</a:t>
            </a:r>
          </a:p>
          <a:p>
            <a:pPr marL="0" indent="0">
              <a:buNone/>
            </a:pPr>
            <a:r>
              <a:rPr lang="en-US" dirty="0"/>
              <a:t>2</a:t>
            </a:r>
          </a:p>
          <a:p>
            <a:pPr marL="0" indent="0">
              <a:buNone/>
            </a:pPr>
            <a:r>
              <a:rPr lang="en-US" b="1" dirty="0" err="1">
                <a:solidFill>
                  <a:schemeClr val="accent1"/>
                </a:solidFill>
              </a:rPr>
              <a:t>arrayB.min</a:t>
            </a:r>
            <a:r>
              <a:rPr lang="en-US" b="1" dirty="0">
                <a:solidFill>
                  <a:schemeClr val="accent1"/>
                </a:solidFill>
              </a:rPr>
              <a:t>(axis=0)</a:t>
            </a:r>
          </a:p>
          <a:p>
            <a:pPr marL="0" indent="0">
              <a:buNone/>
            </a:pPr>
            <a:r>
              <a:rPr lang="en-US" dirty="0"/>
              <a:t>array([3, 2])</a:t>
            </a:r>
            <a:endParaRPr lang="en-IN" dirty="0"/>
          </a:p>
        </p:txBody>
      </p:sp>
    </p:spTree>
    <p:extLst>
      <p:ext uri="{BB962C8B-B14F-4D97-AF65-F5344CB8AC3E}">
        <p14:creationId xmlns:p14="http://schemas.microsoft.com/office/powerpoint/2010/main" val="3183576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0CCA-16C7-70EF-9C92-1F855382C5E1}"/>
              </a:ext>
            </a:extLst>
          </p:cNvPr>
          <p:cNvSpPr>
            <a:spLocks noGrp="1"/>
          </p:cNvSpPr>
          <p:nvPr>
            <p:ph type="title"/>
          </p:nvPr>
        </p:nvSpPr>
        <p:spPr/>
        <p:txBody>
          <a:bodyPr/>
          <a:lstStyle/>
          <a:p>
            <a:r>
              <a:rPr lang="en-IN" dirty="0"/>
              <a:t>STATISTICAL OPERATIONS ON ARRAYS</a:t>
            </a:r>
          </a:p>
        </p:txBody>
      </p:sp>
      <p:sp>
        <p:nvSpPr>
          <p:cNvPr id="3" name="Content Placeholder 2">
            <a:extLst>
              <a:ext uri="{FF2B5EF4-FFF2-40B4-BE49-F238E27FC236}">
                <a16:creationId xmlns:a16="http://schemas.microsoft.com/office/drawing/2014/main" id="{E57D4BE0-4251-C733-389C-28B876F2FB74}"/>
              </a:ext>
            </a:extLst>
          </p:cNvPr>
          <p:cNvSpPr>
            <a:spLocks noGrp="1"/>
          </p:cNvSpPr>
          <p:nvPr>
            <p:ph idx="1"/>
          </p:nvPr>
        </p:nvSpPr>
        <p:spPr/>
        <p:txBody>
          <a:bodyPr>
            <a:normAutofit fontScale="92500" lnSpcReduction="20000"/>
          </a:bodyPr>
          <a:lstStyle/>
          <a:p>
            <a:pPr marL="0" indent="0">
              <a:buNone/>
            </a:pPr>
            <a:r>
              <a:rPr lang="en-US" b="1" dirty="0">
                <a:solidFill>
                  <a:schemeClr val="accent1"/>
                </a:solidFill>
              </a:rPr>
              <a:t>The sum() function finds the sum of all elements of an array.</a:t>
            </a:r>
          </a:p>
          <a:p>
            <a:pPr marL="0" indent="0">
              <a:buNone/>
            </a:pPr>
            <a:r>
              <a:rPr lang="en-US" b="1" dirty="0" err="1">
                <a:solidFill>
                  <a:schemeClr val="accent1"/>
                </a:solidFill>
              </a:rPr>
              <a:t>arrayA.sum</a:t>
            </a:r>
            <a:r>
              <a:rPr lang="en-US" b="1" dirty="0">
                <a:solidFill>
                  <a:schemeClr val="accent1"/>
                </a:solidFill>
              </a:rPr>
              <a:t>()</a:t>
            </a:r>
          </a:p>
          <a:p>
            <a:pPr marL="0" indent="0">
              <a:buNone/>
            </a:pPr>
            <a:r>
              <a:rPr lang="en-US" dirty="0"/>
              <a:t>25</a:t>
            </a:r>
          </a:p>
          <a:p>
            <a:pPr marL="0" indent="0">
              <a:buNone/>
            </a:pPr>
            <a:r>
              <a:rPr lang="en-US" b="1" dirty="0" err="1">
                <a:solidFill>
                  <a:schemeClr val="accent1"/>
                </a:solidFill>
              </a:rPr>
              <a:t>arrayB.sum</a:t>
            </a:r>
            <a:r>
              <a:rPr lang="en-US" b="1" dirty="0">
                <a:solidFill>
                  <a:schemeClr val="accent1"/>
                </a:solidFill>
              </a:rPr>
              <a:t>()</a:t>
            </a:r>
          </a:p>
          <a:p>
            <a:pPr marL="0" indent="0">
              <a:buNone/>
            </a:pPr>
            <a:r>
              <a:rPr lang="en-US" dirty="0"/>
              <a:t>15</a:t>
            </a:r>
          </a:p>
          <a:p>
            <a:pPr marL="0" indent="0">
              <a:buNone/>
            </a:pPr>
            <a:r>
              <a:rPr lang="en-US" dirty="0"/>
              <a:t>#axis is used to specify the dimension</a:t>
            </a:r>
          </a:p>
          <a:p>
            <a:pPr marL="0" indent="0">
              <a:buNone/>
            </a:pPr>
            <a:r>
              <a:rPr lang="en-US" dirty="0"/>
              <a:t>#on which sum is to be made. Here axis = 1</a:t>
            </a:r>
          </a:p>
          <a:p>
            <a:pPr marL="0" indent="0">
              <a:buNone/>
            </a:pPr>
            <a:r>
              <a:rPr lang="en-US" dirty="0"/>
              <a:t>#means the sum of elements on the first row</a:t>
            </a:r>
          </a:p>
          <a:p>
            <a:pPr marL="0" indent="0">
              <a:buNone/>
            </a:pPr>
            <a:r>
              <a:rPr lang="en-US" b="1" dirty="0" err="1">
                <a:solidFill>
                  <a:schemeClr val="accent1"/>
                </a:solidFill>
              </a:rPr>
              <a:t>arrayB.sum</a:t>
            </a:r>
            <a:r>
              <a:rPr lang="en-US" b="1" dirty="0">
                <a:solidFill>
                  <a:schemeClr val="accent1"/>
                </a:solidFill>
              </a:rPr>
              <a:t>(axis=1)</a:t>
            </a:r>
          </a:p>
          <a:p>
            <a:pPr marL="0" indent="0">
              <a:buNone/>
            </a:pPr>
            <a:r>
              <a:rPr lang="en-US" dirty="0"/>
              <a:t>array([9, 6]</a:t>
            </a:r>
            <a:endParaRPr lang="en-IN" dirty="0"/>
          </a:p>
        </p:txBody>
      </p:sp>
    </p:spTree>
    <p:extLst>
      <p:ext uri="{BB962C8B-B14F-4D97-AF65-F5344CB8AC3E}">
        <p14:creationId xmlns:p14="http://schemas.microsoft.com/office/powerpoint/2010/main" val="4109637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D99B9-58B0-90E4-5FF5-57D64D5A9B4D}"/>
              </a:ext>
            </a:extLst>
          </p:cNvPr>
          <p:cNvSpPr>
            <a:spLocks noGrp="1"/>
          </p:cNvSpPr>
          <p:nvPr>
            <p:ph type="title"/>
          </p:nvPr>
        </p:nvSpPr>
        <p:spPr/>
        <p:txBody>
          <a:bodyPr/>
          <a:lstStyle/>
          <a:p>
            <a:r>
              <a:rPr lang="en-IN" dirty="0"/>
              <a:t>STATISTICAL OPERATIONS ON ARRAYS</a:t>
            </a:r>
          </a:p>
        </p:txBody>
      </p:sp>
      <p:sp>
        <p:nvSpPr>
          <p:cNvPr id="3" name="Content Placeholder 2">
            <a:extLst>
              <a:ext uri="{FF2B5EF4-FFF2-40B4-BE49-F238E27FC236}">
                <a16:creationId xmlns:a16="http://schemas.microsoft.com/office/drawing/2014/main" id="{8140A393-484C-9E31-380E-F898C390252E}"/>
              </a:ext>
            </a:extLst>
          </p:cNvPr>
          <p:cNvSpPr>
            <a:spLocks noGrp="1"/>
          </p:cNvSpPr>
          <p:nvPr>
            <p:ph idx="1"/>
          </p:nvPr>
        </p:nvSpPr>
        <p:spPr/>
        <p:txBody>
          <a:bodyPr>
            <a:normAutofit lnSpcReduction="10000"/>
          </a:bodyPr>
          <a:lstStyle/>
          <a:p>
            <a:r>
              <a:rPr lang="en-US" b="1" dirty="0">
                <a:solidFill>
                  <a:schemeClr val="accent1"/>
                </a:solidFill>
              </a:rPr>
              <a:t>The mean() function finds the average of elements of the array</a:t>
            </a:r>
            <a:r>
              <a:rPr lang="en-US" dirty="0"/>
              <a:t>.</a:t>
            </a:r>
          </a:p>
          <a:p>
            <a:pPr marL="0" indent="0">
              <a:buNone/>
            </a:pPr>
            <a:r>
              <a:rPr lang="en-US" b="1" dirty="0" err="1">
                <a:solidFill>
                  <a:schemeClr val="accent1"/>
                </a:solidFill>
              </a:rPr>
              <a:t>arrayA.mean</a:t>
            </a:r>
            <a:r>
              <a:rPr lang="en-US" b="1" dirty="0">
                <a:solidFill>
                  <a:schemeClr val="accent1"/>
                </a:solidFill>
              </a:rPr>
              <a:t>()</a:t>
            </a:r>
          </a:p>
          <a:p>
            <a:pPr marL="0" indent="0">
              <a:buNone/>
            </a:pPr>
            <a:r>
              <a:rPr lang="en-US" dirty="0"/>
              <a:t>3.125</a:t>
            </a:r>
          </a:p>
          <a:p>
            <a:pPr marL="0" indent="0">
              <a:buNone/>
            </a:pPr>
            <a:r>
              <a:rPr lang="en-US" b="1" dirty="0" err="1">
                <a:solidFill>
                  <a:schemeClr val="accent1"/>
                </a:solidFill>
              </a:rPr>
              <a:t>arrayB.mean</a:t>
            </a:r>
            <a:r>
              <a:rPr lang="en-US" b="1" dirty="0">
                <a:solidFill>
                  <a:schemeClr val="accent1"/>
                </a:solidFill>
              </a:rPr>
              <a:t>()</a:t>
            </a:r>
          </a:p>
          <a:p>
            <a:pPr marL="0" indent="0">
              <a:buNone/>
            </a:pPr>
            <a:r>
              <a:rPr lang="en-US" dirty="0"/>
              <a:t>3.75</a:t>
            </a:r>
          </a:p>
          <a:p>
            <a:pPr marL="0" indent="0">
              <a:buNone/>
            </a:pPr>
            <a:r>
              <a:rPr lang="en-US" b="1" dirty="0" err="1">
                <a:solidFill>
                  <a:schemeClr val="accent1"/>
                </a:solidFill>
              </a:rPr>
              <a:t>arrayB.mean</a:t>
            </a:r>
            <a:r>
              <a:rPr lang="en-US" b="1" dirty="0">
                <a:solidFill>
                  <a:schemeClr val="accent1"/>
                </a:solidFill>
              </a:rPr>
              <a:t>(axis=0)</a:t>
            </a:r>
          </a:p>
          <a:p>
            <a:pPr marL="0" indent="0">
              <a:buNone/>
            </a:pPr>
            <a:r>
              <a:rPr lang="en-US" dirty="0"/>
              <a:t>array([3.5, 4. ])</a:t>
            </a:r>
          </a:p>
          <a:p>
            <a:pPr marL="0" indent="0">
              <a:buNone/>
            </a:pPr>
            <a:r>
              <a:rPr lang="en-US" b="1" dirty="0" err="1">
                <a:solidFill>
                  <a:schemeClr val="accent1"/>
                </a:solidFill>
              </a:rPr>
              <a:t>arrayB.mean</a:t>
            </a:r>
            <a:r>
              <a:rPr lang="en-US" b="1" dirty="0">
                <a:solidFill>
                  <a:schemeClr val="accent1"/>
                </a:solidFill>
              </a:rPr>
              <a:t>(axis=1)</a:t>
            </a:r>
          </a:p>
          <a:p>
            <a:pPr marL="0" indent="0">
              <a:buNone/>
            </a:pPr>
            <a:r>
              <a:rPr lang="en-US" dirty="0"/>
              <a:t>array([4.5, 3. ])</a:t>
            </a:r>
          </a:p>
          <a:p>
            <a:endParaRPr lang="en-IN" dirty="0"/>
          </a:p>
        </p:txBody>
      </p:sp>
    </p:spTree>
    <p:extLst>
      <p:ext uri="{BB962C8B-B14F-4D97-AF65-F5344CB8AC3E}">
        <p14:creationId xmlns:p14="http://schemas.microsoft.com/office/powerpoint/2010/main" val="73039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A6F2-7E00-4466-C23B-840CF0DC11EC}"/>
              </a:ext>
            </a:extLst>
          </p:cNvPr>
          <p:cNvSpPr>
            <a:spLocks noGrp="1"/>
          </p:cNvSpPr>
          <p:nvPr>
            <p:ph type="title"/>
          </p:nvPr>
        </p:nvSpPr>
        <p:spPr/>
        <p:txBody>
          <a:bodyPr/>
          <a:lstStyle/>
          <a:p>
            <a:r>
              <a:rPr lang="en-IN" dirty="0"/>
              <a:t>STATISTICAL OPERATIONS ON ARRAYS</a:t>
            </a:r>
          </a:p>
        </p:txBody>
      </p:sp>
      <p:sp>
        <p:nvSpPr>
          <p:cNvPr id="3" name="Content Placeholder 2">
            <a:extLst>
              <a:ext uri="{FF2B5EF4-FFF2-40B4-BE49-F238E27FC236}">
                <a16:creationId xmlns:a16="http://schemas.microsoft.com/office/drawing/2014/main" id="{CDF436E0-4986-201A-2162-D6BA749E2BA9}"/>
              </a:ext>
            </a:extLst>
          </p:cNvPr>
          <p:cNvSpPr>
            <a:spLocks noGrp="1"/>
          </p:cNvSpPr>
          <p:nvPr>
            <p:ph idx="1"/>
          </p:nvPr>
        </p:nvSpPr>
        <p:spPr/>
        <p:txBody>
          <a:bodyPr/>
          <a:lstStyle/>
          <a:p>
            <a:pPr marL="0" indent="0">
              <a:buNone/>
            </a:pPr>
            <a:r>
              <a:rPr lang="en-US" b="1" dirty="0">
                <a:solidFill>
                  <a:schemeClr val="accent1"/>
                </a:solidFill>
              </a:rPr>
              <a:t>The std() function is used to find standard deviation of an array of elements.</a:t>
            </a:r>
          </a:p>
          <a:p>
            <a:pPr marL="0" indent="0">
              <a:buNone/>
            </a:pPr>
            <a:r>
              <a:rPr lang="en-US" b="1" dirty="0" err="1">
                <a:solidFill>
                  <a:schemeClr val="accent1"/>
                </a:solidFill>
              </a:rPr>
              <a:t>arrayA.std</a:t>
            </a:r>
            <a:r>
              <a:rPr lang="en-US" b="1" dirty="0">
                <a:solidFill>
                  <a:schemeClr val="accent1"/>
                </a:solidFill>
              </a:rPr>
              <a:t>()</a:t>
            </a:r>
          </a:p>
          <a:p>
            <a:pPr marL="0" indent="0">
              <a:buNone/>
            </a:pPr>
            <a:r>
              <a:rPr lang="en-US" dirty="0"/>
              <a:t>3.550968177835448</a:t>
            </a:r>
            <a:endParaRPr lang="en-IN" dirty="0"/>
          </a:p>
        </p:txBody>
      </p:sp>
    </p:spTree>
    <p:extLst>
      <p:ext uri="{BB962C8B-B14F-4D97-AF65-F5344CB8AC3E}">
        <p14:creationId xmlns:p14="http://schemas.microsoft.com/office/powerpoint/2010/main" val="1802043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2D4C-444C-AE02-ED21-1AA3A60F282E}"/>
              </a:ext>
            </a:extLst>
          </p:cNvPr>
          <p:cNvSpPr>
            <a:spLocks noGrp="1"/>
          </p:cNvSpPr>
          <p:nvPr>
            <p:ph type="title"/>
          </p:nvPr>
        </p:nvSpPr>
        <p:spPr/>
        <p:txBody>
          <a:bodyPr/>
          <a:lstStyle/>
          <a:p>
            <a:r>
              <a:rPr lang="en-US" dirty="0"/>
              <a:t>SAVING NUMPY ARRAYS IN FILES ON DISK</a:t>
            </a:r>
            <a:endParaRPr lang="en-IN" dirty="0"/>
          </a:p>
        </p:txBody>
      </p:sp>
      <p:sp>
        <p:nvSpPr>
          <p:cNvPr id="3" name="Content Placeholder 2">
            <a:extLst>
              <a:ext uri="{FF2B5EF4-FFF2-40B4-BE49-F238E27FC236}">
                <a16:creationId xmlns:a16="http://schemas.microsoft.com/office/drawing/2014/main" id="{04F74D0B-1E22-9B1C-B149-A6E90466EBA8}"/>
              </a:ext>
            </a:extLst>
          </p:cNvPr>
          <p:cNvSpPr>
            <a:spLocks noGrp="1"/>
          </p:cNvSpPr>
          <p:nvPr>
            <p:ph idx="1"/>
          </p:nvPr>
        </p:nvSpPr>
        <p:spPr/>
        <p:txBody>
          <a:bodyPr>
            <a:normAutofit/>
          </a:bodyPr>
          <a:lstStyle/>
          <a:p>
            <a:pPr marL="0" indent="0">
              <a:buNone/>
            </a:pPr>
            <a:r>
              <a:rPr lang="en-US" b="1" dirty="0">
                <a:solidFill>
                  <a:schemeClr val="accent1"/>
                </a:solidFill>
              </a:rPr>
              <a:t>The </a:t>
            </a:r>
            <a:r>
              <a:rPr lang="en-US" b="1" dirty="0" err="1">
                <a:solidFill>
                  <a:schemeClr val="accent1"/>
                </a:solidFill>
              </a:rPr>
              <a:t>savetxt</a:t>
            </a:r>
            <a:r>
              <a:rPr lang="en-US" b="1" dirty="0">
                <a:solidFill>
                  <a:schemeClr val="accent1"/>
                </a:solidFill>
              </a:rPr>
              <a:t>() function is used to save a NumPy array to a text file.</a:t>
            </a:r>
          </a:p>
          <a:p>
            <a:pPr marL="0" indent="0">
              <a:buNone/>
            </a:pPr>
            <a:r>
              <a:rPr lang="en-US" b="1" dirty="0"/>
              <a:t>syntax</a:t>
            </a:r>
          </a:p>
          <a:p>
            <a:pPr marL="0" indent="0">
              <a:buNone/>
            </a:pPr>
            <a:r>
              <a:rPr lang="en-US" b="1" dirty="0" err="1">
                <a:solidFill>
                  <a:schemeClr val="accent1"/>
                </a:solidFill>
              </a:rPr>
              <a:t>numpy.savetxt</a:t>
            </a:r>
            <a:r>
              <a:rPr lang="en-US" b="1" dirty="0">
                <a:solidFill>
                  <a:schemeClr val="accent1"/>
                </a:solidFill>
              </a:rPr>
              <a:t>(</a:t>
            </a:r>
            <a:r>
              <a:rPr lang="en-US" b="1" dirty="0" err="1">
                <a:solidFill>
                  <a:schemeClr val="accent1"/>
                </a:solidFill>
              </a:rPr>
              <a:t>fname</a:t>
            </a:r>
            <a:r>
              <a:rPr lang="en-US" b="1" dirty="0">
                <a:solidFill>
                  <a:schemeClr val="accent1"/>
                </a:solidFill>
              </a:rPr>
              <a:t>, X, </a:t>
            </a:r>
            <a:r>
              <a:rPr lang="en-US" b="1" dirty="0" err="1">
                <a:solidFill>
                  <a:schemeClr val="accent1"/>
                </a:solidFill>
              </a:rPr>
              <a:t>fmt</a:t>
            </a:r>
            <a:r>
              <a:rPr lang="en-US" b="1" dirty="0">
                <a:solidFill>
                  <a:schemeClr val="accent1"/>
                </a:solidFill>
              </a:rPr>
              <a:t>='%.18e', delimiter=' ', newline='\n', header='', footer='', comments='# ', encoding=None)[source]</a:t>
            </a:r>
          </a:p>
          <a:p>
            <a:pPr marL="0" indent="0">
              <a:buNone/>
            </a:pPr>
            <a:r>
              <a:rPr lang="en-US" b="1" dirty="0"/>
              <a:t>Example</a:t>
            </a:r>
          </a:p>
          <a:p>
            <a:pPr marL="0" indent="0">
              <a:buNone/>
            </a:pPr>
            <a:r>
              <a:rPr lang="en-US" b="1" dirty="0" err="1">
                <a:solidFill>
                  <a:schemeClr val="accent1"/>
                </a:solidFill>
              </a:rPr>
              <a:t>np.savetxt</a:t>
            </a:r>
            <a:r>
              <a:rPr lang="en-US" b="1" dirty="0">
                <a:solidFill>
                  <a:schemeClr val="accent1"/>
                </a:solidFill>
              </a:rPr>
              <a:t>(‘C:/</a:t>
            </a:r>
            <a:r>
              <a:rPr lang="en-US" b="1" dirty="0" err="1">
                <a:solidFill>
                  <a:schemeClr val="accent1"/>
                </a:solidFill>
              </a:rPr>
              <a:t>pssoftech</a:t>
            </a:r>
            <a:r>
              <a:rPr lang="en-US" b="1" dirty="0">
                <a:solidFill>
                  <a:schemeClr val="accent1"/>
                </a:solidFill>
              </a:rPr>
              <a:t>/testout.txt',</a:t>
            </a:r>
            <a:r>
              <a:rPr lang="en-US" b="1" dirty="0" err="1">
                <a:solidFill>
                  <a:schemeClr val="accent1"/>
                </a:solidFill>
              </a:rPr>
              <a:t>studentdata</a:t>
            </a:r>
            <a:r>
              <a:rPr lang="en-US" b="1" dirty="0">
                <a:solidFill>
                  <a:schemeClr val="accent1"/>
                </a:solidFill>
              </a:rPr>
              <a:t>, delimiter=',', </a:t>
            </a:r>
            <a:r>
              <a:rPr lang="en-US" b="1" dirty="0" err="1">
                <a:solidFill>
                  <a:schemeClr val="accent1"/>
                </a:solidFill>
              </a:rPr>
              <a:t>fmt</a:t>
            </a:r>
            <a:r>
              <a:rPr lang="en-US" b="1" dirty="0">
                <a:solidFill>
                  <a:schemeClr val="accent1"/>
                </a:solidFill>
              </a:rPr>
              <a:t>='%</a:t>
            </a:r>
            <a:r>
              <a:rPr lang="en-US" b="1" dirty="0" err="1">
                <a:solidFill>
                  <a:schemeClr val="accent1"/>
                </a:solidFill>
              </a:rPr>
              <a:t>i</a:t>
            </a:r>
            <a:r>
              <a:rPr lang="en-US" b="1" dirty="0">
                <a:solidFill>
                  <a:schemeClr val="accent1"/>
                </a:solidFill>
              </a:rPr>
              <a:t>')</a:t>
            </a:r>
          </a:p>
          <a:p>
            <a:pPr marL="0" indent="0">
              <a:buNone/>
            </a:pPr>
            <a:r>
              <a:rPr lang="en-US" dirty="0"/>
              <a:t>Note: We have used parameter </a:t>
            </a:r>
            <a:r>
              <a:rPr lang="en-US" dirty="0" err="1"/>
              <a:t>fmt</a:t>
            </a:r>
            <a:r>
              <a:rPr lang="en-US" dirty="0"/>
              <a:t> to specify the format in which data are to be saved. The default is float.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768417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0D03A-A16D-FC8C-68DD-5487022AB0C5}"/>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E661956E-24DE-C5E5-1421-48EA3C4535E3}"/>
              </a:ext>
            </a:extLst>
          </p:cNvPr>
          <p:cNvSpPr>
            <a:spLocks noGrp="1"/>
          </p:cNvSpPr>
          <p:nvPr>
            <p:ph idx="1"/>
          </p:nvPr>
        </p:nvSpPr>
        <p:spPr/>
        <p:txBody>
          <a:bodyPr>
            <a:normAutofit fontScale="85000" lnSpcReduction="20000"/>
          </a:bodyPr>
          <a:lstStyle/>
          <a:p>
            <a:pPr>
              <a:buFont typeface="Wingdings" panose="05000000000000000000" pitchFamily="2" charset="2"/>
              <a:buChar char="ü"/>
            </a:pPr>
            <a:r>
              <a:rPr lang="en-US" dirty="0"/>
              <a:t>Array is a data type that holds objects of same datatype (numeric, textual, etc.). </a:t>
            </a:r>
          </a:p>
          <a:p>
            <a:pPr>
              <a:buFont typeface="Wingdings" panose="05000000000000000000" pitchFamily="2" charset="2"/>
              <a:buChar char="ü"/>
            </a:pPr>
            <a:r>
              <a:rPr lang="en-US" dirty="0"/>
              <a:t>The elements of an array are stored contiguously in memory. </a:t>
            </a:r>
          </a:p>
          <a:p>
            <a:pPr>
              <a:buFont typeface="Wingdings" panose="05000000000000000000" pitchFamily="2" charset="2"/>
              <a:buChar char="ü"/>
            </a:pPr>
            <a:r>
              <a:rPr lang="en-US" dirty="0"/>
              <a:t>Each element of an array has an index or position value.</a:t>
            </a:r>
          </a:p>
          <a:p>
            <a:pPr>
              <a:buFont typeface="Wingdings" panose="05000000000000000000" pitchFamily="2" charset="2"/>
              <a:buChar char="ü"/>
            </a:pPr>
            <a:r>
              <a:rPr lang="en-US" dirty="0"/>
              <a:t>NumPy is a Python library for scientific computing which stores data in a powerful n-dimensional </a:t>
            </a:r>
            <a:r>
              <a:rPr lang="en-US" dirty="0" err="1"/>
              <a:t>ndarray</a:t>
            </a:r>
            <a:r>
              <a:rPr lang="en-US" dirty="0"/>
              <a:t> object for faster calculations.</a:t>
            </a:r>
          </a:p>
          <a:p>
            <a:pPr>
              <a:buFont typeface="Wingdings" panose="05000000000000000000" pitchFamily="2" charset="2"/>
              <a:buChar char="ü"/>
            </a:pPr>
            <a:r>
              <a:rPr lang="en-US" dirty="0"/>
              <a:t>Each element of an array is referenced by the array  name along with the index of that element.</a:t>
            </a:r>
          </a:p>
          <a:p>
            <a:pPr>
              <a:buFont typeface="Wingdings" panose="05000000000000000000" pitchFamily="2" charset="2"/>
              <a:buChar char="ü"/>
            </a:pPr>
            <a:r>
              <a:rPr lang="en-US" dirty="0" err="1"/>
              <a:t>numpy.array</a:t>
            </a:r>
            <a:r>
              <a:rPr lang="en-US" dirty="0"/>
              <a:t>() is a function that returns an object of type </a:t>
            </a:r>
            <a:r>
              <a:rPr lang="en-US" dirty="0" err="1"/>
              <a:t>numpy.ndarray</a:t>
            </a:r>
            <a:r>
              <a:rPr lang="en-US" dirty="0"/>
              <a:t>.</a:t>
            </a:r>
          </a:p>
          <a:p>
            <a:pPr>
              <a:buFont typeface="Wingdings" panose="05000000000000000000" pitchFamily="2" charset="2"/>
              <a:buChar char="ü"/>
            </a:pPr>
            <a:r>
              <a:rPr lang="en-US" dirty="0"/>
              <a:t>All arithmetic operations can be performed on arrays when shape of the two arrays is same.</a:t>
            </a:r>
          </a:p>
          <a:p>
            <a:pPr>
              <a:buFont typeface="Wingdings" panose="05000000000000000000" pitchFamily="2" charset="2"/>
              <a:buChar char="ü"/>
            </a:pPr>
            <a:r>
              <a:rPr lang="en-US" dirty="0"/>
              <a:t>NumPy arrays are not expandable or </a:t>
            </a:r>
            <a:r>
              <a:rPr lang="en-US" dirty="0" err="1"/>
              <a:t>extendable.Once</a:t>
            </a:r>
            <a:r>
              <a:rPr lang="en-US" dirty="0"/>
              <a:t> a </a:t>
            </a:r>
            <a:r>
              <a:rPr lang="en-US" dirty="0" err="1"/>
              <a:t>numpy</a:t>
            </a:r>
            <a:r>
              <a:rPr lang="en-US" dirty="0"/>
              <a:t> array is defined, the space it occupies in memory is fixed and cannot be changed.</a:t>
            </a:r>
            <a:endParaRPr lang="en-IN" dirty="0"/>
          </a:p>
        </p:txBody>
      </p:sp>
    </p:spTree>
    <p:extLst>
      <p:ext uri="{BB962C8B-B14F-4D97-AF65-F5344CB8AC3E}">
        <p14:creationId xmlns:p14="http://schemas.microsoft.com/office/powerpoint/2010/main" val="3548062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BCAE-FC86-7BC8-92BB-B256A01DCE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32E512-A322-16F4-06EE-B7EBAD1A70C6}"/>
              </a:ext>
            </a:extLst>
          </p:cNvPr>
          <p:cNvSpPr>
            <a:spLocks noGrp="1"/>
          </p:cNvSpPr>
          <p:nvPr>
            <p:ph idx="1"/>
          </p:nvPr>
        </p:nvSpPr>
        <p:spPr/>
        <p:txBody>
          <a:bodyPr/>
          <a:lstStyle/>
          <a:p>
            <a:r>
              <a:rPr lang="en-IN" dirty="0" err="1">
                <a:latin typeface="Consolas" panose="020B0609020204030204" pitchFamily="49" charset="0"/>
              </a:rPr>
              <a:t>l</a:t>
            </a:r>
            <a:r>
              <a:rPr lang="en-IN" b="0" dirty="0" err="1">
                <a:effectLst/>
                <a:latin typeface="Consolas" panose="020B0609020204030204" pitchFamily="49" charset="0"/>
              </a:rPr>
              <a:t>oadtxt</a:t>
            </a:r>
            <a:r>
              <a:rPr lang="en-IN" b="0" dirty="0">
                <a:effectLst/>
                <a:latin typeface="Consolas" panose="020B0609020204030204" pitchFamily="49" charset="0"/>
              </a:rPr>
              <a:t>()</a:t>
            </a:r>
          </a:p>
          <a:p>
            <a:pPr marL="0" indent="0">
              <a:buNone/>
            </a:pPr>
            <a:r>
              <a:rPr lang="en-IN" b="1" dirty="0">
                <a:effectLst/>
                <a:latin typeface="Consolas" panose="020B0609020204030204" pitchFamily="49" charset="0"/>
              </a:rPr>
              <a:t>Syntax</a:t>
            </a:r>
          </a:p>
          <a:p>
            <a:pPr marL="0" indent="0">
              <a:buNone/>
            </a:pPr>
            <a:r>
              <a:rPr lang="en-IN" b="0" dirty="0" err="1">
                <a:effectLst/>
                <a:latin typeface="Consolas" panose="020B0609020204030204" pitchFamily="49" charset="0"/>
              </a:rPr>
              <a:t>numpy.loadtxt</a:t>
            </a:r>
            <a:r>
              <a:rPr lang="en-IN" b="0" dirty="0">
                <a:effectLst/>
                <a:latin typeface="Consolas" panose="020B0609020204030204" pitchFamily="49" charset="0"/>
              </a:rPr>
              <a:t>(</a:t>
            </a:r>
            <a:r>
              <a:rPr lang="en-IN" b="0" dirty="0" err="1">
                <a:effectLst/>
                <a:latin typeface="Consolas" panose="020B0609020204030204" pitchFamily="49" charset="0"/>
              </a:rPr>
              <a:t>fname</a:t>
            </a:r>
            <a:r>
              <a:rPr lang="en-IN" b="0" dirty="0">
                <a:effectLst/>
                <a:latin typeface="Consolas" panose="020B0609020204030204" pitchFamily="49" charset="0"/>
              </a:rPr>
              <a:t>, </a:t>
            </a:r>
            <a:r>
              <a:rPr lang="en-IN" b="0" dirty="0" err="1">
                <a:effectLst/>
                <a:latin typeface="Consolas" panose="020B0609020204030204" pitchFamily="49" charset="0"/>
              </a:rPr>
              <a:t>dtype</a:t>
            </a:r>
            <a:r>
              <a:rPr lang="en-IN" b="0" dirty="0">
                <a:effectLst/>
                <a:latin typeface="Consolas" panose="020B0609020204030204" pitchFamily="49" charset="0"/>
              </a:rPr>
              <a:t>=&lt;class 'float'&gt;, comments='#', delimiter=None, converters=None, </a:t>
            </a:r>
            <a:r>
              <a:rPr lang="en-IN" b="0" dirty="0" err="1">
                <a:effectLst/>
                <a:latin typeface="Consolas" panose="020B0609020204030204" pitchFamily="49" charset="0"/>
              </a:rPr>
              <a:t>skiprows</a:t>
            </a:r>
            <a:r>
              <a:rPr lang="en-IN" b="0" dirty="0">
                <a:effectLst/>
                <a:latin typeface="Consolas" panose="020B0609020204030204" pitchFamily="49" charset="0"/>
              </a:rPr>
              <a:t>=0 )</a:t>
            </a:r>
          </a:p>
          <a:p>
            <a:pPr marL="0" indent="0">
              <a:buNone/>
            </a:pPr>
            <a:r>
              <a:rPr lang="en-IN" b="0" dirty="0">
                <a:effectLst/>
                <a:latin typeface="Consolas" panose="020B0609020204030204" pitchFamily="49" charset="0"/>
              </a:rPr>
              <a:t>Example:</a:t>
            </a:r>
          </a:p>
          <a:p>
            <a:pPr marL="0" indent="0">
              <a:buNone/>
            </a:pPr>
            <a:r>
              <a:rPr lang="en-IN" b="1" dirty="0">
                <a:solidFill>
                  <a:schemeClr val="accent1"/>
                </a:solidFill>
                <a:effectLst/>
                <a:latin typeface="Consolas" panose="020B0609020204030204" pitchFamily="49" charset="0"/>
              </a:rPr>
              <a:t>M2=</a:t>
            </a:r>
            <a:r>
              <a:rPr lang="en-IN" b="1" dirty="0" err="1">
                <a:solidFill>
                  <a:schemeClr val="accent1"/>
                </a:solidFill>
                <a:effectLst/>
                <a:latin typeface="Consolas" panose="020B0609020204030204" pitchFamily="49" charset="0"/>
              </a:rPr>
              <a:t>np.loadtxt</a:t>
            </a:r>
            <a:r>
              <a:rPr lang="en-IN" b="1" dirty="0">
                <a:solidFill>
                  <a:schemeClr val="accent1"/>
                </a:solidFill>
                <a:effectLst/>
                <a:latin typeface="Consolas" panose="020B0609020204030204" pitchFamily="49" charset="0"/>
              </a:rPr>
              <a:t>('f:/save.txt',</a:t>
            </a:r>
            <a:r>
              <a:rPr lang="en-IN" b="1" dirty="0" err="1">
                <a:solidFill>
                  <a:schemeClr val="accent1"/>
                </a:solidFill>
                <a:effectLst/>
                <a:latin typeface="Consolas" panose="020B0609020204030204" pitchFamily="49" charset="0"/>
              </a:rPr>
              <a:t>dtype</a:t>
            </a:r>
            <a:r>
              <a:rPr lang="en-IN" b="1" dirty="0">
                <a:solidFill>
                  <a:schemeClr val="accent1"/>
                </a:solidFill>
                <a:effectLst/>
                <a:latin typeface="Consolas" panose="020B0609020204030204" pitchFamily="49" charset="0"/>
              </a:rPr>
              <a:t>="</a:t>
            </a:r>
            <a:r>
              <a:rPr lang="en-IN" b="1" dirty="0" err="1">
                <a:solidFill>
                  <a:schemeClr val="accent1"/>
                </a:solidFill>
                <a:effectLst/>
                <a:latin typeface="Consolas" panose="020B0609020204030204" pitchFamily="49" charset="0"/>
              </a:rPr>
              <a:t>int",delimiter</a:t>
            </a:r>
            <a:r>
              <a:rPr lang="en-IN" b="1" dirty="0">
                <a:solidFill>
                  <a:schemeClr val="accent1"/>
                </a:solidFill>
                <a:effectLst/>
                <a:latin typeface="Consolas" panose="020B0609020204030204" pitchFamily="49" charset="0"/>
              </a:rPr>
              <a:t>=",")</a:t>
            </a:r>
          </a:p>
          <a:p>
            <a:pPr marL="0" indent="0">
              <a:buNone/>
            </a:pPr>
            <a:r>
              <a:rPr lang="en-IN" b="1" dirty="0">
                <a:solidFill>
                  <a:schemeClr val="accent1"/>
                </a:solidFill>
                <a:effectLst/>
                <a:latin typeface="Consolas" panose="020B0609020204030204" pitchFamily="49" charset="0"/>
              </a:rPr>
              <a:t>print(M2)</a:t>
            </a:r>
          </a:p>
          <a:p>
            <a:pPr marL="0" indent="0">
              <a:buNone/>
            </a:pPr>
            <a:endParaRPr lang="en-IN" dirty="0"/>
          </a:p>
        </p:txBody>
      </p:sp>
    </p:spTree>
    <p:extLst>
      <p:ext uri="{BB962C8B-B14F-4D97-AF65-F5344CB8AC3E}">
        <p14:creationId xmlns:p14="http://schemas.microsoft.com/office/powerpoint/2010/main" val="1097480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951A-EFE1-8893-B312-2B47AE15512A}"/>
              </a:ext>
            </a:extLst>
          </p:cNvPr>
          <p:cNvSpPr>
            <a:spLocks noGrp="1"/>
          </p:cNvSpPr>
          <p:nvPr>
            <p:ph type="title"/>
          </p:nvPr>
        </p:nvSpPr>
        <p:spPr/>
        <p:txBody>
          <a:bodyPr>
            <a:normAutofit fontScale="90000"/>
          </a:bodyPr>
          <a:lstStyle/>
          <a:p>
            <a:br>
              <a:rPr lang="en-IN" b="1" i="0" dirty="0">
                <a:solidFill>
                  <a:srgbClr val="333333"/>
                </a:solidFill>
                <a:effectLst/>
                <a:latin typeface="Lato" panose="020F0502020204030203" pitchFamily="34" charset="0"/>
              </a:rPr>
            </a:br>
            <a:r>
              <a:rPr lang="en-IN" b="1" i="0" dirty="0">
                <a:solidFill>
                  <a:srgbClr val="333333"/>
                </a:solidFill>
                <a:effectLst/>
                <a:latin typeface="Lato" panose="020F0502020204030203" pitchFamily="34" charset="0"/>
              </a:rPr>
              <a:t>Calculating the mean</a:t>
            </a:r>
            <a:br>
              <a:rPr lang="en-IN" b="1" i="0" dirty="0">
                <a:solidFill>
                  <a:srgbClr val="333333"/>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4C7C3169-4C3B-108A-2454-C4B3FAE5D262}"/>
              </a:ext>
            </a:extLst>
          </p:cNvPr>
          <p:cNvSpPr>
            <a:spLocks noGrp="1"/>
          </p:cNvSpPr>
          <p:nvPr>
            <p:ph idx="1"/>
          </p:nvPr>
        </p:nvSpPr>
        <p:spPr/>
        <p:txBody>
          <a:bodyPr>
            <a:normAutofit lnSpcReduction="10000"/>
          </a:bodyPr>
          <a:lstStyle/>
          <a:p>
            <a:r>
              <a:rPr lang="en-US" b="0" i="0" dirty="0">
                <a:solidFill>
                  <a:srgbClr val="333333"/>
                </a:solidFill>
                <a:effectLst/>
                <a:latin typeface="Noto Sans" panose="020B0502040204020203" pitchFamily="34" charset="0"/>
              </a:rPr>
              <a:t>The mean can be calculated only for numeric variables, no matter if they are discrete or continuous. It’s obtained by simply dividing the sum of all values in a data set by the number of values. The calculation can be done from raw data or for data aggregated in a frequency table.</a:t>
            </a:r>
          </a:p>
          <a:p>
            <a:pPr algn="l"/>
            <a:r>
              <a:rPr lang="en-US" b="0" i="0" dirty="0">
                <a:solidFill>
                  <a:srgbClr val="335075"/>
                </a:solidFill>
                <a:effectLst/>
                <a:latin typeface="Noto Sans" panose="020B0502040504020204" pitchFamily="34" charset="0"/>
              </a:rPr>
              <a:t>Mount Rival hosts a soccer tournament each year. This season, in 10 games, the lead scorer for the home team scored 7, 5, 0, 7, 8, 5, 5, 4, 1 and 5 goals. What is the mean score of this player?</a:t>
            </a:r>
          </a:p>
          <a:p>
            <a:pPr algn="l"/>
            <a:r>
              <a:rPr lang="en-US" b="0" i="0" dirty="0">
                <a:solidFill>
                  <a:srgbClr val="335075"/>
                </a:solidFill>
                <a:effectLst/>
                <a:latin typeface="Noto Sans" panose="020B0502040504020204" pitchFamily="34" charset="0"/>
              </a:rPr>
              <a:t>The sum of all values is 47 and there are 10 values. Therefore, the mean is 47 ÷ 10 = 4.7 goals per game.</a:t>
            </a:r>
          </a:p>
          <a:p>
            <a:endParaRPr lang="en-IN" dirty="0"/>
          </a:p>
        </p:txBody>
      </p:sp>
    </p:spTree>
    <p:extLst>
      <p:ext uri="{BB962C8B-B14F-4D97-AF65-F5344CB8AC3E}">
        <p14:creationId xmlns:p14="http://schemas.microsoft.com/office/powerpoint/2010/main" val="1408813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3A356-F3B2-815F-5975-737AE93E97EB}"/>
              </a:ext>
            </a:extLst>
          </p:cNvPr>
          <p:cNvSpPr>
            <a:spLocks noGrp="1"/>
          </p:cNvSpPr>
          <p:nvPr>
            <p:ph type="title"/>
          </p:nvPr>
        </p:nvSpPr>
        <p:spPr/>
        <p:txBody>
          <a:bodyPr>
            <a:normAutofit fontScale="90000"/>
          </a:bodyPr>
          <a:lstStyle/>
          <a:p>
            <a:br>
              <a:rPr lang="en-IN" b="1" i="0" dirty="0">
                <a:solidFill>
                  <a:srgbClr val="333333"/>
                </a:solidFill>
                <a:effectLst/>
                <a:latin typeface="Lato" panose="020F0502020204030203" pitchFamily="34" charset="0"/>
              </a:rPr>
            </a:br>
            <a:r>
              <a:rPr lang="en-IN" b="1" i="0" dirty="0">
                <a:solidFill>
                  <a:srgbClr val="333333"/>
                </a:solidFill>
                <a:effectLst/>
                <a:latin typeface="Lato" panose="020F0502020204030203" pitchFamily="34" charset="0"/>
              </a:rPr>
              <a:t>Calculating the median</a:t>
            </a:r>
            <a:br>
              <a:rPr lang="en-IN" b="1" i="0" dirty="0">
                <a:solidFill>
                  <a:srgbClr val="333333"/>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FCFA56BF-2851-F1F0-6BF1-1C17852C0DCD}"/>
              </a:ext>
            </a:extLst>
          </p:cNvPr>
          <p:cNvSpPr>
            <a:spLocks noGrp="1"/>
          </p:cNvSpPr>
          <p:nvPr>
            <p:ph idx="1"/>
          </p:nvPr>
        </p:nvSpPr>
        <p:spPr/>
        <p:txBody>
          <a:bodyPr/>
          <a:lstStyle/>
          <a:p>
            <a:pPr marL="0" indent="0">
              <a:buNone/>
            </a:pPr>
            <a:r>
              <a:rPr lang="en-US" b="0" i="0" dirty="0">
                <a:solidFill>
                  <a:srgbClr val="333333"/>
                </a:solidFill>
                <a:effectLst/>
                <a:latin typeface="Noto Sans" panose="020B0502040504020204" pitchFamily="34" charset="0"/>
              </a:rPr>
              <a:t>The median is the value in the middle of a data set, meaning that 50% of data points have a value smaller or equal to the median and 50% of data points have a value higher or equal to the median. For a small data set, you first count the number of data points (n) and arrange the data points in increasing order. If the number of data points is uneven, you add 1 to the number of points and divide the results by 2 to get the rank of the data point whose value is the median. The rank is the position of the data point after the data set has been arranged in increasing order: the smallest value is rank 1, the second-smallest value is rank 2, etc.</a:t>
            </a:r>
            <a:endParaRPr lang="en-IN" dirty="0"/>
          </a:p>
        </p:txBody>
      </p:sp>
    </p:spTree>
    <p:extLst>
      <p:ext uri="{BB962C8B-B14F-4D97-AF65-F5344CB8AC3E}">
        <p14:creationId xmlns:p14="http://schemas.microsoft.com/office/powerpoint/2010/main" val="2039290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AFC9-A30A-BE1B-B889-75E2F2831889}"/>
              </a:ext>
            </a:extLst>
          </p:cNvPr>
          <p:cNvSpPr>
            <a:spLocks noGrp="1"/>
          </p:cNvSpPr>
          <p:nvPr>
            <p:ph type="title"/>
          </p:nvPr>
        </p:nvSpPr>
        <p:spPr/>
        <p:txBody>
          <a:bodyPr/>
          <a:lstStyle/>
          <a:p>
            <a:r>
              <a:rPr lang="en-US" dirty="0"/>
              <a:t>Median time in 200 meters of a top running athlete</a:t>
            </a:r>
            <a:endParaRPr lang="en-IN" dirty="0"/>
          </a:p>
        </p:txBody>
      </p:sp>
      <p:sp>
        <p:nvSpPr>
          <p:cNvPr id="3" name="Content Placeholder 2">
            <a:extLst>
              <a:ext uri="{FF2B5EF4-FFF2-40B4-BE49-F238E27FC236}">
                <a16:creationId xmlns:a16="http://schemas.microsoft.com/office/drawing/2014/main" id="{9C6C54FA-4865-DAF1-5D02-E895E39DB793}"/>
              </a:ext>
            </a:extLst>
          </p:cNvPr>
          <p:cNvSpPr>
            <a:spLocks noGrp="1"/>
          </p:cNvSpPr>
          <p:nvPr>
            <p:ph idx="1"/>
          </p:nvPr>
        </p:nvSpPr>
        <p:spPr>
          <a:xfrm>
            <a:off x="838200" y="1825624"/>
            <a:ext cx="10515600" cy="4906869"/>
          </a:xfrm>
        </p:spPr>
        <p:txBody>
          <a:bodyPr/>
          <a:lstStyle/>
          <a:p>
            <a:pPr algn="l"/>
            <a:r>
              <a:rPr lang="en-US" sz="2000" b="0" i="0" dirty="0">
                <a:solidFill>
                  <a:srgbClr val="335075"/>
                </a:solidFill>
                <a:effectLst/>
                <a:latin typeface="Noto Sans" panose="020B0502040504020204" pitchFamily="34" charset="0"/>
              </a:rPr>
              <a:t>Imagine that a top running athlete in a typical 200-metre training session runs in the following times: 26.1 seconds, 25.6 seconds, 25.7 seconds, 25.2 seconds, 25.0 seconds, 27.8 seconds and 24.1 seconds. How would you calculate his median time?</a:t>
            </a:r>
          </a:p>
          <a:p>
            <a:pPr algn="l"/>
            <a:r>
              <a:rPr lang="en-US" sz="2000" b="0" i="0" dirty="0">
                <a:solidFill>
                  <a:srgbClr val="335075"/>
                </a:solidFill>
                <a:effectLst/>
                <a:latin typeface="Noto Sans" panose="020B0502040504020204" pitchFamily="34" charset="0"/>
              </a:rPr>
              <a:t>Let’s start with arranging the values in increasing order:</a:t>
            </a:r>
          </a:p>
          <a:p>
            <a:r>
              <a:rPr lang="en-US" sz="2000" b="1" i="0" dirty="0">
                <a:solidFill>
                  <a:srgbClr val="333333"/>
                </a:solidFill>
                <a:effectLst/>
                <a:latin typeface="Noto Sans" panose="020B0502040504020204" pitchFamily="34" charset="0"/>
              </a:rPr>
              <a:t>Rank associated with each value of 200-meter running times</a:t>
            </a:r>
          </a:p>
          <a:p>
            <a:endParaRPr lang="en-IN" dirty="0"/>
          </a:p>
        </p:txBody>
      </p:sp>
      <p:pic>
        <p:nvPicPr>
          <p:cNvPr id="5" name="Picture 4">
            <a:extLst>
              <a:ext uri="{FF2B5EF4-FFF2-40B4-BE49-F238E27FC236}">
                <a16:creationId xmlns:a16="http://schemas.microsoft.com/office/drawing/2014/main" id="{E7B23B51-92D1-64AC-71C4-64AFC879183C}"/>
              </a:ext>
            </a:extLst>
          </p:cNvPr>
          <p:cNvPicPr>
            <a:picLocks noChangeAspect="1"/>
          </p:cNvPicPr>
          <p:nvPr/>
        </p:nvPicPr>
        <p:blipFill>
          <a:blip r:embed="rId2"/>
          <a:stretch>
            <a:fillRect/>
          </a:stretch>
        </p:blipFill>
        <p:spPr>
          <a:xfrm>
            <a:off x="1201386" y="3907020"/>
            <a:ext cx="2060050" cy="2708933"/>
          </a:xfrm>
          <a:prstGeom prst="rect">
            <a:avLst/>
          </a:prstGeom>
        </p:spPr>
      </p:pic>
    </p:spTree>
    <p:extLst>
      <p:ext uri="{BB962C8B-B14F-4D97-AF65-F5344CB8AC3E}">
        <p14:creationId xmlns:p14="http://schemas.microsoft.com/office/powerpoint/2010/main" val="3813878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3A5B-ED6D-37E7-CB10-3A0AA661051A}"/>
              </a:ext>
            </a:extLst>
          </p:cNvPr>
          <p:cNvSpPr>
            <a:spLocks noGrp="1"/>
          </p:cNvSpPr>
          <p:nvPr>
            <p:ph type="title"/>
          </p:nvPr>
        </p:nvSpPr>
        <p:spPr/>
        <p:txBody>
          <a:bodyPr/>
          <a:lstStyle/>
          <a:p>
            <a:r>
              <a:rPr lang="en-US" dirty="0"/>
              <a:t>Median time in 200 meters of a top running athlete</a:t>
            </a:r>
            <a:endParaRPr lang="en-IN" dirty="0"/>
          </a:p>
        </p:txBody>
      </p:sp>
      <p:sp>
        <p:nvSpPr>
          <p:cNvPr id="3" name="Content Placeholder 2">
            <a:extLst>
              <a:ext uri="{FF2B5EF4-FFF2-40B4-BE49-F238E27FC236}">
                <a16:creationId xmlns:a16="http://schemas.microsoft.com/office/drawing/2014/main" id="{56CF2485-D4BD-B2B5-DF09-00B05BD9026A}"/>
              </a:ext>
            </a:extLst>
          </p:cNvPr>
          <p:cNvSpPr>
            <a:spLocks noGrp="1"/>
          </p:cNvSpPr>
          <p:nvPr>
            <p:ph idx="1"/>
          </p:nvPr>
        </p:nvSpPr>
        <p:spPr/>
        <p:txBody>
          <a:bodyPr/>
          <a:lstStyle/>
          <a:p>
            <a:pPr algn="l"/>
            <a:r>
              <a:rPr lang="en-US" b="0" i="0" dirty="0">
                <a:solidFill>
                  <a:srgbClr val="335075"/>
                </a:solidFill>
                <a:effectLst/>
                <a:latin typeface="Noto Sans" panose="020B0502040504020204" pitchFamily="34" charset="0"/>
              </a:rPr>
              <a:t>There are n = 7 data points, which is an uneven number. The median will be the value of the data points of rank</a:t>
            </a:r>
          </a:p>
          <a:p>
            <a:pPr algn="l"/>
            <a:r>
              <a:rPr lang="en-US" b="0" i="0" dirty="0">
                <a:solidFill>
                  <a:srgbClr val="335075"/>
                </a:solidFill>
                <a:effectLst/>
                <a:latin typeface="Noto Sans" panose="020B0502040504020204" pitchFamily="34" charset="0"/>
              </a:rPr>
              <a:t>(n + 1) ÷ 2 = (7 + 1)  ÷ 2 = 4.</a:t>
            </a:r>
          </a:p>
          <a:p>
            <a:pPr algn="l"/>
            <a:r>
              <a:rPr lang="en-US" b="0" i="0" dirty="0">
                <a:solidFill>
                  <a:srgbClr val="335075"/>
                </a:solidFill>
                <a:effectLst/>
                <a:latin typeface="Noto Sans" panose="020B0502040504020204" pitchFamily="34" charset="0"/>
              </a:rPr>
              <a:t>The median time is 25.6 seconds.</a:t>
            </a:r>
          </a:p>
          <a:p>
            <a:pPr marL="0" indent="0">
              <a:buNone/>
            </a:pPr>
            <a:endParaRPr lang="en-IN" dirty="0"/>
          </a:p>
        </p:txBody>
      </p:sp>
    </p:spTree>
    <p:extLst>
      <p:ext uri="{BB962C8B-B14F-4D97-AF65-F5344CB8AC3E}">
        <p14:creationId xmlns:p14="http://schemas.microsoft.com/office/powerpoint/2010/main" val="188114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A13B-90E5-2BA7-A257-79EC29D25B54}"/>
              </a:ext>
            </a:extLst>
          </p:cNvPr>
          <p:cNvSpPr>
            <a:spLocks noGrp="1"/>
          </p:cNvSpPr>
          <p:nvPr>
            <p:ph type="title"/>
          </p:nvPr>
        </p:nvSpPr>
        <p:spPr/>
        <p:txBody>
          <a:bodyPr/>
          <a:lstStyle/>
          <a:p>
            <a:r>
              <a:rPr lang="en-US" dirty="0"/>
              <a:t>Median time in 200 </a:t>
            </a:r>
            <a:r>
              <a:rPr lang="en-US" dirty="0" err="1"/>
              <a:t>metres</a:t>
            </a:r>
            <a:r>
              <a:rPr lang="en-US" dirty="0"/>
              <a:t> of a top running athlete (Part 2)</a:t>
            </a:r>
            <a:endParaRPr lang="en-IN" dirty="0"/>
          </a:p>
        </p:txBody>
      </p:sp>
      <p:sp>
        <p:nvSpPr>
          <p:cNvPr id="3" name="Content Placeholder 2">
            <a:extLst>
              <a:ext uri="{FF2B5EF4-FFF2-40B4-BE49-F238E27FC236}">
                <a16:creationId xmlns:a16="http://schemas.microsoft.com/office/drawing/2014/main" id="{3D4EE0BB-7959-EB06-9CBE-A3FCA5561E09}"/>
              </a:ext>
            </a:extLst>
          </p:cNvPr>
          <p:cNvSpPr>
            <a:spLocks noGrp="1"/>
          </p:cNvSpPr>
          <p:nvPr>
            <p:ph idx="1"/>
          </p:nvPr>
        </p:nvSpPr>
        <p:spPr/>
        <p:txBody>
          <a:bodyPr>
            <a:normAutofit/>
          </a:bodyPr>
          <a:lstStyle/>
          <a:p>
            <a:r>
              <a:rPr lang="en-US" sz="2000" b="0" i="0" dirty="0">
                <a:solidFill>
                  <a:srgbClr val="333333"/>
                </a:solidFill>
                <a:effectLst/>
                <a:latin typeface="Noto Sans" panose="020B0502040504020204" pitchFamily="34" charset="0"/>
              </a:rPr>
              <a:t>If the number of data points is even, the median will be the average of the data point of rank n ÷ 2 and the data point of rank (n ÷ 2) + 1.</a:t>
            </a:r>
          </a:p>
          <a:p>
            <a:r>
              <a:rPr lang="en-US" sz="2000" b="1" i="0" dirty="0">
                <a:solidFill>
                  <a:srgbClr val="333333"/>
                </a:solidFill>
                <a:effectLst/>
                <a:latin typeface="Noto Sans" panose="020B0502040504020204" pitchFamily="34" charset="0"/>
              </a:rPr>
              <a:t>Rank associated with each value of 200-meter running times, updated</a:t>
            </a:r>
          </a:p>
          <a:p>
            <a:endParaRPr lang="en-IN" sz="2000" dirty="0"/>
          </a:p>
        </p:txBody>
      </p:sp>
      <p:pic>
        <p:nvPicPr>
          <p:cNvPr id="5" name="Picture 4">
            <a:extLst>
              <a:ext uri="{FF2B5EF4-FFF2-40B4-BE49-F238E27FC236}">
                <a16:creationId xmlns:a16="http://schemas.microsoft.com/office/drawing/2014/main" id="{45388B5D-0882-6E15-5017-F32F4AEEC22F}"/>
              </a:ext>
            </a:extLst>
          </p:cNvPr>
          <p:cNvPicPr>
            <a:picLocks noChangeAspect="1"/>
          </p:cNvPicPr>
          <p:nvPr/>
        </p:nvPicPr>
        <p:blipFill>
          <a:blip r:embed="rId2"/>
          <a:stretch>
            <a:fillRect/>
          </a:stretch>
        </p:blipFill>
        <p:spPr>
          <a:xfrm>
            <a:off x="838200" y="2895600"/>
            <a:ext cx="3197324" cy="3881718"/>
          </a:xfrm>
          <a:prstGeom prst="rect">
            <a:avLst/>
          </a:prstGeom>
        </p:spPr>
      </p:pic>
    </p:spTree>
    <p:extLst>
      <p:ext uri="{BB962C8B-B14F-4D97-AF65-F5344CB8AC3E}">
        <p14:creationId xmlns:p14="http://schemas.microsoft.com/office/powerpoint/2010/main" val="454505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520B6-2201-1A35-6264-8705C5473837}"/>
              </a:ext>
            </a:extLst>
          </p:cNvPr>
          <p:cNvSpPr>
            <a:spLocks noGrp="1"/>
          </p:cNvSpPr>
          <p:nvPr>
            <p:ph type="title"/>
          </p:nvPr>
        </p:nvSpPr>
        <p:spPr/>
        <p:txBody>
          <a:bodyPr/>
          <a:lstStyle/>
          <a:p>
            <a:r>
              <a:rPr lang="en-US" dirty="0"/>
              <a:t>Median time in 200 </a:t>
            </a:r>
            <a:r>
              <a:rPr lang="en-US" dirty="0" err="1"/>
              <a:t>metres</a:t>
            </a:r>
            <a:r>
              <a:rPr lang="en-US" dirty="0"/>
              <a:t> of a top running athlete (Part 2)</a:t>
            </a:r>
            <a:endParaRPr lang="en-IN" dirty="0"/>
          </a:p>
        </p:txBody>
      </p:sp>
      <p:sp>
        <p:nvSpPr>
          <p:cNvPr id="3" name="Content Placeholder 2">
            <a:extLst>
              <a:ext uri="{FF2B5EF4-FFF2-40B4-BE49-F238E27FC236}">
                <a16:creationId xmlns:a16="http://schemas.microsoft.com/office/drawing/2014/main" id="{BECBA5D0-E123-5C2A-C3E0-8884D66AD688}"/>
              </a:ext>
            </a:extLst>
          </p:cNvPr>
          <p:cNvSpPr>
            <a:spLocks noGrp="1"/>
          </p:cNvSpPr>
          <p:nvPr>
            <p:ph idx="1"/>
          </p:nvPr>
        </p:nvSpPr>
        <p:spPr/>
        <p:txBody>
          <a:bodyPr/>
          <a:lstStyle/>
          <a:p>
            <a:pPr algn="l"/>
            <a:r>
              <a:rPr lang="en-US" b="0" i="0" dirty="0">
                <a:solidFill>
                  <a:srgbClr val="335075"/>
                </a:solidFill>
                <a:effectLst/>
                <a:latin typeface="Noto Sans" panose="020B0502040504020204" pitchFamily="34" charset="0"/>
              </a:rPr>
              <a:t>There are now n = 8 data points, an even number. The median is the mean between the data point of rank </a:t>
            </a:r>
          </a:p>
          <a:p>
            <a:pPr algn="l"/>
            <a:r>
              <a:rPr lang="en-US" b="0" i="0" dirty="0">
                <a:solidFill>
                  <a:srgbClr val="335075"/>
                </a:solidFill>
                <a:effectLst/>
                <a:latin typeface="Noto Sans" panose="020B0502040504020204" pitchFamily="34" charset="0"/>
              </a:rPr>
              <a:t>n ÷ 2 = 8 ÷ 2 = 4</a:t>
            </a:r>
          </a:p>
          <a:p>
            <a:pPr algn="l"/>
            <a:r>
              <a:rPr lang="en-US" b="0" i="0" dirty="0">
                <a:solidFill>
                  <a:srgbClr val="335075"/>
                </a:solidFill>
                <a:effectLst/>
                <a:latin typeface="Noto Sans" panose="020B0502040504020204" pitchFamily="34" charset="0"/>
              </a:rPr>
              <a:t>and the data point of rank</a:t>
            </a:r>
          </a:p>
          <a:p>
            <a:pPr algn="l"/>
            <a:r>
              <a:rPr lang="en-US" b="0" i="0" dirty="0">
                <a:solidFill>
                  <a:srgbClr val="335075"/>
                </a:solidFill>
                <a:effectLst/>
                <a:latin typeface="Noto Sans" panose="020B0502040504020204" pitchFamily="34" charset="0"/>
              </a:rPr>
              <a:t>(n ÷ 2) + 1 = (8 ÷ 2) +1 = 5</a:t>
            </a:r>
          </a:p>
          <a:p>
            <a:pPr algn="l"/>
            <a:r>
              <a:rPr lang="en-US" b="0" i="0" dirty="0">
                <a:solidFill>
                  <a:srgbClr val="335075"/>
                </a:solidFill>
                <a:effectLst/>
                <a:latin typeface="Noto Sans" panose="020B0502040504020204" pitchFamily="34" charset="0"/>
              </a:rPr>
              <a:t>Therefore, the median time is (25.2 + 25.6) ÷ 2 = 25.4 seconds.</a:t>
            </a:r>
          </a:p>
          <a:p>
            <a:endParaRPr lang="en-IN" dirty="0"/>
          </a:p>
        </p:txBody>
      </p:sp>
    </p:spTree>
    <p:extLst>
      <p:ext uri="{BB962C8B-B14F-4D97-AF65-F5344CB8AC3E}">
        <p14:creationId xmlns:p14="http://schemas.microsoft.com/office/powerpoint/2010/main" val="194463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5F28-F7EF-25E1-92AE-A5CBE7D7DCD5}"/>
              </a:ext>
            </a:extLst>
          </p:cNvPr>
          <p:cNvSpPr>
            <a:spLocks noGrp="1"/>
          </p:cNvSpPr>
          <p:nvPr>
            <p:ph type="title"/>
          </p:nvPr>
        </p:nvSpPr>
        <p:spPr/>
        <p:txBody>
          <a:bodyPr/>
          <a:lstStyle/>
          <a:p>
            <a:r>
              <a:rPr lang="en-IN" dirty="0"/>
              <a:t>Relative frequency &amp; Cumulative frequency</a:t>
            </a:r>
          </a:p>
        </p:txBody>
      </p:sp>
      <p:sp>
        <p:nvSpPr>
          <p:cNvPr id="3" name="Content Placeholder 2">
            <a:extLst>
              <a:ext uri="{FF2B5EF4-FFF2-40B4-BE49-F238E27FC236}">
                <a16:creationId xmlns:a16="http://schemas.microsoft.com/office/drawing/2014/main" id="{D28B8B86-7F9A-4716-1520-E10BB5F33205}"/>
              </a:ext>
            </a:extLst>
          </p:cNvPr>
          <p:cNvSpPr>
            <a:spLocks noGrp="1"/>
          </p:cNvSpPr>
          <p:nvPr>
            <p:ph idx="1"/>
          </p:nvPr>
        </p:nvSpPr>
        <p:spPr/>
        <p:txBody>
          <a:bodyPr/>
          <a:lstStyle/>
          <a:p>
            <a:r>
              <a:rPr lang="en-US" b="0" i="0" dirty="0">
                <a:solidFill>
                  <a:srgbClr val="333333"/>
                </a:solidFill>
                <a:effectLst/>
                <a:latin typeface="Noto Sans" panose="020B0502040504020204" pitchFamily="34" charset="0"/>
              </a:rPr>
              <a:t>For larger data sets, the cumulative relative frequency distribution can be helpful to identify the median. </a:t>
            </a:r>
          </a:p>
          <a:p>
            <a:r>
              <a:rPr lang="en-US" b="0" i="0" dirty="0">
                <a:solidFill>
                  <a:srgbClr val="333333"/>
                </a:solidFill>
                <a:effectLst/>
                <a:latin typeface="Noto Sans" panose="020B0502040504020204" pitchFamily="34" charset="0"/>
              </a:rPr>
              <a:t>The median is the smallest value for which the cumulative relative frequency is at least 50%. </a:t>
            </a:r>
          </a:p>
          <a:p>
            <a:r>
              <a:rPr lang="en-US" b="0" i="0" dirty="0">
                <a:solidFill>
                  <a:srgbClr val="333333"/>
                </a:solidFill>
                <a:effectLst/>
                <a:latin typeface="Noto Sans" panose="020B0502040504020204" pitchFamily="34" charset="0"/>
              </a:rPr>
              <a:t>However, when possible it’s best to use the basic statistical function available in a spreadsheet or statistical software application because the results will then be more reliable.</a:t>
            </a:r>
            <a:endParaRPr lang="en-IN" dirty="0"/>
          </a:p>
        </p:txBody>
      </p:sp>
    </p:spTree>
    <p:extLst>
      <p:ext uri="{BB962C8B-B14F-4D97-AF65-F5344CB8AC3E}">
        <p14:creationId xmlns:p14="http://schemas.microsoft.com/office/powerpoint/2010/main" val="284659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7153-915D-03CF-F35F-4F2D29879CDE}"/>
              </a:ext>
            </a:extLst>
          </p:cNvPr>
          <p:cNvSpPr>
            <a:spLocks noGrp="1"/>
          </p:cNvSpPr>
          <p:nvPr>
            <p:ph type="title"/>
          </p:nvPr>
        </p:nvSpPr>
        <p:spPr/>
        <p:txBody>
          <a:bodyPr/>
          <a:lstStyle/>
          <a:p>
            <a:r>
              <a:rPr lang="en-IN" dirty="0"/>
              <a:t>Relative frequency &amp; Cumulative frequency</a:t>
            </a:r>
          </a:p>
        </p:txBody>
      </p:sp>
      <p:sp>
        <p:nvSpPr>
          <p:cNvPr id="3" name="Content Placeholder 2">
            <a:extLst>
              <a:ext uri="{FF2B5EF4-FFF2-40B4-BE49-F238E27FC236}">
                <a16:creationId xmlns:a16="http://schemas.microsoft.com/office/drawing/2014/main" id="{57EFFA7D-A797-1D1E-A87E-292DE1DF1BD2}"/>
              </a:ext>
            </a:extLst>
          </p:cNvPr>
          <p:cNvSpPr>
            <a:spLocks noGrp="1"/>
          </p:cNvSpPr>
          <p:nvPr>
            <p:ph idx="1"/>
          </p:nvPr>
        </p:nvSpPr>
        <p:spPr/>
        <p:txBody>
          <a:bodyPr>
            <a:normAutofit/>
          </a:bodyPr>
          <a:lstStyle/>
          <a:p>
            <a:r>
              <a:rPr lang="en-IN" sz="2000" dirty="0"/>
              <a:t>Relative frequency</a:t>
            </a:r>
          </a:p>
          <a:p>
            <a:pPr marL="0" indent="0">
              <a:buNone/>
            </a:pPr>
            <a:r>
              <a:rPr lang="en-US" sz="2000" b="0" i="0" dirty="0">
                <a:solidFill>
                  <a:srgbClr val="1F1F1F"/>
                </a:solidFill>
                <a:effectLst/>
              </a:rPr>
              <a:t>Relative Frequency is the frequency of an observation with respect to the total number of observations. The relative frequency of an object is calculated by using the formula </a:t>
            </a:r>
            <a:r>
              <a:rPr lang="en-US" sz="2000" b="0" i="0" dirty="0">
                <a:solidFill>
                  <a:srgbClr val="040C28"/>
                </a:solidFill>
                <a:effectLst/>
              </a:rPr>
              <a:t>Relative frequency = f/n where f is the frequency of an observation and n is the total frequency of the observation of the data set</a:t>
            </a:r>
            <a:r>
              <a:rPr lang="en-US" sz="2000" b="0" i="0" dirty="0">
                <a:solidFill>
                  <a:srgbClr val="1F1F1F"/>
                </a:solidFill>
                <a:effectLst/>
              </a:rPr>
              <a:t>.</a:t>
            </a:r>
          </a:p>
          <a:p>
            <a:r>
              <a:rPr lang="en-IN" sz="2000" dirty="0"/>
              <a:t>Cumulative frequency</a:t>
            </a:r>
            <a:endParaRPr lang="en-IN" sz="2000" b="0" i="0" dirty="0">
              <a:solidFill>
                <a:srgbClr val="1F1F1F"/>
              </a:solidFill>
              <a:effectLst/>
            </a:endParaRPr>
          </a:p>
          <a:p>
            <a:pPr marL="0" indent="0">
              <a:buNone/>
            </a:pPr>
            <a:r>
              <a:rPr lang="en-US" sz="2000" b="0" i="0" dirty="0">
                <a:solidFill>
                  <a:srgbClr val="1F1F1F"/>
                </a:solidFill>
                <a:effectLst/>
              </a:rPr>
              <a:t>The cumulative frequency is calculated by </a:t>
            </a:r>
            <a:r>
              <a:rPr lang="en-US" sz="2000" b="0" i="0" dirty="0">
                <a:solidFill>
                  <a:srgbClr val="040C28"/>
                </a:solidFill>
                <a:effectLst/>
              </a:rPr>
              <a:t>adding each frequency from a frequency distribution table to the sum of its predecessors</a:t>
            </a:r>
            <a:r>
              <a:rPr lang="en-US" sz="2000" b="0" i="0" dirty="0">
                <a:solidFill>
                  <a:srgbClr val="1F1F1F"/>
                </a:solidFill>
                <a:effectLst/>
              </a:rPr>
              <a:t>. The last value will always be equal to the total for all observations, since all frequencies will already have been added to the previous total.</a:t>
            </a:r>
          </a:p>
          <a:p>
            <a:r>
              <a:rPr lang="en-IN" sz="2000" dirty="0"/>
              <a:t>Cumulative frequency</a:t>
            </a:r>
            <a:endParaRPr lang="en-IN" sz="2000" b="0" i="0" dirty="0">
              <a:solidFill>
                <a:srgbClr val="1F1F1F"/>
              </a:solidFill>
              <a:effectLst/>
            </a:endParaRPr>
          </a:p>
          <a:p>
            <a:pPr marL="0" indent="0">
              <a:buNone/>
            </a:pPr>
            <a:r>
              <a:rPr lang="en-US" sz="2000" b="0" i="0" dirty="0">
                <a:solidFill>
                  <a:srgbClr val="1F1F1F"/>
                </a:solidFill>
                <a:effectLst/>
              </a:rPr>
              <a:t>This method is defined as the percentage of observations falling in each class interval. Relative cumulative frequency can be found by </a:t>
            </a:r>
            <a:r>
              <a:rPr lang="en-US" sz="2000" b="0" i="0" dirty="0">
                <a:solidFill>
                  <a:srgbClr val="040C28"/>
                </a:solidFill>
                <a:effectLst/>
              </a:rPr>
              <a:t>dividing the frequency of each interval by the total number of observations</a:t>
            </a:r>
            <a:r>
              <a:rPr lang="en-US" sz="2000" b="0" i="0" dirty="0">
                <a:solidFill>
                  <a:srgbClr val="1F1F1F"/>
                </a:solidFill>
                <a:effectLst/>
              </a:rPr>
              <a:t>.</a:t>
            </a:r>
          </a:p>
          <a:p>
            <a:pPr marL="0" indent="0">
              <a:buNone/>
            </a:pPr>
            <a:endParaRPr lang="en-IN" sz="2000" dirty="0"/>
          </a:p>
        </p:txBody>
      </p:sp>
    </p:spTree>
    <p:extLst>
      <p:ext uri="{BB962C8B-B14F-4D97-AF65-F5344CB8AC3E}">
        <p14:creationId xmlns:p14="http://schemas.microsoft.com/office/powerpoint/2010/main" val="648921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20D7-C33D-CEB3-6065-EE661D7A85E7}"/>
              </a:ext>
            </a:extLst>
          </p:cNvPr>
          <p:cNvSpPr>
            <a:spLocks noGrp="1"/>
          </p:cNvSpPr>
          <p:nvPr>
            <p:ph type="title"/>
          </p:nvPr>
        </p:nvSpPr>
        <p:spPr/>
        <p:txBody>
          <a:bodyPr/>
          <a:lstStyle/>
          <a:p>
            <a:r>
              <a:rPr lang="en-IN" dirty="0"/>
              <a:t>Relative frequency &amp; Cumulative frequency</a:t>
            </a:r>
          </a:p>
        </p:txBody>
      </p:sp>
      <p:sp>
        <p:nvSpPr>
          <p:cNvPr id="3" name="Content Placeholder 2">
            <a:extLst>
              <a:ext uri="{FF2B5EF4-FFF2-40B4-BE49-F238E27FC236}">
                <a16:creationId xmlns:a16="http://schemas.microsoft.com/office/drawing/2014/main" id="{F606BA2B-E407-4DC1-65ED-028F763AE907}"/>
              </a:ext>
            </a:extLst>
          </p:cNvPr>
          <p:cNvSpPr>
            <a:spLocks noGrp="1"/>
          </p:cNvSpPr>
          <p:nvPr>
            <p:ph idx="1"/>
          </p:nvPr>
        </p:nvSpPr>
        <p:spPr/>
        <p:txBody>
          <a:bodyPr/>
          <a:lstStyle/>
          <a:p>
            <a:r>
              <a:rPr lang="en-IN" sz="2000" b="1" dirty="0"/>
              <a:t>Example</a:t>
            </a:r>
          </a:p>
          <a:p>
            <a:r>
              <a:rPr lang="en-US" sz="2000" b="0" i="0" dirty="0">
                <a:solidFill>
                  <a:srgbClr val="335075"/>
                </a:solidFill>
                <a:effectLst/>
              </a:rPr>
              <a:t>Imagine you ask the 30 students of your class how many people there are in their households. You summarize the data you collected in a frequency table, in which you include the relative frequencies and the cumulative relative frequencies.</a:t>
            </a:r>
            <a:br>
              <a:rPr lang="en-US" sz="2000" b="0" i="0" dirty="0">
                <a:solidFill>
                  <a:srgbClr val="335075"/>
                </a:solidFill>
                <a:effectLst/>
              </a:rPr>
            </a:br>
            <a:endParaRPr lang="en-IN" sz="2000" dirty="0"/>
          </a:p>
        </p:txBody>
      </p:sp>
      <p:pic>
        <p:nvPicPr>
          <p:cNvPr id="5" name="Picture 4">
            <a:extLst>
              <a:ext uri="{FF2B5EF4-FFF2-40B4-BE49-F238E27FC236}">
                <a16:creationId xmlns:a16="http://schemas.microsoft.com/office/drawing/2014/main" id="{B54B3D7F-8A10-EECE-179E-3DCF5E3C5405}"/>
              </a:ext>
            </a:extLst>
          </p:cNvPr>
          <p:cNvPicPr>
            <a:picLocks noChangeAspect="1"/>
          </p:cNvPicPr>
          <p:nvPr/>
        </p:nvPicPr>
        <p:blipFill>
          <a:blip r:embed="rId2"/>
          <a:stretch>
            <a:fillRect/>
          </a:stretch>
        </p:blipFill>
        <p:spPr>
          <a:xfrm>
            <a:off x="1960775" y="3242820"/>
            <a:ext cx="7880807" cy="3400883"/>
          </a:xfrm>
          <a:prstGeom prst="rect">
            <a:avLst/>
          </a:prstGeom>
        </p:spPr>
      </p:pic>
    </p:spTree>
    <p:extLst>
      <p:ext uri="{BB962C8B-B14F-4D97-AF65-F5344CB8AC3E}">
        <p14:creationId xmlns:p14="http://schemas.microsoft.com/office/powerpoint/2010/main" val="3812889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FB90-6150-FC03-0972-731D0D47B578}"/>
              </a:ext>
            </a:extLst>
          </p:cNvPr>
          <p:cNvSpPr>
            <a:spLocks noGrp="1"/>
          </p:cNvSpPr>
          <p:nvPr>
            <p:ph type="title"/>
          </p:nvPr>
        </p:nvSpPr>
        <p:spPr/>
        <p:txBody>
          <a:bodyPr/>
          <a:lstStyle/>
          <a:p>
            <a:r>
              <a:rPr lang="en-IN" dirty="0"/>
              <a:t>Relative frequency &amp; Cumulative frequency</a:t>
            </a:r>
          </a:p>
        </p:txBody>
      </p:sp>
      <p:pic>
        <p:nvPicPr>
          <p:cNvPr id="5" name="Content Placeholder 4">
            <a:extLst>
              <a:ext uri="{FF2B5EF4-FFF2-40B4-BE49-F238E27FC236}">
                <a16:creationId xmlns:a16="http://schemas.microsoft.com/office/drawing/2014/main" id="{89546451-9219-5F79-72AF-F2D21E8545A1}"/>
              </a:ext>
            </a:extLst>
          </p:cNvPr>
          <p:cNvPicPr>
            <a:picLocks noGrp="1" noChangeAspect="1"/>
          </p:cNvPicPr>
          <p:nvPr>
            <p:ph idx="1"/>
          </p:nvPr>
        </p:nvPicPr>
        <p:blipFill>
          <a:blip r:embed="rId2"/>
          <a:stretch>
            <a:fillRect/>
          </a:stretch>
        </p:blipFill>
        <p:spPr>
          <a:xfrm>
            <a:off x="2187019" y="1621749"/>
            <a:ext cx="7483046" cy="4555214"/>
          </a:xfrm>
        </p:spPr>
      </p:pic>
    </p:spTree>
    <p:extLst>
      <p:ext uri="{BB962C8B-B14F-4D97-AF65-F5344CB8AC3E}">
        <p14:creationId xmlns:p14="http://schemas.microsoft.com/office/powerpoint/2010/main" val="1962038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0C61-B20E-037E-A73A-EB63DDC77B7D}"/>
              </a:ext>
            </a:extLst>
          </p:cNvPr>
          <p:cNvSpPr>
            <a:spLocks noGrp="1"/>
          </p:cNvSpPr>
          <p:nvPr>
            <p:ph type="title"/>
          </p:nvPr>
        </p:nvSpPr>
        <p:spPr/>
        <p:txBody>
          <a:bodyPr/>
          <a:lstStyle/>
          <a:p>
            <a:r>
              <a:rPr lang="en-IN" dirty="0"/>
              <a:t>Relative frequency &amp; Cumulative frequency</a:t>
            </a:r>
          </a:p>
        </p:txBody>
      </p:sp>
      <p:sp>
        <p:nvSpPr>
          <p:cNvPr id="3" name="Content Placeholder 2">
            <a:extLst>
              <a:ext uri="{FF2B5EF4-FFF2-40B4-BE49-F238E27FC236}">
                <a16:creationId xmlns:a16="http://schemas.microsoft.com/office/drawing/2014/main" id="{CF2FD7E9-2399-AB57-7CCB-D0FD1AFABA1A}"/>
              </a:ext>
            </a:extLst>
          </p:cNvPr>
          <p:cNvSpPr>
            <a:spLocks noGrp="1"/>
          </p:cNvSpPr>
          <p:nvPr>
            <p:ph idx="1"/>
          </p:nvPr>
        </p:nvSpPr>
        <p:spPr>
          <a:xfrm>
            <a:off x="838200" y="1690688"/>
            <a:ext cx="10515600" cy="4802187"/>
          </a:xfrm>
        </p:spPr>
        <p:txBody>
          <a:bodyPr>
            <a:normAutofit/>
          </a:bodyPr>
          <a:lstStyle/>
          <a:p>
            <a:r>
              <a:rPr lang="en-US" sz="2200" b="0" i="0" dirty="0">
                <a:solidFill>
                  <a:srgbClr val="335075"/>
                </a:solidFill>
                <a:effectLst/>
              </a:rPr>
              <a:t>You can see that 10% of students (3 students) live in a household of size 2, 23% of students (7 students) live in a household of size 3 or less and 57% of students (17 students) live in a household of size 4 or less. The median will be equal to 4 because it’s the smallest value for which the cumulative relative frequency is higher than 50%. This is even more obvious if you visualize the cumulative relative frequency on a bar chart like on chart 4.4.2.1. The dotted line indicates the cumulative relative frequency of 50%.</a:t>
            </a:r>
          </a:p>
          <a:p>
            <a:pPr algn="l"/>
            <a:r>
              <a:rPr lang="en-US" sz="2200" b="0" i="0" dirty="0">
                <a:solidFill>
                  <a:srgbClr val="335075"/>
                </a:solidFill>
                <a:effectLst/>
              </a:rPr>
              <a:t>The mean is the total number of people in the households of the students:</a:t>
            </a:r>
          </a:p>
          <a:p>
            <a:pPr marL="0" indent="0" algn="l">
              <a:buNone/>
            </a:pPr>
            <a:r>
              <a:rPr lang="en-US" sz="2200" b="0" i="0" dirty="0">
                <a:solidFill>
                  <a:srgbClr val="335075"/>
                </a:solidFill>
                <a:effectLst/>
              </a:rPr>
              <a:t>   2 × 3 + 3 × 4 + 4 × 10 + 5 × 4 + 6 × 2 + 7 × 3 + 8 × 1 + 9 × 2 + 10 × 1 = 147</a:t>
            </a:r>
          </a:p>
          <a:p>
            <a:pPr marL="0" indent="0" algn="l">
              <a:buNone/>
            </a:pPr>
            <a:r>
              <a:rPr lang="en-US" sz="2200" b="0" i="0" dirty="0">
                <a:solidFill>
                  <a:srgbClr val="335075"/>
                </a:solidFill>
                <a:effectLst/>
              </a:rPr>
              <a:t>  divided by the number of students, which is 30.</a:t>
            </a:r>
          </a:p>
          <a:p>
            <a:pPr marL="0" indent="0" algn="l">
              <a:buNone/>
            </a:pPr>
            <a:r>
              <a:rPr lang="en-US" sz="2200" dirty="0">
                <a:solidFill>
                  <a:srgbClr val="335075"/>
                </a:solidFill>
              </a:rPr>
              <a:t> </a:t>
            </a:r>
            <a:r>
              <a:rPr lang="en-US" sz="2200" b="0" i="0" dirty="0">
                <a:solidFill>
                  <a:srgbClr val="335075"/>
                </a:solidFill>
                <a:effectLst/>
              </a:rPr>
              <a:t> The result is 147 ÷ 30 =     4.9 people per household.</a:t>
            </a:r>
          </a:p>
          <a:p>
            <a:pPr marL="0" indent="0" algn="l">
              <a:buNone/>
            </a:pPr>
            <a:r>
              <a:rPr lang="en-US" sz="2200" b="0" i="0" dirty="0">
                <a:solidFill>
                  <a:srgbClr val="335075"/>
                </a:solidFill>
                <a:effectLst/>
              </a:rPr>
              <a:t>  In this example, the median (4) is lower than the mean (4.9).</a:t>
            </a:r>
          </a:p>
          <a:p>
            <a:endParaRPr lang="en-IN" dirty="0"/>
          </a:p>
        </p:txBody>
      </p:sp>
    </p:spTree>
    <p:extLst>
      <p:ext uri="{BB962C8B-B14F-4D97-AF65-F5344CB8AC3E}">
        <p14:creationId xmlns:p14="http://schemas.microsoft.com/office/powerpoint/2010/main" val="1983971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F0F8-3CC3-189F-3526-6574AFE6AC21}"/>
              </a:ext>
            </a:extLst>
          </p:cNvPr>
          <p:cNvSpPr>
            <a:spLocks noGrp="1"/>
          </p:cNvSpPr>
          <p:nvPr>
            <p:ph type="title"/>
          </p:nvPr>
        </p:nvSpPr>
        <p:spPr/>
        <p:txBody>
          <a:bodyPr/>
          <a:lstStyle/>
          <a:p>
            <a:r>
              <a:rPr lang="en-IN" b="1" i="0" dirty="0">
                <a:solidFill>
                  <a:srgbClr val="333333"/>
                </a:solidFill>
                <a:effectLst/>
                <a:latin typeface="Lato" panose="020F0502020204030203" pitchFamily="34" charset="0"/>
              </a:rPr>
              <a:t>Calculating the mode</a:t>
            </a:r>
            <a:endParaRPr lang="en-IN" dirty="0"/>
          </a:p>
        </p:txBody>
      </p:sp>
      <p:sp>
        <p:nvSpPr>
          <p:cNvPr id="3" name="Content Placeholder 2">
            <a:extLst>
              <a:ext uri="{FF2B5EF4-FFF2-40B4-BE49-F238E27FC236}">
                <a16:creationId xmlns:a16="http://schemas.microsoft.com/office/drawing/2014/main" id="{88E8AD5B-929F-05B1-E70A-08F95293C1DC}"/>
              </a:ext>
            </a:extLst>
          </p:cNvPr>
          <p:cNvSpPr>
            <a:spLocks noGrp="1"/>
          </p:cNvSpPr>
          <p:nvPr>
            <p:ph idx="1"/>
          </p:nvPr>
        </p:nvSpPr>
        <p:spPr/>
        <p:txBody>
          <a:bodyPr>
            <a:normAutofit/>
          </a:bodyPr>
          <a:lstStyle/>
          <a:p>
            <a:r>
              <a:rPr lang="en-US" sz="2000" b="0" i="0" dirty="0">
                <a:solidFill>
                  <a:srgbClr val="273239"/>
                </a:solidFill>
                <a:effectLst/>
              </a:rPr>
              <a:t>Mode is a statistical concept used to describe the most frequently occurring value in a given set of data. It is a measure of central tendency that is commonly used in data analysis, alongside mean and median. Unlike mean and median, which calculate the average and middle value of a dataset respectively, mode simply identifies the value that appears most frequently. </a:t>
            </a:r>
          </a:p>
          <a:p>
            <a:r>
              <a:rPr lang="en-US" sz="2000" b="0" i="0" dirty="0">
                <a:solidFill>
                  <a:srgbClr val="333333"/>
                </a:solidFill>
                <a:effectLst/>
              </a:rPr>
              <a:t>The mode can be used to summarize categorical variables, while the mean and median can be calculated only for numeric variables. This is the main advantage of the mode as a measure of central tendency. It’s also useful for discrete variables and for continuous variables when they are expressed as intervals.</a:t>
            </a:r>
          </a:p>
          <a:p>
            <a:r>
              <a:rPr lang="en-US" sz="2000" b="1" i="0" dirty="0">
                <a:solidFill>
                  <a:srgbClr val="273239"/>
                </a:solidFill>
                <a:effectLst/>
                <a:latin typeface="Nunito" pitchFamily="2" charset="0"/>
              </a:rPr>
              <a:t>Types of Mode in Statistics</a:t>
            </a:r>
          </a:p>
          <a:p>
            <a:pPr marL="457200" lvl="1" indent="0" algn="just" fontAlgn="base">
              <a:buNone/>
            </a:pPr>
            <a:r>
              <a:rPr lang="en-IN" sz="2000" b="0" i="0" dirty="0">
                <a:solidFill>
                  <a:srgbClr val="273239"/>
                </a:solidFill>
                <a:effectLst/>
              </a:rPr>
              <a:t>Unimodal</a:t>
            </a:r>
          </a:p>
          <a:p>
            <a:pPr marL="457200" lvl="1" indent="0" algn="just" fontAlgn="base">
              <a:buNone/>
            </a:pPr>
            <a:r>
              <a:rPr lang="en-IN" sz="2000" b="0" i="0" dirty="0">
                <a:solidFill>
                  <a:srgbClr val="273239"/>
                </a:solidFill>
                <a:effectLst/>
              </a:rPr>
              <a:t>Bimodal</a:t>
            </a:r>
          </a:p>
          <a:p>
            <a:pPr marL="457200" lvl="1" indent="0" algn="just" fontAlgn="base">
              <a:buNone/>
            </a:pPr>
            <a:r>
              <a:rPr lang="en-IN" sz="2000" b="0" i="0" dirty="0">
                <a:solidFill>
                  <a:srgbClr val="273239"/>
                </a:solidFill>
                <a:effectLst/>
              </a:rPr>
              <a:t>Trimodal</a:t>
            </a:r>
          </a:p>
          <a:p>
            <a:pPr marL="457200" lvl="1" indent="0" algn="just" fontAlgn="base">
              <a:buNone/>
            </a:pPr>
            <a:r>
              <a:rPr lang="en-IN" sz="2000" b="0" i="0" dirty="0">
                <a:solidFill>
                  <a:srgbClr val="273239"/>
                </a:solidFill>
                <a:effectLst/>
              </a:rPr>
              <a:t>Multimodal</a:t>
            </a:r>
          </a:p>
          <a:p>
            <a:pPr marL="0" indent="0">
              <a:buNone/>
            </a:pPr>
            <a:endParaRPr lang="en-IN" sz="2000" dirty="0"/>
          </a:p>
        </p:txBody>
      </p:sp>
    </p:spTree>
    <p:extLst>
      <p:ext uri="{BB962C8B-B14F-4D97-AF65-F5344CB8AC3E}">
        <p14:creationId xmlns:p14="http://schemas.microsoft.com/office/powerpoint/2010/main" val="4063943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F9147-CA3C-B47C-08AD-404EE91DCCA1}"/>
              </a:ext>
            </a:extLst>
          </p:cNvPr>
          <p:cNvSpPr>
            <a:spLocks noGrp="1"/>
          </p:cNvSpPr>
          <p:nvPr>
            <p:ph type="title"/>
          </p:nvPr>
        </p:nvSpPr>
        <p:spPr/>
        <p:txBody>
          <a:bodyPr/>
          <a:lstStyle/>
          <a:p>
            <a:r>
              <a:rPr lang="en-IN" b="1" i="0" dirty="0">
                <a:solidFill>
                  <a:srgbClr val="333333"/>
                </a:solidFill>
                <a:effectLst/>
                <a:latin typeface="Lato" panose="020F0502020204030203" pitchFamily="34" charset="0"/>
              </a:rPr>
              <a:t>Calculating the mode</a:t>
            </a:r>
            <a:endParaRPr lang="en-IN" dirty="0"/>
          </a:p>
        </p:txBody>
      </p:sp>
      <p:sp>
        <p:nvSpPr>
          <p:cNvPr id="3" name="Content Placeholder 2">
            <a:extLst>
              <a:ext uri="{FF2B5EF4-FFF2-40B4-BE49-F238E27FC236}">
                <a16:creationId xmlns:a16="http://schemas.microsoft.com/office/drawing/2014/main" id="{C31C01FD-1100-C166-85C3-6944D80455FE}"/>
              </a:ext>
            </a:extLst>
          </p:cNvPr>
          <p:cNvSpPr>
            <a:spLocks noGrp="1"/>
          </p:cNvSpPr>
          <p:nvPr>
            <p:ph idx="1"/>
          </p:nvPr>
        </p:nvSpPr>
        <p:spPr/>
        <p:txBody>
          <a:bodyPr>
            <a:noAutofit/>
          </a:bodyPr>
          <a:lstStyle/>
          <a:p>
            <a:r>
              <a:rPr lang="en-US" sz="1200" b="1" dirty="0"/>
              <a:t>Unimodal</a:t>
            </a:r>
          </a:p>
          <a:p>
            <a:pPr marL="0" indent="0">
              <a:buNone/>
            </a:pPr>
            <a:r>
              <a:rPr lang="en-US" sz="1200" dirty="0"/>
              <a:t>When there is only one and only one mode of any dataset, then that dataset is called a unimodal dataset.</a:t>
            </a:r>
          </a:p>
          <a:p>
            <a:pPr marL="0" indent="0">
              <a:buNone/>
            </a:pPr>
            <a:r>
              <a:rPr lang="en-US" sz="1200" dirty="0"/>
              <a:t>For example, In set X = {1, 2, 2, 3, 6, 7, 7, 7, 8, 9}, only 7 appears thrice. Thus, there is only one mode of the dataset X.</a:t>
            </a:r>
          </a:p>
          <a:p>
            <a:pPr marL="0" indent="0">
              <a:buNone/>
            </a:pPr>
            <a:endParaRPr lang="en-US" sz="1200" dirty="0"/>
          </a:p>
          <a:p>
            <a:r>
              <a:rPr lang="en-US" sz="1200" b="1" dirty="0"/>
              <a:t>Bimodal</a:t>
            </a:r>
          </a:p>
          <a:p>
            <a:pPr marL="0" indent="0">
              <a:buNone/>
            </a:pPr>
            <a:r>
              <a:rPr lang="en-US" sz="1200" dirty="0"/>
              <a:t>When there exist two modes in the given data set, then it is called a bimodal.</a:t>
            </a:r>
          </a:p>
          <a:p>
            <a:pPr marL="0" indent="0">
              <a:buNone/>
            </a:pPr>
            <a:r>
              <a:rPr lang="en-US" sz="1200" dirty="0"/>
              <a:t>For example, In Set A = {1,1,1,3,4,4,6,6,6} the mode is 1 and 6 because both 1 and 6 have the highest frequency in the given set.</a:t>
            </a:r>
          </a:p>
          <a:p>
            <a:pPr marL="0" indent="0">
              <a:buNone/>
            </a:pPr>
            <a:endParaRPr lang="en-US" sz="1200" dirty="0"/>
          </a:p>
          <a:p>
            <a:r>
              <a:rPr lang="en-US" sz="1200" b="1" dirty="0"/>
              <a:t>Trimodal</a:t>
            </a:r>
          </a:p>
          <a:p>
            <a:pPr marL="0" indent="0">
              <a:buNone/>
            </a:pPr>
            <a:r>
              <a:rPr lang="en-US" sz="1200" dirty="0"/>
              <a:t>When there exist three modes in the given data set, then it is called trimodal.</a:t>
            </a:r>
          </a:p>
          <a:p>
            <a:pPr marL="0" indent="0">
              <a:buNone/>
            </a:pPr>
            <a:r>
              <a:rPr lang="en-US" sz="1200" dirty="0"/>
              <a:t>For example, In Set A = {2, 2, 2, 3, 4, 4, 6, 6, 6, 7, 9, 9, 9} the mode is 2, 6, and 9 because 2, 6, and 9 have the highest frequency in the given set.</a:t>
            </a:r>
          </a:p>
          <a:p>
            <a:pPr marL="0" indent="0">
              <a:buNone/>
            </a:pPr>
            <a:endParaRPr lang="en-US" sz="1200" dirty="0"/>
          </a:p>
          <a:p>
            <a:r>
              <a:rPr lang="en-US" sz="1200" b="1" dirty="0"/>
              <a:t>Multimodal</a:t>
            </a:r>
          </a:p>
          <a:p>
            <a:pPr marL="0" indent="0">
              <a:buNone/>
            </a:pPr>
            <a:r>
              <a:rPr lang="en-US" sz="1200" dirty="0"/>
              <a:t>When there are four or more modes in the given data set, then it is called multimodal.</a:t>
            </a:r>
          </a:p>
          <a:p>
            <a:pPr marL="0" indent="0">
              <a:buNone/>
            </a:pPr>
            <a:r>
              <a:rPr lang="en-US" sz="1200" dirty="0"/>
              <a:t>For example, In Set A = {1, 1, 1, 3, 4, 4, 6, 6, 6, 7, 9, 9, 9, 11, 11, 11} 1, 6, 9, and 11 are the mode because 1, 6, 9, and 11 have the highest frequency in the given set.</a:t>
            </a:r>
            <a:endParaRPr lang="en-IN" sz="1200" dirty="0"/>
          </a:p>
        </p:txBody>
      </p:sp>
    </p:spTree>
    <p:extLst>
      <p:ext uri="{BB962C8B-B14F-4D97-AF65-F5344CB8AC3E}">
        <p14:creationId xmlns:p14="http://schemas.microsoft.com/office/powerpoint/2010/main" val="7148475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D98F-2504-B474-1D0A-5D57797722AC}"/>
              </a:ext>
            </a:extLst>
          </p:cNvPr>
          <p:cNvSpPr>
            <a:spLocks noGrp="1"/>
          </p:cNvSpPr>
          <p:nvPr>
            <p:ph type="title"/>
          </p:nvPr>
        </p:nvSpPr>
        <p:spPr/>
        <p:txBody>
          <a:bodyPr/>
          <a:lstStyle/>
          <a:p>
            <a:r>
              <a:rPr lang="en-IN" b="1" i="0" dirty="0">
                <a:solidFill>
                  <a:srgbClr val="333333"/>
                </a:solidFill>
                <a:effectLst/>
                <a:latin typeface="Lato" panose="020F0502020204030203" pitchFamily="34" charset="0"/>
              </a:rPr>
              <a:t>Calculating the mode</a:t>
            </a:r>
            <a:endParaRPr lang="en-IN" dirty="0"/>
          </a:p>
        </p:txBody>
      </p:sp>
      <p:sp>
        <p:nvSpPr>
          <p:cNvPr id="3" name="Content Placeholder 2">
            <a:extLst>
              <a:ext uri="{FF2B5EF4-FFF2-40B4-BE49-F238E27FC236}">
                <a16:creationId xmlns:a16="http://schemas.microsoft.com/office/drawing/2014/main" id="{E89928D5-1B88-821A-BDFD-EADB115BA928}"/>
              </a:ext>
            </a:extLst>
          </p:cNvPr>
          <p:cNvSpPr>
            <a:spLocks noGrp="1"/>
          </p:cNvSpPr>
          <p:nvPr>
            <p:ph idx="1"/>
          </p:nvPr>
        </p:nvSpPr>
        <p:spPr/>
        <p:txBody>
          <a:bodyPr>
            <a:normAutofit/>
          </a:bodyPr>
          <a:lstStyle/>
          <a:p>
            <a:r>
              <a:rPr lang="en-US" sz="2000" b="0" i="0" dirty="0">
                <a:solidFill>
                  <a:srgbClr val="335075"/>
                </a:solidFill>
                <a:effectLst/>
              </a:rPr>
              <a:t>During a hockey tournament, Audrey scored 7, 5, 0, 7, 8, 5, 5, 4, 1 and 5 points in 10 games. After summarizing the data in a frequency table, you can easily see that the mode is 5 because this value appears the most often in the data set (4 times). The mode can be considered a measure of central tendency for this data set because it’s unique.</a:t>
            </a:r>
          </a:p>
          <a:p>
            <a:endParaRPr lang="en-IN" sz="2000" dirty="0"/>
          </a:p>
        </p:txBody>
      </p:sp>
      <p:pic>
        <p:nvPicPr>
          <p:cNvPr id="5" name="Picture 4">
            <a:extLst>
              <a:ext uri="{FF2B5EF4-FFF2-40B4-BE49-F238E27FC236}">
                <a16:creationId xmlns:a16="http://schemas.microsoft.com/office/drawing/2014/main" id="{2E70907F-9008-8CB7-C239-7405771B1533}"/>
              </a:ext>
            </a:extLst>
          </p:cNvPr>
          <p:cNvPicPr>
            <a:picLocks noChangeAspect="1"/>
          </p:cNvPicPr>
          <p:nvPr/>
        </p:nvPicPr>
        <p:blipFill>
          <a:blip r:embed="rId2"/>
          <a:stretch>
            <a:fillRect/>
          </a:stretch>
        </p:blipFill>
        <p:spPr>
          <a:xfrm>
            <a:off x="3462604" y="3142593"/>
            <a:ext cx="5464013" cy="3276884"/>
          </a:xfrm>
          <a:prstGeom prst="rect">
            <a:avLst/>
          </a:prstGeom>
        </p:spPr>
      </p:pic>
    </p:spTree>
    <p:extLst>
      <p:ext uri="{BB962C8B-B14F-4D97-AF65-F5344CB8AC3E}">
        <p14:creationId xmlns:p14="http://schemas.microsoft.com/office/powerpoint/2010/main" val="24161051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59A93-F2E3-3834-AE34-C7C80863499A}"/>
              </a:ext>
            </a:extLst>
          </p:cNvPr>
          <p:cNvSpPr>
            <a:spLocks noGrp="1"/>
          </p:cNvSpPr>
          <p:nvPr>
            <p:ph type="title"/>
          </p:nvPr>
        </p:nvSpPr>
        <p:spPr/>
        <p:txBody>
          <a:bodyPr/>
          <a:lstStyle/>
          <a:p>
            <a:r>
              <a:rPr lang="en-IN" b="1" i="0" dirty="0">
                <a:solidFill>
                  <a:srgbClr val="333333"/>
                </a:solidFill>
                <a:effectLst/>
                <a:latin typeface="Lato" panose="020F0502020204030203" pitchFamily="34" charset="0"/>
              </a:rPr>
              <a:t>Calculating the mode</a:t>
            </a:r>
            <a:endParaRPr lang="en-IN" dirty="0"/>
          </a:p>
        </p:txBody>
      </p:sp>
      <p:sp>
        <p:nvSpPr>
          <p:cNvPr id="3" name="Content Placeholder 2">
            <a:extLst>
              <a:ext uri="{FF2B5EF4-FFF2-40B4-BE49-F238E27FC236}">
                <a16:creationId xmlns:a16="http://schemas.microsoft.com/office/drawing/2014/main" id="{3F53C18E-EB5D-08CE-A6D7-A60D038C6266}"/>
              </a:ext>
            </a:extLst>
          </p:cNvPr>
          <p:cNvSpPr>
            <a:spLocks noGrp="1"/>
          </p:cNvSpPr>
          <p:nvPr>
            <p:ph idx="1"/>
          </p:nvPr>
        </p:nvSpPr>
        <p:spPr/>
        <p:txBody>
          <a:bodyPr>
            <a:normAutofit/>
          </a:bodyPr>
          <a:lstStyle/>
          <a:p>
            <a:r>
              <a:rPr lang="en-US" sz="2000" b="0" i="0" dirty="0">
                <a:solidFill>
                  <a:srgbClr val="335075"/>
                </a:solidFill>
                <a:effectLst/>
              </a:rPr>
              <a:t>During Marco’s 12-game basketball season, he scored 14, 14, 15, 16, 14, 16, 16, 18, 14, 16, 16 and 14 points. After summarizing the data in a frequency table, you can see that there are two modes in this data set: 14 and 16. Both values appear 5 times in the data set and 5 is the highest frequency observed. The mode can’t be used a measure of central tendency because there is more than one mode. It’s a bimodal distribution.</a:t>
            </a:r>
          </a:p>
          <a:p>
            <a:endParaRPr lang="en-IN" sz="2000" dirty="0"/>
          </a:p>
        </p:txBody>
      </p:sp>
      <p:pic>
        <p:nvPicPr>
          <p:cNvPr id="5" name="Picture 4">
            <a:extLst>
              <a:ext uri="{FF2B5EF4-FFF2-40B4-BE49-F238E27FC236}">
                <a16:creationId xmlns:a16="http://schemas.microsoft.com/office/drawing/2014/main" id="{25801AE9-C0A6-1176-D50D-EC994C3D2CE0}"/>
              </a:ext>
            </a:extLst>
          </p:cNvPr>
          <p:cNvPicPr>
            <a:picLocks noChangeAspect="1"/>
          </p:cNvPicPr>
          <p:nvPr/>
        </p:nvPicPr>
        <p:blipFill>
          <a:blip r:embed="rId2"/>
          <a:stretch>
            <a:fillRect/>
          </a:stretch>
        </p:blipFill>
        <p:spPr>
          <a:xfrm>
            <a:off x="3432344" y="3639283"/>
            <a:ext cx="5578323" cy="2537680"/>
          </a:xfrm>
          <a:prstGeom prst="rect">
            <a:avLst/>
          </a:prstGeom>
        </p:spPr>
      </p:pic>
    </p:spTree>
    <p:extLst>
      <p:ext uri="{BB962C8B-B14F-4D97-AF65-F5344CB8AC3E}">
        <p14:creationId xmlns:p14="http://schemas.microsoft.com/office/powerpoint/2010/main" val="6834125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765A-1DE7-8AAA-F06E-43CC90BFA956}"/>
              </a:ext>
            </a:extLst>
          </p:cNvPr>
          <p:cNvSpPr>
            <a:spLocks noGrp="1"/>
          </p:cNvSpPr>
          <p:nvPr>
            <p:ph type="title"/>
          </p:nvPr>
        </p:nvSpPr>
        <p:spPr/>
        <p:txBody>
          <a:bodyPr/>
          <a:lstStyle/>
          <a:p>
            <a:r>
              <a:rPr lang="en-IN" dirty="0"/>
              <a:t>Mean Vs Median Vs Mode</a:t>
            </a:r>
          </a:p>
        </p:txBody>
      </p:sp>
      <p:pic>
        <p:nvPicPr>
          <p:cNvPr id="5" name="Content Placeholder 4">
            <a:extLst>
              <a:ext uri="{FF2B5EF4-FFF2-40B4-BE49-F238E27FC236}">
                <a16:creationId xmlns:a16="http://schemas.microsoft.com/office/drawing/2014/main" id="{A1F306E3-DEE9-A6A0-E556-87D8CDD0C703}"/>
              </a:ext>
            </a:extLst>
          </p:cNvPr>
          <p:cNvPicPr>
            <a:picLocks noGrp="1" noChangeAspect="1"/>
          </p:cNvPicPr>
          <p:nvPr>
            <p:ph idx="1"/>
          </p:nvPr>
        </p:nvPicPr>
        <p:blipFill>
          <a:blip r:embed="rId2"/>
          <a:stretch>
            <a:fillRect/>
          </a:stretch>
        </p:blipFill>
        <p:spPr>
          <a:xfrm>
            <a:off x="1219200" y="1555217"/>
            <a:ext cx="9905999" cy="4863511"/>
          </a:xfrm>
        </p:spPr>
      </p:pic>
    </p:spTree>
    <p:extLst>
      <p:ext uri="{BB962C8B-B14F-4D97-AF65-F5344CB8AC3E}">
        <p14:creationId xmlns:p14="http://schemas.microsoft.com/office/powerpoint/2010/main" val="3262437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1807</TotalTime>
  <Words>4909</Words>
  <Application>Microsoft Office PowerPoint</Application>
  <PresentationFormat>Widescreen</PresentationFormat>
  <Paragraphs>410</Paragraphs>
  <Slides>50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Calibri</vt:lpstr>
      <vt:lpstr>Calibri Light</vt:lpstr>
      <vt:lpstr>Consolas</vt:lpstr>
      <vt:lpstr>Google Sans</vt:lpstr>
      <vt:lpstr>Lato</vt:lpstr>
      <vt:lpstr>Noto Sans</vt:lpstr>
      <vt:lpstr>Nunito</vt:lpstr>
      <vt:lpstr>Wingdings</vt:lpstr>
      <vt:lpstr>Office Theme</vt:lpstr>
      <vt:lpstr>Data Science</vt:lpstr>
      <vt:lpstr>Introduction NumPy</vt:lpstr>
      <vt:lpstr>PowerPoint Presentation</vt:lpstr>
      <vt:lpstr>Creation of NumPy Arrays from List</vt:lpstr>
      <vt:lpstr>Creation of NumPy Arrays from List</vt:lpstr>
      <vt:lpstr>Creation of NumPy Arrays from List</vt:lpstr>
      <vt:lpstr>Attributes of NumPy Array</vt:lpstr>
      <vt:lpstr>PowerPoint Presentation</vt:lpstr>
      <vt:lpstr>Other Ways of Creating NumPy Arrays</vt:lpstr>
      <vt:lpstr>Other Ways of Creating NumPy Arrays</vt:lpstr>
      <vt:lpstr>Other Ways of Creating NumPy Arrays</vt:lpstr>
      <vt:lpstr>INDEXING AND slicing </vt:lpstr>
      <vt:lpstr>Arithmetic Operations</vt:lpstr>
      <vt:lpstr>Arithmetic Operations</vt:lpstr>
      <vt:lpstr>Arithmetic Operations</vt:lpstr>
      <vt:lpstr>Arithmetic Operations</vt:lpstr>
      <vt:lpstr>Transpose</vt:lpstr>
      <vt:lpstr> Sorting</vt:lpstr>
      <vt:lpstr>Sorting 2D</vt:lpstr>
      <vt:lpstr>Sorting 2D</vt:lpstr>
      <vt:lpstr>CONCATENATING ARRAYS</vt:lpstr>
      <vt:lpstr>CONCATENATING ARRAYS</vt:lpstr>
      <vt:lpstr>CONCATENATING ARRAYS</vt:lpstr>
      <vt:lpstr>RESHAPING ARRAYS</vt:lpstr>
      <vt:lpstr>SPLITTING ARRAYS</vt:lpstr>
      <vt:lpstr>SPLITTING ARRAYS</vt:lpstr>
      <vt:lpstr>STATISTICAL OPERATIONS ON ARRAYS</vt:lpstr>
      <vt:lpstr>STATISTICAL OPERATIONS ON ARRAYS</vt:lpstr>
      <vt:lpstr>STATISTICAL OPERATIONS ON ARRAYS</vt:lpstr>
      <vt:lpstr>STATISTICAL OPERATIONS ON ARRAYS</vt:lpstr>
      <vt:lpstr>STATISTICAL OPERATIONS ON ARRAYS</vt:lpstr>
      <vt:lpstr>SAVING NUMPY ARRAYS IN FILES ON DISK</vt:lpstr>
      <vt:lpstr>SUMMARY</vt:lpstr>
      <vt:lpstr>PowerPoint Presentation</vt:lpstr>
      <vt:lpstr> Calculating the mean </vt:lpstr>
      <vt:lpstr> Calculating the median </vt:lpstr>
      <vt:lpstr>Median time in 200 meters of a top running athlete</vt:lpstr>
      <vt:lpstr>Median time in 200 meters of a top running athlete</vt:lpstr>
      <vt:lpstr>Median time in 200 metres of a top running athlete (Part 2)</vt:lpstr>
      <vt:lpstr>Median time in 200 metres of a top running athlete (Part 2)</vt:lpstr>
      <vt:lpstr>Relative frequency &amp; Cumulative frequency</vt:lpstr>
      <vt:lpstr>Relative frequency &amp; Cumulative frequency</vt:lpstr>
      <vt:lpstr>Relative frequency &amp; Cumulative frequency</vt:lpstr>
      <vt:lpstr>Relative frequency &amp; Cumulative frequency</vt:lpstr>
      <vt:lpstr>Relative frequency &amp; Cumulative frequency</vt:lpstr>
      <vt:lpstr>Calculating the mode</vt:lpstr>
      <vt:lpstr>Calculating the mode</vt:lpstr>
      <vt:lpstr>Calculating the mode</vt:lpstr>
      <vt:lpstr>Calculating the mode</vt:lpstr>
      <vt:lpstr>Mean Vs Median Vs 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Sandeep Sappal</dc:creator>
  <cp:lastModifiedBy>Sandeep Sappal</cp:lastModifiedBy>
  <cp:revision>12</cp:revision>
  <dcterms:created xsi:type="dcterms:W3CDTF">2024-01-02T10:32:01Z</dcterms:created>
  <dcterms:modified xsi:type="dcterms:W3CDTF">2024-01-09T07:38:29Z</dcterms:modified>
</cp:coreProperties>
</file>