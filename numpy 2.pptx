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EB2E-25D6-E7C1-ECBE-2DD8AD9C8D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3252A9-8C72-A939-D778-9AD8BA14B8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CAFFAC-A13B-153A-6F0E-6E2A18C391E5}"/>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5" name="Footer Placeholder 4">
            <a:extLst>
              <a:ext uri="{FF2B5EF4-FFF2-40B4-BE49-F238E27FC236}">
                <a16:creationId xmlns:a16="http://schemas.microsoft.com/office/drawing/2014/main" id="{B774DF2E-7C1A-19D2-9102-E81A7D93F7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EB7FE2-EC42-C7B5-5FF5-AB23A99F3485}"/>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185932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1877-F2F1-DB60-F0FD-9680A8F9C7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07A466-A3AF-8E56-1E9E-0963AA6767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2D9396-8888-D488-15AB-0F24F2075E5A}"/>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5" name="Footer Placeholder 4">
            <a:extLst>
              <a:ext uri="{FF2B5EF4-FFF2-40B4-BE49-F238E27FC236}">
                <a16:creationId xmlns:a16="http://schemas.microsoft.com/office/drawing/2014/main" id="{5A972541-FEAA-0FA4-D700-DE3E17D4B7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3D94F7-47A2-B533-87FB-E3B9622CE104}"/>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379934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F2123-E67D-D25F-2C6A-A50754F874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779F84-5CAA-C9F0-A176-7524EC5215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82C9BE-9AC5-2F1B-011C-ACA31BBCD38C}"/>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5" name="Footer Placeholder 4">
            <a:extLst>
              <a:ext uri="{FF2B5EF4-FFF2-40B4-BE49-F238E27FC236}">
                <a16:creationId xmlns:a16="http://schemas.microsoft.com/office/drawing/2014/main" id="{BB284BD8-E8B7-021B-E31C-0A3A1E5CA0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914DC5-9853-CBE7-2E61-77D58BB8E6DA}"/>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4056348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DCDC9-3348-BE45-B49B-391E3CC4A8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5FDDB5-2538-0E25-9BAC-9ED8DDBE08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869F0D-E027-890C-1698-CA01AAD629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444342-2607-BB67-6ECE-B49AD15678DC}"/>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6" name="Footer Placeholder 5">
            <a:extLst>
              <a:ext uri="{FF2B5EF4-FFF2-40B4-BE49-F238E27FC236}">
                <a16:creationId xmlns:a16="http://schemas.microsoft.com/office/drawing/2014/main" id="{368CBF0E-113E-A38B-80F0-5596F4C680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0FA8C7-5727-77DB-EBF0-AF82BD8A6729}"/>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314049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63FEF-82BB-8946-1D91-152367D3F8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5D739E-7349-230B-81F9-1E9FD6B013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BBC325-CAEA-E847-8D45-02C899F090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72BA54-86BA-2139-FA43-68A76D711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E1A38B-3C25-7352-C81E-85D075A281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9ED3428-32DB-1ADB-49DE-B230A678870E}"/>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8" name="Footer Placeholder 7">
            <a:extLst>
              <a:ext uri="{FF2B5EF4-FFF2-40B4-BE49-F238E27FC236}">
                <a16:creationId xmlns:a16="http://schemas.microsoft.com/office/drawing/2014/main" id="{EAD618B0-F6AC-9E49-5058-D5E769B74E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2D0573-A8B8-F5C4-CF96-68ED96BF2A52}"/>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2645689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4CF4-58AF-A8BA-537A-56A3644709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0C7A86-1CFD-74C7-F403-2B9711E8A210}"/>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4" name="Footer Placeholder 3">
            <a:extLst>
              <a:ext uri="{FF2B5EF4-FFF2-40B4-BE49-F238E27FC236}">
                <a16:creationId xmlns:a16="http://schemas.microsoft.com/office/drawing/2014/main" id="{371A1D45-A990-9E9B-A68A-891690DCCF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BFBD40-3831-9008-26F9-511C4387DE4B}"/>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76125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AAEC86-3DB8-A9F0-25D8-F94E56DBFAF3}"/>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3" name="Footer Placeholder 2">
            <a:extLst>
              <a:ext uri="{FF2B5EF4-FFF2-40B4-BE49-F238E27FC236}">
                <a16:creationId xmlns:a16="http://schemas.microsoft.com/office/drawing/2014/main" id="{9AFD2A23-B858-4404-ABCD-74F1120398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999767-7B90-6AA3-CCD0-C03CE5A2615E}"/>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3130946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6E626-1298-3CBC-C00C-EACC4E97CA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0BC519-B96D-5312-C7BD-6659E1F25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CB9A38-D33A-87AF-2D58-C7B55CF29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0B1EE-3721-E04F-8FA8-616B7EDFD514}"/>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6" name="Footer Placeholder 5">
            <a:extLst>
              <a:ext uri="{FF2B5EF4-FFF2-40B4-BE49-F238E27FC236}">
                <a16:creationId xmlns:a16="http://schemas.microsoft.com/office/drawing/2014/main" id="{844B2C5A-32A0-9ECA-3B65-2951A6EC45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5EDFAA-7853-C9DA-9481-50E6516C2BED}"/>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3424653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DC861-63D4-EFB5-2BD9-48CE986A1E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097806-BAB3-CBBD-AA10-F2B704E135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AAF69C-3BD8-60F3-9308-636BEA763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EA04F-C744-CC12-3991-58DCD36A787E}"/>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6" name="Footer Placeholder 5">
            <a:extLst>
              <a:ext uri="{FF2B5EF4-FFF2-40B4-BE49-F238E27FC236}">
                <a16:creationId xmlns:a16="http://schemas.microsoft.com/office/drawing/2014/main" id="{89C00552-AF81-7242-B85D-948DC75F6C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C01547-EC75-D91A-2ADF-027309289F28}"/>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579486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20456-4C9B-1C9C-FDAC-D2BCFF6643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F672DF-0E11-67B0-BE29-5D2585E61A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3A9EE2-BA0D-39C6-6125-9C6EA599656F}"/>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5" name="Footer Placeholder 4">
            <a:extLst>
              <a:ext uri="{FF2B5EF4-FFF2-40B4-BE49-F238E27FC236}">
                <a16:creationId xmlns:a16="http://schemas.microsoft.com/office/drawing/2014/main" id="{C4A03575-C78A-3DB2-00E2-07C316FC2B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55542-DA92-E578-B69D-D9FF4ED4D6E7}"/>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146327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23D56F-6E5A-E5B6-B6C0-434DB45B10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1E5441-C044-DE04-B857-A3556C1BA8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B5C219-58C0-B350-4C98-FF1C103EE582}"/>
              </a:ext>
            </a:extLst>
          </p:cNvPr>
          <p:cNvSpPr>
            <a:spLocks noGrp="1"/>
          </p:cNvSpPr>
          <p:nvPr>
            <p:ph type="dt" sz="half" idx="10"/>
          </p:nvPr>
        </p:nvSpPr>
        <p:spPr/>
        <p:txBody>
          <a:bodyPr/>
          <a:lstStyle/>
          <a:p>
            <a:fld id="{3508561B-D030-4EF8-9B9A-83B57B42EA01}" type="datetimeFigureOut">
              <a:rPr lang="en-IN" smtClean="0"/>
              <a:t>27-06-2024</a:t>
            </a:fld>
            <a:endParaRPr lang="en-IN"/>
          </a:p>
        </p:txBody>
      </p:sp>
      <p:sp>
        <p:nvSpPr>
          <p:cNvPr id="5" name="Footer Placeholder 4">
            <a:extLst>
              <a:ext uri="{FF2B5EF4-FFF2-40B4-BE49-F238E27FC236}">
                <a16:creationId xmlns:a16="http://schemas.microsoft.com/office/drawing/2014/main" id="{FE05085F-2027-BD40-4885-EB14ABC130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665A6C-3B79-E1A5-3A86-A9337C2042A8}"/>
              </a:ext>
            </a:extLst>
          </p:cNvPr>
          <p:cNvSpPr>
            <a:spLocks noGrp="1"/>
          </p:cNvSpPr>
          <p:nvPr>
            <p:ph type="sldNum" sz="quarter" idx="12"/>
          </p:nvPr>
        </p:nvSpPr>
        <p:spPr/>
        <p:txBody>
          <a:bodyPr/>
          <a:lstStyle/>
          <a:p>
            <a:fld id="{09C0E912-4E59-4ACA-8E47-7A5ED743B40C}" type="slidenum">
              <a:rPr lang="en-IN" smtClean="0"/>
              <a:t>‹#›</a:t>
            </a:fld>
            <a:endParaRPr lang="en-IN"/>
          </a:p>
        </p:txBody>
      </p:sp>
    </p:spTree>
    <p:extLst>
      <p:ext uri="{BB962C8B-B14F-4D97-AF65-F5344CB8AC3E}">
        <p14:creationId xmlns:p14="http://schemas.microsoft.com/office/powerpoint/2010/main" val="1930681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B68B27-DD72-3C9C-B332-4B5CCCF620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2C8B2F-7C3F-19F4-DF92-C1DAF1AB14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283F9D-2945-C3B9-DF91-DEF7D7CAC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08561B-D030-4EF8-9B9A-83B57B42EA01}" type="datetimeFigureOut">
              <a:rPr lang="en-IN" smtClean="0"/>
              <a:t>27-06-2024</a:t>
            </a:fld>
            <a:endParaRPr lang="en-IN"/>
          </a:p>
        </p:txBody>
      </p:sp>
      <p:sp>
        <p:nvSpPr>
          <p:cNvPr id="5" name="Footer Placeholder 4">
            <a:extLst>
              <a:ext uri="{FF2B5EF4-FFF2-40B4-BE49-F238E27FC236}">
                <a16:creationId xmlns:a16="http://schemas.microsoft.com/office/drawing/2014/main" id="{EC9B2E9E-0ECB-D752-EB37-791570739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771147-EB6B-6C39-AF11-E10B5509F4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C0E912-4E59-4ACA-8E47-7A5ED743B40C}" type="slidenum">
              <a:rPr lang="en-IN" smtClean="0"/>
              <a:t>‹#›</a:t>
            </a:fld>
            <a:endParaRPr lang="en-IN"/>
          </a:p>
        </p:txBody>
      </p:sp>
    </p:spTree>
    <p:extLst>
      <p:ext uri="{BB962C8B-B14F-4D97-AF65-F5344CB8AC3E}">
        <p14:creationId xmlns:p14="http://schemas.microsoft.com/office/powerpoint/2010/main" val="1638763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C7DE-43F0-6963-4685-A6E4B83A39C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8E13757-CAED-EF39-1235-5EA188FFB83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9024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7AC722-D81E-F604-9862-147107A2D3F6}"/>
              </a:ext>
            </a:extLst>
          </p:cNvPr>
          <p:cNvSpPr>
            <a:spLocks noGrp="1"/>
          </p:cNvSpPr>
          <p:nvPr>
            <p:ph idx="1"/>
          </p:nvPr>
        </p:nvSpPr>
        <p:spPr/>
        <p:txBody>
          <a:bodyPr>
            <a:normAutofit fontScale="77500" lnSpcReduction="20000"/>
          </a:bodyPr>
          <a:lstStyle/>
          <a:p>
            <a:pPr algn="just"/>
            <a:r>
              <a:rPr lang="en-US" b="1" i="0" dirty="0" err="1">
                <a:solidFill>
                  <a:srgbClr val="610B38"/>
                </a:solidFill>
                <a:effectLst/>
                <a:latin typeface="erdana"/>
              </a:rPr>
              <a:t>numpy.where</a:t>
            </a:r>
            <a:r>
              <a:rPr lang="en-US" b="1" i="0" dirty="0">
                <a:solidFill>
                  <a:srgbClr val="610B38"/>
                </a:solidFill>
                <a:effectLst/>
                <a:latin typeface="erdana"/>
              </a:rPr>
              <a:t>()</a:t>
            </a:r>
          </a:p>
          <a:p>
            <a:pPr algn="just"/>
            <a:r>
              <a:rPr lang="en-US" b="0" i="0" dirty="0">
                <a:solidFill>
                  <a:srgbClr val="333333"/>
                </a:solidFill>
                <a:effectLst/>
                <a:latin typeface="inter-regular"/>
              </a:rPr>
              <a:t>The NumPy module provides a function </a:t>
            </a:r>
            <a:r>
              <a:rPr lang="en-US" b="0" i="0" dirty="0" err="1">
                <a:solidFill>
                  <a:srgbClr val="333333"/>
                </a:solidFill>
                <a:effectLst/>
                <a:latin typeface="inter-regular"/>
              </a:rPr>
              <a:t>numpy.where</a:t>
            </a:r>
            <a:r>
              <a:rPr lang="en-US" b="0" i="0" dirty="0">
                <a:solidFill>
                  <a:srgbClr val="333333"/>
                </a:solidFill>
                <a:effectLst/>
                <a:latin typeface="inter-regular"/>
              </a:rPr>
              <a:t>() for selecting elements based on a condition. It returns elements chosen from a or b depending on the condition.</a:t>
            </a:r>
          </a:p>
          <a:p>
            <a:pPr algn="just"/>
            <a:r>
              <a:rPr lang="fr-FR" b="0" i="0" dirty="0" err="1">
                <a:solidFill>
                  <a:srgbClr val="610B4B"/>
                </a:solidFill>
                <a:effectLst/>
                <a:latin typeface="erdana"/>
              </a:rPr>
              <a:t>Syntax</a:t>
            </a:r>
            <a:r>
              <a:rPr lang="fr-FR" b="0" i="0" dirty="0">
                <a:solidFill>
                  <a:srgbClr val="610B4B"/>
                </a:solidFill>
                <a:effectLst/>
                <a:latin typeface="erdana"/>
              </a:rPr>
              <a:t>:</a:t>
            </a:r>
          </a:p>
          <a:p>
            <a:pPr marL="0" indent="0" algn="just">
              <a:buNone/>
            </a:pPr>
            <a:r>
              <a:rPr lang="fr-FR" b="0" i="0" dirty="0">
                <a:solidFill>
                  <a:srgbClr val="000000"/>
                </a:solidFill>
                <a:effectLst/>
                <a:latin typeface="inter-regular"/>
              </a:rPr>
              <a:t>  	</a:t>
            </a:r>
            <a:r>
              <a:rPr lang="fr-FR" b="0" i="0" dirty="0" err="1">
                <a:solidFill>
                  <a:srgbClr val="000000"/>
                </a:solidFill>
                <a:effectLst/>
                <a:latin typeface="inter-regular"/>
              </a:rPr>
              <a:t>numpy.where</a:t>
            </a:r>
            <a:r>
              <a:rPr lang="fr-FR" b="0" i="0" dirty="0">
                <a:solidFill>
                  <a:srgbClr val="000000"/>
                </a:solidFill>
                <a:effectLst/>
                <a:latin typeface="inter-regular"/>
              </a:rPr>
              <a:t>(condition[, x, y])  </a:t>
            </a:r>
          </a:p>
          <a:p>
            <a:pPr marL="0" indent="0" algn="just">
              <a:buNone/>
            </a:pPr>
            <a:r>
              <a:rPr lang="en-US" b="0" i="0" dirty="0">
                <a:solidFill>
                  <a:srgbClr val="333333"/>
                </a:solidFill>
                <a:effectLst/>
                <a:latin typeface="inter-regular"/>
              </a:rPr>
              <a:t>If this parameter set to True, yield x otherwise yield y.</a:t>
            </a:r>
            <a:endParaRPr lang="fr-FR" b="0" i="0" dirty="0">
              <a:solidFill>
                <a:srgbClr val="000000"/>
              </a:solidFill>
              <a:effectLst/>
              <a:latin typeface="inter-regular"/>
            </a:endParaRPr>
          </a:p>
          <a:p>
            <a:pPr marL="0" indent="0" algn="just">
              <a:buNone/>
            </a:pPr>
            <a:r>
              <a:rPr lang="en-US" b="0" i="0" dirty="0">
                <a:solidFill>
                  <a:srgbClr val="333333"/>
                </a:solidFill>
                <a:effectLst/>
                <a:latin typeface="inter-regular"/>
              </a:rPr>
              <a:t>Ex</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arange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where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795E26"/>
                </a:solidFill>
                <a:effectLst/>
                <a:latin typeface="Consolas" panose="020B0609020204030204" pitchFamily="49" charset="0"/>
              </a:rPr>
              <a:t>&lt;</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pPr marL="0" indent="0" algn="just">
              <a:buNone/>
            </a:pPr>
            <a:endParaRPr lang="en-US" b="0" i="0" dirty="0">
              <a:solidFill>
                <a:srgbClr val="333333"/>
              </a:solidFill>
              <a:effectLst/>
              <a:latin typeface="inter-regular"/>
            </a:endParaRPr>
          </a:p>
          <a:p>
            <a:pPr marL="0" indent="0">
              <a:buNone/>
            </a:pPr>
            <a:endParaRPr lang="en-IN" dirty="0"/>
          </a:p>
        </p:txBody>
      </p:sp>
    </p:spTree>
    <p:extLst>
      <p:ext uri="{BB962C8B-B14F-4D97-AF65-F5344CB8AC3E}">
        <p14:creationId xmlns:p14="http://schemas.microsoft.com/office/powerpoint/2010/main" val="1565551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702D7-141B-AE0E-8DCE-E9B0BD1C4A4A}"/>
              </a:ext>
            </a:extLst>
          </p:cNvPr>
          <p:cNvSpPr>
            <a:spLocks noGrp="1"/>
          </p:cNvSpPr>
          <p:nvPr>
            <p:ph idx="1"/>
          </p:nvPr>
        </p:nvSpPr>
        <p:spPr/>
        <p:txBody>
          <a:bodyPr/>
          <a:lstStyle/>
          <a:p>
            <a:pPr marL="0" indent="0">
              <a:buNone/>
            </a:pPr>
            <a:r>
              <a:rPr lang="en-IN" b="1" dirty="0">
                <a:solidFill>
                  <a:srgbClr val="AF00DB"/>
                </a:solidFill>
                <a:latin typeface="Consolas" panose="020B0609020204030204" pitchFamily="49" charset="0"/>
              </a:rPr>
              <a:t>Sorting by order</a:t>
            </a:r>
            <a:endParaRPr lang="en-IN" b="1" dirty="0">
              <a:solidFill>
                <a:srgbClr val="AF00DB"/>
              </a:solidFill>
              <a:effectLst/>
              <a:latin typeface="Consolas" panose="020B0609020204030204" pitchFamily="49" charset="0"/>
            </a:endParaRPr>
          </a:p>
          <a:p>
            <a:pPr marL="0" indent="0">
              <a:buNone/>
            </a:pPr>
            <a:r>
              <a:rPr lang="en-IN" b="0" dirty="0">
                <a:solidFill>
                  <a:srgbClr val="AF00DB"/>
                </a:solidFill>
                <a:effectLst/>
                <a:latin typeface="Consolas" panose="020B0609020204030204" pitchFamily="49" charset="0"/>
              </a:rPr>
              <a:t>Ex</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numpy</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as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np</a:t>
            </a:r>
            <a:r>
              <a:rPr lang="en-IN" b="0" dirty="0">
                <a:solidFill>
                  <a:srgbClr val="000000"/>
                </a:solidFill>
                <a:effectLst/>
                <a:latin typeface="Consolas" panose="020B0609020204030204" pitchFamily="49" charset="0"/>
              </a:rPr>
              <a:t>  </a:t>
            </a:r>
          </a:p>
          <a:p>
            <a:r>
              <a:rPr lang="en-IN" b="0" dirty="0" err="1">
                <a:solidFill>
                  <a:srgbClr val="001080"/>
                </a:solidFill>
                <a:effectLst/>
                <a:latin typeface="Consolas" panose="020B0609020204030204" pitchFamily="49" charset="0"/>
              </a:rPr>
              <a:t>data_type</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267F99"/>
                </a:solidFill>
                <a:effectLst/>
                <a:latin typeface="Consolas" panose="020B0609020204030204" pitchFamily="49" charset="0"/>
              </a:rPr>
              <a:t>dtype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'S20'</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marks'</a:t>
            </a:r>
            <a:r>
              <a:rPr lang="en-IN" b="0" dirty="0" err="1">
                <a:solidFill>
                  <a:srgbClr val="000000"/>
                </a:solidFill>
                <a:effectLst/>
                <a:latin typeface="Consolas" panose="020B0609020204030204" pitchFamily="49" charset="0"/>
              </a:rPr>
              <a:t>,</a:t>
            </a:r>
            <a:r>
              <a:rPr lang="en-IN" b="0" dirty="0" err="1">
                <a:solidFill>
                  <a:srgbClr val="267F99"/>
                </a:solidFill>
                <a:effectLst/>
                <a:latin typeface="Consolas" panose="020B0609020204030204" pitchFamily="49" charset="0"/>
              </a:rPr>
              <a:t>int</a:t>
            </a:r>
            <a:r>
              <a:rPr lang="en-IN" b="0" dirty="0">
                <a:solidFill>
                  <a:srgbClr val="000000"/>
                </a:solidFill>
                <a:effectLst/>
                <a:latin typeface="Consolas" panose="020B0609020204030204" pitchFamily="49" charset="0"/>
              </a:rPr>
              <a:t>)])  </a:t>
            </a:r>
          </a:p>
          <a:p>
            <a:r>
              <a:rPr lang="en-IN" b="0" dirty="0" err="1">
                <a:solidFill>
                  <a:srgbClr val="001080"/>
                </a:solidFill>
                <a:effectLst/>
                <a:latin typeface="Consolas" panose="020B0609020204030204" pitchFamily="49" charset="0"/>
              </a:rPr>
              <a:t>arr</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'Mukesh'</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'John'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251</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dtype</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data_type</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"Sorting data ordered by name"</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sort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arr</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order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p>
          <a:p>
            <a:pPr marL="0" indent="0">
              <a:buNone/>
            </a:pPr>
            <a:endParaRPr lang="en-IN" dirty="0"/>
          </a:p>
        </p:txBody>
      </p:sp>
    </p:spTree>
    <p:extLst>
      <p:ext uri="{BB962C8B-B14F-4D97-AF65-F5344CB8AC3E}">
        <p14:creationId xmlns:p14="http://schemas.microsoft.com/office/powerpoint/2010/main" val="3622798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F675E7-76E1-520E-2C48-B140BB204088}"/>
              </a:ext>
            </a:extLst>
          </p:cNvPr>
          <p:cNvSpPr>
            <a:spLocks noGrp="1"/>
          </p:cNvSpPr>
          <p:nvPr>
            <p:ph idx="1"/>
          </p:nvPr>
        </p:nvSpPr>
        <p:spPr/>
        <p:txBody>
          <a:bodyPr>
            <a:normAutofit fontScale="85000" lnSpcReduction="20000"/>
          </a:bodyPr>
          <a:lstStyle/>
          <a:p>
            <a:pPr algn="just"/>
            <a:r>
              <a:rPr lang="en-US" b="1" i="0" dirty="0" err="1">
                <a:solidFill>
                  <a:srgbClr val="610B38"/>
                </a:solidFill>
                <a:effectLst/>
                <a:latin typeface="erdana"/>
              </a:rPr>
              <a:t>numpy.argsort</a:t>
            </a:r>
            <a:r>
              <a:rPr lang="en-US" b="1" i="0" dirty="0">
                <a:solidFill>
                  <a:srgbClr val="610B38"/>
                </a:solidFill>
                <a:effectLst/>
                <a:latin typeface="erdana"/>
              </a:rPr>
              <a:t>() function</a:t>
            </a:r>
          </a:p>
          <a:p>
            <a:pPr algn="just"/>
            <a:r>
              <a:rPr lang="en-US" b="0" i="0" dirty="0">
                <a:solidFill>
                  <a:srgbClr val="333333"/>
                </a:solidFill>
                <a:effectLst/>
                <a:latin typeface="inter-regular"/>
              </a:rPr>
              <a:t>This function is used to perform an indirect sort on an input array that is, it returns an array of indices of data which is used to construct the array of sorted data.</a:t>
            </a:r>
          </a:p>
          <a:p>
            <a:pPr marL="0" indent="0">
              <a:buNone/>
            </a:pPr>
            <a:r>
              <a:rPr lang="en-IN" dirty="0"/>
              <a:t>Ex</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numpy</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as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np</a:t>
            </a:r>
            <a:r>
              <a:rPr lang="en-IN" b="0" dirty="0">
                <a:solidFill>
                  <a:srgbClr val="000000"/>
                </a:solidFill>
                <a:effectLst/>
                <a:latin typeface="Consolas" panose="020B0609020204030204" pitchFamily="49" charset="0"/>
              </a:rPr>
              <a:t>  </a:t>
            </a:r>
          </a:p>
          <a:p>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90</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29</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89</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12</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"Original array:</a:t>
            </a:r>
            <a:r>
              <a:rPr lang="en-IN" b="0" dirty="0">
                <a:solidFill>
                  <a:srgbClr val="EE0000"/>
                </a:solidFill>
                <a:effectLst/>
                <a:latin typeface="Consolas" panose="020B0609020204030204" pitchFamily="49" charset="0"/>
              </a:rPr>
              <a:t>\</a:t>
            </a:r>
            <a:r>
              <a:rPr lang="en-IN" b="0" dirty="0" err="1">
                <a:solidFill>
                  <a:srgbClr val="EE0000"/>
                </a:solidFill>
                <a:effectLst/>
                <a:latin typeface="Consolas" panose="020B0609020204030204" pitchFamily="49" charset="0"/>
              </a:rPr>
              <a:t>n</a:t>
            </a:r>
            <a:r>
              <a:rPr lang="en-IN" b="0" dirty="0" err="1">
                <a:solidFill>
                  <a:srgbClr val="A31515"/>
                </a:solidFill>
                <a:effectLst/>
                <a:latin typeface="Consolas" panose="020B0609020204030204" pitchFamily="49" charset="0"/>
              </a:rPr>
              <a: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p>
          <a:p>
            <a:r>
              <a:rPr lang="en-IN" b="0" dirty="0" err="1">
                <a:solidFill>
                  <a:srgbClr val="001080"/>
                </a:solidFill>
                <a:effectLst/>
                <a:latin typeface="Consolas" panose="020B0609020204030204" pitchFamily="49" charset="0"/>
              </a:rPr>
              <a:t>sort_ind</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argsort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"Printing indices of sorted data</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sort_ind</a:t>
            </a:r>
            <a:r>
              <a:rPr lang="en-IN" b="0" dirty="0">
                <a:solidFill>
                  <a:srgbClr val="000000"/>
                </a:solidFill>
                <a:effectLst/>
                <a:latin typeface="Consolas" panose="020B0609020204030204" pitchFamily="49" charset="0"/>
              </a:rPr>
              <a:t>)  </a:t>
            </a:r>
          </a:p>
          <a:p>
            <a:r>
              <a:rPr lang="en-IN" b="0" dirty="0" err="1">
                <a:solidFill>
                  <a:srgbClr val="001080"/>
                </a:solidFill>
                <a:effectLst/>
                <a:latin typeface="Consolas" panose="020B0609020204030204" pitchFamily="49" charset="0"/>
              </a:rPr>
              <a:t>sort_a</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sort_ind</a:t>
            </a:r>
            <a:r>
              <a:rPr lang="en-IN" b="0" dirty="0">
                <a:solidFill>
                  <a:srgbClr val="000000"/>
                </a:solidFill>
                <a:effectLst/>
                <a:latin typeface="Consolas" panose="020B0609020204030204" pitchFamily="49" charset="0"/>
              </a:rPr>
              <a:t>]  </a:t>
            </a:r>
          </a:p>
          <a:p>
            <a:r>
              <a:rPr lang="en-IN" dirty="0">
                <a:solidFill>
                  <a:srgbClr val="000000"/>
                </a:solidFill>
                <a:latin typeface="Consolas" panose="020B0609020204030204" pitchFamily="49" charset="0"/>
              </a:rPr>
              <a:t>print(</a:t>
            </a:r>
            <a:r>
              <a:rPr lang="en-IN" dirty="0" err="1">
                <a:solidFill>
                  <a:srgbClr val="000000"/>
                </a:solidFill>
                <a:latin typeface="Consolas" panose="020B0609020204030204" pitchFamily="49" charset="0"/>
              </a:rPr>
              <a:t>sort_a</a:t>
            </a:r>
            <a:r>
              <a:rPr lang="en-IN" dirty="0">
                <a:solidFill>
                  <a:srgbClr val="000000"/>
                </a:solidFill>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518574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58BAFD-0222-2F5D-B7DE-FC9397711B61}"/>
              </a:ext>
            </a:extLst>
          </p:cNvPr>
          <p:cNvSpPr>
            <a:spLocks noGrp="1"/>
          </p:cNvSpPr>
          <p:nvPr>
            <p:ph idx="1"/>
          </p:nvPr>
        </p:nvSpPr>
        <p:spPr>
          <a:xfrm>
            <a:off x="842682" y="528918"/>
            <a:ext cx="10511118" cy="5648045"/>
          </a:xfrm>
        </p:spPr>
        <p:txBody>
          <a:bodyPr>
            <a:normAutofit/>
          </a:bodyPr>
          <a:lstStyle/>
          <a:p>
            <a:pPr marL="0" indent="0" algn="just">
              <a:buNone/>
            </a:pPr>
            <a:r>
              <a:rPr lang="en-US" b="1" i="0" dirty="0" err="1">
                <a:solidFill>
                  <a:srgbClr val="610B38"/>
                </a:solidFill>
                <a:effectLst/>
                <a:latin typeface="erdana"/>
              </a:rPr>
              <a:t>numpy.unique</a:t>
            </a:r>
            <a:r>
              <a:rPr lang="en-US" b="1" i="0" dirty="0">
                <a:solidFill>
                  <a:srgbClr val="610B38"/>
                </a:solidFill>
                <a:effectLst/>
                <a:latin typeface="erdana"/>
              </a:rPr>
              <a:t>() in Python</a:t>
            </a:r>
          </a:p>
          <a:p>
            <a:pPr algn="just"/>
            <a:r>
              <a:rPr lang="en-US" sz="2400" b="0" i="0" dirty="0">
                <a:solidFill>
                  <a:srgbClr val="333333"/>
                </a:solidFill>
                <a:effectLst/>
                <a:latin typeface="inter-regular"/>
              </a:rPr>
              <a:t>The </a:t>
            </a:r>
            <a:r>
              <a:rPr lang="en-US" sz="2400" b="0" i="0" dirty="0" err="1">
                <a:solidFill>
                  <a:srgbClr val="333333"/>
                </a:solidFill>
                <a:effectLst/>
                <a:latin typeface="inter-regular"/>
              </a:rPr>
              <a:t>numpy</a:t>
            </a:r>
            <a:r>
              <a:rPr lang="en-US" sz="2400" b="0" i="0" dirty="0">
                <a:solidFill>
                  <a:srgbClr val="333333"/>
                </a:solidFill>
                <a:effectLst/>
                <a:latin typeface="inter-regular"/>
              </a:rPr>
              <a:t> module of Python provides a function for finding unique elements in a </a:t>
            </a:r>
            <a:r>
              <a:rPr lang="en-US" sz="2400" b="0" i="0" dirty="0" err="1">
                <a:solidFill>
                  <a:srgbClr val="333333"/>
                </a:solidFill>
                <a:effectLst/>
                <a:latin typeface="inter-regular"/>
              </a:rPr>
              <a:t>numpy</a:t>
            </a:r>
            <a:r>
              <a:rPr lang="en-US" sz="2400" b="0" i="0" dirty="0">
                <a:solidFill>
                  <a:srgbClr val="333333"/>
                </a:solidFill>
                <a:effectLst/>
                <a:latin typeface="inter-regular"/>
              </a:rPr>
              <a:t> array. The </a:t>
            </a:r>
            <a:r>
              <a:rPr lang="en-US" sz="2400" b="0" i="0" dirty="0" err="1">
                <a:solidFill>
                  <a:srgbClr val="333333"/>
                </a:solidFill>
                <a:effectLst/>
                <a:latin typeface="inter-regular"/>
              </a:rPr>
              <a:t>numpy.unique</a:t>
            </a:r>
            <a:r>
              <a:rPr lang="en-US" sz="2400" b="0" i="0" dirty="0">
                <a:solidFill>
                  <a:srgbClr val="333333"/>
                </a:solidFill>
                <a:effectLst/>
                <a:latin typeface="inter-regular"/>
              </a:rPr>
              <a:t>() function finds the unique elements of an array and returns these unique elements as a sorted array. Apart from the unique elements, there are some optional outputs also, which are as follows:</a:t>
            </a:r>
          </a:p>
          <a:p>
            <a:pPr lvl="1" algn="just"/>
            <a:r>
              <a:rPr lang="en-US" sz="1500" b="0" i="0" dirty="0">
                <a:solidFill>
                  <a:srgbClr val="000000"/>
                </a:solidFill>
                <a:effectLst/>
                <a:latin typeface="inter-regular"/>
              </a:rPr>
              <a:t>The output can be the indices of the input array which give the unique values</a:t>
            </a:r>
          </a:p>
          <a:p>
            <a:pPr lvl="1" algn="just"/>
            <a:r>
              <a:rPr lang="en-US" sz="1500" b="0" i="0" dirty="0">
                <a:solidFill>
                  <a:srgbClr val="000000"/>
                </a:solidFill>
                <a:effectLst/>
                <a:latin typeface="inter-regular"/>
              </a:rPr>
              <a:t>The output can be the indices of the unique array which reconstruct the input array</a:t>
            </a:r>
          </a:p>
          <a:p>
            <a:pPr lvl="1" algn="just"/>
            <a:r>
              <a:rPr lang="en-US" sz="1500" b="0" i="0" dirty="0">
                <a:solidFill>
                  <a:srgbClr val="000000"/>
                </a:solidFill>
                <a:effectLst/>
                <a:latin typeface="inter-regular"/>
              </a:rPr>
              <a:t>The output can be an array of the number of times each unique value comes in the input array.</a:t>
            </a:r>
          </a:p>
          <a:p>
            <a:pPr algn="just"/>
            <a:r>
              <a:rPr lang="en-US" b="0" i="0" dirty="0">
                <a:solidFill>
                  <a:srgbClr val="610B4B"/>
                </a:solidFill>
                <a:effectLst/>
                <a:latin typeface="erdana"/>
              </a:rPr>
              <a:t>Syntax</a:t>
            </a:r>
          </a:p>
          <a:p>
            <a:pPr marL="0" indent="0" algn="just">
              <a:buNone/>
            </a:pPr>
            <a:r>
              <a:rPr lang="en-US" sz="2300" dirty="0">
                <a:solidFill>
                  <a:srgbClr val="610B4B"/>
                </a:solidFill>
                <a:latin typeface="erdana"/>
              </a:rPr>
              <a:t>	</a:t>
            </a:r>
            <a:r>
              <a:rPr lang="en-US" sz="1800" b="1" i="0" dirty="0" err="1">
                <a:solidFill>
                  <a:srgbClr val="000000"/>
                </a:solidFill>
                <a:effectLst/>
                <a:latin typeface="inter-regular"/>
              </a:rPr>
              <a:t>numpy.unique</a:t>
            </a:r>
            <a:r>
              <a:rPr lang="en-US" sz="1800" b="1" i="0" dirty="0">
                <a:solidFill>
                  <a:srgbClr val="000000"/>
                </a:solidFill>
                <a:effectLst/>
                <a:latin typeface="inter-regular"/>
              </a:rPr>
              <a:t>(a, </a:t>
            </a:r>
            <a:r>
              <a:rPr lang="en-US" sz="1800" b="1" i="0" dirty="0" err="1">
                <a:solidFill>
                  <a:srgbClr val="000000"/>
                </a:solidFill>
                <a:effectLst/>
                <a:latin typeface="inter-regular"/>
              </a:rPr>
              <a:t>return_index</a:t>
            </a:r>
            <a:r>
              <a:rPr lang="en-US" sz="1800" b="1" i="0" dirty="0">
                <a:solidFill>
                  <a:srgbClr val="000000"/>
                </a:solidFill>
                <a:effectLst/>
                <a:latin typeface="inter-regular"/>
              </a:rPr>
              <a:t>=False, </a:t>
            </a:r>
            <a:r>
              <a:rPr lang="en-US" sz="1800" b="1" i="0" dirty="0" err="1">
                <a:solidFill>
                  <a:srgbClr val="000000"/>
                </a:solidFill>
                <a:effectLst/>
                <a:latin typeface="inter-regular"/>
              </a:rPr>
              <a:t>return_inverse</a:t>
            </a:r>
            <a:r>
              <a:rPr lang="en-US" sz="1800" b="1" i="0" dirty="0">
                <a:solidFill>
                  <a:srgbClr val="000000"/>
                </a:solidFill>
                <a:effectLst/>
                <a:latin typeface="inter-regular"/>
              </a:rPr>
              <a:t>=False, </a:t>
            </a:r>
            <a:r>
              <a:rPr lang="en-US" sz="1800" b="1" i="0" dirty="0" err="1">
                <a:solidFill>
                  <a:srgbClr val="000000"/>
                </a:solidFill>
                <a:effectLst/>
                <a:latin typeface="inter-regular"/>
              </a:rPr>
              <a:t>return_counts</a:t>
            </a:r>
            <a:r>
              <a:rPr lang="en-US" sz="1800" b="1" i="0" dirty="0">
                <a:solidFill>
                  <a:srgbClr val="000000"/>
                </a:solidFill>
                <a:effectLst/>
                <a:latin typeface="inter-regular"/>
              </a:rPr>
              <a:t>=False, axis=None)  </a:t>
            </a:r>
          </a:p>
          <a:p>
            <a:pPr marL="0" indent="0">
              <a:buNone/>
            </a:pPr>
            <a:r>
              <a:rPr lang="en-IN" sz="2200" b="1" dirty="0"/>
              <a:t>Example 1</a:t>
            </a:r>
          </a:p>
          <a:p>
            <a:r>
              <a:rPr lang="en-IN" sz="2600" b="0" dirty="0">
                <a:solidFill>
                  <a:srgbClr val="AF00DB"/>
                </a:solidFill>
                <a:effectLst/>
                <a:latin typeface="Consolas" panose="020B0609020204030204" pitchFamily="49" charset="0"/>
              </a:rPr>
              <a:t>import</a:t>
            </a:r>
            <a:r>
              <a:rPr lang="en-IN" sz="2600" b="0" dirty="0">
                <a:solidFill>
                  <a:srgbClr val="000000"/>
                </a:solidFill>
                <a:effectLst/>
                <a:latin typeface="Consolas" panose="020B0609020204030204" pitchFamily="49" charset="0"/>
              </a:rPr>
              <a:t> </a:t>
            </a:r>
            <a:r>
              <a:rPr lang="en-IN" sz="2600" b="0" dirty="0" err="1">
                <a:solidFill>
                  <a:srgbClr val="267F99"/>
                </a:solidFill>
                <a:effectLst/>
                <a:latin typeface="Consolas" panose="020B0609020204030204" pitchFamily="49" charset="0"/>
              </a:rPr>
              <a:t>numpy</a:t>
            </a:r>
            <a:r>
              <a:rPr lang="en-IN" sz="2600" b="0" dirty="0">
                <a:solidFill>
                  <a:srgbClr val="000000"/>
                </a:solidFill>
                <a:effectLst/>
                <a:latin typeface="Consolas" panose="020B0609020204030204" pitchFamily="49" charset="0"/>
              </a:rPr>
              <a:t> </a:t>
            </a:r>
            <a:r>
              <a:rPr lang="en-IN" sz="2600" b="0" dirty="0">
                <a:solidFill>
                  <a:srgbClr val="AF00DB"/>
                </a:solidFill>
                <a:effectLst/>
                <a:latin typeface="Consolas" panose="020B0609020204030204" pitchFamily="49" charset="0"/>
              </a:rPr>
              <a:t>as</a:t>
            </a:r>
            <a:r>
              <a:rPr lang="en-IN" sz="2600" b="0" dirty="0">
                <a:solidFill>
                  <a:srgbClr val="000000"/>
                </a:solidFill>
                <a:effectLst/>
                <a:latin typeface="Consolas" panose="020B0609020204030204" pitchFamily="49" charset="0"/>
              </a:rPr>
              <a:t> </a:t>
            </a:r>
            <a:r>
              <a:rPr lang="en-IN" sz="2600" b="0" dirty="0">
                <a:solidFill>
                  <a:srgbClr val="267F99"/>
                </a:solidFill>
                <a:effectLst/>
                <a:latin typeface="Consolas" panose="020B0609020204030204" pitchFamily="49" charset="0"/>
              </a:rPr>
              <a:t>np</a:t>
            </a:r>
            <a:r>
              <a:rPr lang="en-IN" sz="2600" b="0" dirty="0">
                <a:solidFill>
                  <a:srgbClr val="000000"/>
                </a:solidFill>
                <a:effectLst/>
                <a:latin typeface="Consolas" panose="020B0609020204030204" pitchFamily="49" charset="0"/>
              </a:rPr>
              <a:t>  </a:t>
            </a:r>
          </a:p>
          <a:p>
            <a:r>
              <a:rPr lang="en-IN" sz="2600" b="0" dirty="0">
                <a:solidFill>
                  <a:srgbClr val="001080"/>
                </a:solidFill>
                <a:effectLst/>
                <a:latin typeface="Consolas" panose="020B0609020204030204" pitchFamily="49" charset="0"/>
              </a:rPr>
              <a:t>a</a:t>
            </a:r>
            <a:r>
              <a:rPr lang="en-IN" sz="2600" b="0" dirty="0">
                <a:solidFill>
                  <a:srgbClr val="000000"/>
                </a:solidFill>
                <a:effectLst/>
                <a:latin typeface="Consolas" panose="020B0609020204030204" pitchFamily="49" charset="0"/>
              </a:rPr>
              <a:t>=</a:t>
            </a:r>
            <a:r>
              <a:rPr lang="en-IN" sz="2600" b="0" dirty="0" err="1">
                <a:solidFill>
                  <a:srgbClr val="267F99"/>
                </a:solidFill>
                <a:effectLst/>
                <a:latin typeface="Consolas" panose="020B0609020204030204" pitchFamily="49" charset="0"/>
              </a:rPr>
              <a:t>np</a:t>
            </a:r>
            <a:r>
              <a:rPr lang="en-IN" sz="2600" b="0" dirty="0" err="1">
                <a:solidFill>
                  <a:srgbClr val="000000"/>
                </a:solidFill>
                <a:effectLst/>
                <a:latin typeface="Consolas" panose="020B0609020204030204" pitchFamily="49" charset="0"/>
              </a:rPr>
              <a:t>.</a:t>
            </a:r>
            <a:r>
              <a:rPr lang="en-IN" sz="2600" b="0" dirty="0" err="1">
                <a:solidFill>
                  <a:srgbClr val="795E26"/>
                </a:solidFill>
                <a:effectLst/>
                <a:latin typeface="Consolas" panose="020B0609020204030204" pitchFamily="49" charset="0"/>
              </a:rPr>
              <a:t>unique</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1</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2</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3</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4</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3</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6</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2</a:t>
            </a:r>
            <a:r>
              <a:rPr lang="en-IN" sz="2600" b="0" dirty="0">
                <a:solidFill>
                  <a:srgbClr val="000000"/>
                </a:solidFill>
                <a:effectLst/>
                <a:latin typeface="Consolas" panose="020B0609020204030204" pitchFamily="49" charset="0"/>
              </a:rPr>
              <a:t>,</a:t>
            </a:r>
            <a:r>
              <a:rPr lang="en-IN" sz="2600" b="0" dirty="0">
                <a:solidFill>
                  <a:srgbClr val="098658"/>
                </a:solidFill>
                <a:effectLst/>
                <a:latin typeface="Consolas" panose="020B0609020204030204" pitchFamily="49" charset="0"/>
              </a:rPr>
              <a:t>4</a:t>
            </a:r>
            <a:r>
              <a:rPr lang="en-IN" sz="2600" b="0" dirty="0">
                <a:solidFill>
                  <a:srgbClr val="000000"/>
                </a:solidFill>
                <a:effectLst/>
                <a:latin typeface="Consolas" panose="020B0609020204030204" pitchFamily="49" charset="0"/>
              </a:rPr>
              <a:t>])  </a:t>
            </a:r>
          </a:p>
          <a:p>
            <a:r>
              <a:rPr lang="en-IN" sz="2600" b="0" dirty="0">
                <a:solidFill>
                  <a:srgbClr val="795E26"/>
                </a:solidFill>
                <a:effectLst/>
                <a:latin typeface="Consolas" panose="020B0609020204030204" pitchFamily="49" charset="0"/>
              </a:rPr>
              <a:t>print</a:t>
            </a:r>
            <a:r>
              <a:rPr lang="en-IN" sz="2600" b="0" dirty="0">
                <a:solidFill>
                  <a:srgbClr val="000000"/>
                </a:solidFill>
                <a:effectLst/>
                <a:latin typeface="Consolas" panose="020B0609020204030204" pitchFamily="49" charset="0"/>
              </a:rPr>
              <a:t>(</a:t>
            </a:r>
            <a:r>
              <a:rPr lang="en-IN" sz="2600" b="0" dirty="0">
                <a:solidFill>
                  <a:srgbClr val="001080"/>
                </a:solidFill>
                <a:effectLst/>
                <a:latin typeface="Consolas" panose="020B0609020204030204" pitchFamily="49" charset="0"/>
              </a:rPr>
              <a:t>a</a:t>
            </a:r>
            <a:r>
              <a:rPr lang="en-IN" sz="2600" b="0" dirty="0">
                <a:solidFill>
                  <a:srgbClr val="000000"/>
                </a:solidFill>
                <a:effectLst/>
                <a:latin typeface="Consolas" panose="020B0609020204030204" pitchFamily="49" charset="0"/>
              </a:rPr>
              <a:t>) </a:t>
            </a:r>
          </a:p>
          <a:p>
            <a:pPr marL="0" indent="0">
              <a:buNone/>
            </a:pPr>
            <a:endParaRPr lang="en-IN" dirty="0"/>
          </a:p>
        </p:txBody>
      </p:sp>
    </p:spTree>
    <p:extLst>
      <p:ext uri="{BB962C8B-B14F-4D97-AF65-F5344CB8AC3E}">
        <p14:creationId xmlns:p14="http://schemas.microsoft.com/office/powerpoint/2010/main" val="2404687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515050-0F7D-1C11-C97E-712DE332889F}"/>
              </a:ext>
            </a:extLst>
          </p:cNvPr>
          <p:cNvSpPr>
            <a:spLocks noGrp="1"/>
          </p:cNvSpPr>
          <p:nvPr>
            <p:ph idx="1"/>
          </p:nvPr>
        </p:nvSpPr>
        <p:spPr>
          <a:xfrm>
            <a:off x="1160929" y="582565"/>
            <a:ext cx="10515600" cy="5692869"/>
          </a:xfrm>
        </p:spPr>
        <p:txBody>
          <a:bodyPr/>
          <a:lstStyle/>
          <a:p>
            <a:pPr marL="0" indent="0">
              <a:buNone/>
            </a:pPr>
            <a:r>
              <a:rPr lang="en-US" sz="1600" b="1" dirty="0"/>
              <a:t>Example 2</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unique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p>
          <a:p>
            <a:pPr marL="0" indent="0">
              <a:buNone/>
            </a:pPr>
            <a:r>
              <a:rPr lang="en-US" sz="2000" b="1" dirty="0">
                <a:solidFill>
                  <a:srgbClr val="000000"/>
                </a:solidFill>
                <a:latin typeface="Consolas" panose="020B0609020204030204" pitchFamily="49" charset="0"/>
              </a:rPr>
              <a:t>Output</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[[1 2 2 3 9]</a:t>
            </a:r>
          </a:p>
          <a:p>
            <a:pPr marL="0" indent="0">
              <a:buNone/>
            </a:pPr>
            <a:r>
              <a:rPr lang="en-US" b="0" dirty="0">
                <a:solidFill>
                  <a:srgbClr val="000000"/>
                </a:solidFill>
                <a:effectLst/>
                <a:latin typeface="Consolas" panose="020B0609020204030204" pitchFamily="49" charset="0"/>
              </a:rPr>
              <a:t> [1 4 3 5 8]]</a:t>
            </a:r>
          </a:p>
          <a:p>
            <a:pPr marL="0" indent="0">
              <a:buNone/>
            </a:pPr>
            <a:r>
              <a:rPr lang="en-US" b="0" dirty="0">
                <a:solidFill>
                  <a:srgbClr val="000000"/>
                </a:solidFill>
                <a:effectLst/>
                <a:latin typeface="Consolas" panose="020B0609020204030204" pitchFamily="49" charset="0"/>
              </a:rPr>
              <a:t>[1 2 3 4 5 8 9]</a:t>
            </a:r>
          </a:p>
          <a:p>
            <a:pPr marL="0" indent="0">
              <a:buNone/>
            </a:pPr>
            <a:endParaRPr lang="en-IN" dirty="0"/>
          </a:p>
        </p:txBody>
      </p:sp>
    </p:spTree>
    <p:extLst>
      <p:ext uri="{BB962C8B-B14F-4D97-AF65-F5344CB8AC3E}">
        <p14:creationId xmlns:p14="http://schemas.microsoft.com/office/powerpoint/2010/main" val="107183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4FA1C9-88EF-D592-8E99-8951D8447C5F}"/>
              </a:ext>
            </a:extLst>
          </p:cNvPr>
          <p:cNvSpPr>
            <a:spLocks noGrp="1"/>
          </p:cNvSpPr>
          <p:nvPr>
            <p:ph idx="1"/>
          </p:nvPr>
        </p:nvSpPr>
        <p:spPr>
          <a:xfrm>
            <a:off x="838200" y="977153"/>
            <a:ext cx="10515600" cy="5199810"/>
          </a:xfrm>
        </p:spPr>
        <p:txBody>
          <a:bodyPr>
            <a:normAutofit fontScale="77500" lnSpcReduction="20000"/>
          </a:bodyPr>
          <a:lstStyle/>
          <a:p>
            <a:pPr marL="0" indent="0">
              <a:buNone/>
            </a:pPr>
            <a:r>
              <a:rPr lang="en-US" sz="2600" dirty="0"/>
              <a:t>Example 3</a:t>
            </a:r>
          </a:p>
          <a:p>
            <a:r>
              <a:rPr lang="en-US" sz="2600" b="0" dirty="0">
                <a:solidFill>
                  <a:srgbClr val="AF00DB"/>
                </a:solidFill>
                <a:effectLst/>
                <a:latin typeface="Consolas" panose="020B0609020204030204" pitchFamily="49" charset="0"/>
              </a:rPr>
              <a:t>import</a:t>
            </a:r>
            <a:r>
              <a:rPr lang="en-US" sz="2600" b="0" dirty="0">
                <a:solidFill>
                  <a:srgbClr val="000000"/>
                </a:solidFill>
                <a:effectLst/>
                <a:latin typeface="Consolas" panose="020B0609020204030204" pitchFamily="49" charset="0"/>
              </a:rPr>
              <a:t> </a:t>
            </a:r>
            <a:r>
              <a:rPr lang="en-US" sz="2600" b="0" dirty="0" err="1">
                <a:solidFill>
                  <a:srgbClr val="267F99"/>
                </a:solidFill>
                <a:effectLst/>
                <a:latin typeface="Consolas" panose="020B0609020204030204" pitchFamily="49" charset="0"/>
              </a:rPr>
              <a:t>numpy</a:t>
            </a:r>
            <a:r>
              <a:rPr lang="en-US" sz="2600" b="0" dirty="0">
                <a:solidFill>
                  <a:srgbClr val="000000"/>
                </a:solidFill>
                <a:effectLst/>
                <a:latin typeface="Consolas" panose="020B0609020204030204" pitchFamily="49" charset="0"/>
              </a:rPr>
              <a:t> </a:t>
            </a:r>
            <a:r>
              <a:rPr lang="en-US" sz="2600" b="0" dirty="0">
                <a:solidFill>
                  <a:srgbClr val="AF00DB"/>
                </a:solidFill>
                <a:effectLst/>
                <a:latin typeface="Consolas" panose="020B0609020204030204" pitchFamily="49" charset="0"/>
              </a:rPr>
              <a:t>as</a:t>
            </a:r>
            <a:r>
              <a:rPr lang="en-US" sz="2600" b="0" dirty="0">
                <a:solidFill>
                  <a:srgbClr val="000000"/>
                </a:solidFill>
                <a:effectLst/>
                <a:latin typeface="Consolas" panose="020B0609020204030204" pitchFamily="49" charset="0"/>
              </a:rPr>
              <a:t> </a:t>
            </a:r>
            <a:r>
              <a:rPr lang="en-US" sz="2600" b="0" dirty="0">
                <a:solidFill>
                  <a:srgbClr val="267F99"/>
                </a:solidFill>
                <a:effectLst/>
                <a:latin typeface="Consolas" panose="020B0609020204030204" pitchFamily="49" charset="0"/>
              </a:rPr>
              <a:t>np</a:t>
            </a:r>
            <a:r>
              <a:rPr lang="en-US" sz="2600" b="0" dirty="0">
                <a:solidFill>
                  <a:srgbClr val="000000"/>
                </a:solidFill>
                <a:effectLst/>
                <a:latin typeface="Consolas" panose="020B0609020204030204" pitchFamily="49" charset="0"/>
              </a:rPr>
              <a:t>  </a:t>
            </a:r>
          </a:p>
          <a:p>
            <a:r>
              <a:rPr lang="en-US" sz="2600" b="0" dirty="0">
                <a:solidFill>
                  <a:srgbClr val="001080"/>
                </a:solidFill>
                <a:effectLst/>
                <a:latin typeface="Consolas" panose="020B0609020204030204" pitchFamily="49" charset="0"/>
              </a:rPr>
              <a:t>a</a:t>
            </a:r>
            <a:r>
              <a:rPr lang="en-US" sz="2600" b="0" dirty="0">
                <a:solidFill>
                  <a:srgbClr val="000000"/>
                </a:solidFill>
                <a:effectLst/>
                <a:latin typeface="Consolas" panose="020B0609020204030204" pitchFamily="49" charset="0"/>
              </a:rPr>
              <a:t> = </a:t>
            </a:r>
            <a:r>
              <a:rPr lang="en-US" sz="2600" b="0" dirty="0" err="1">
                <a:solidFill>
                  <a:srgbClr val="267F99"/>
                </a:solidFill>
                <a:effectLst/>
                <a:latin typeface="Consolas" panose="020B0609020204030204" pitchFamily="49" charset="0"/>
              </a:rPr>
              <a:t>np</a:t>
            </a:r>
            <a:r>
              <a:rPr lang="en-US" sz="2600" b="0" dirty="0" err="1">
                <a:solidFill>
                  <a:srgbClr val="000000"/>
                </a:solidFill>
                <a:effectLst/>
                <a:latin typeface="Consolas" panose="020B0609020204030204" pitchFamily="49" charset="0"/>
              </a:rPr>
              <a:t>.</a:t>
            </a:r>
            <a:r>
              <a:rPr lang="en-US" sz="2600" b="0" dirty="0" err="1">
                <a:solidFill>
                  <a:srgbClr val="795E26"/>
                </a:solidFill>
                <a:effectLst/>
                <a:latin typeface="Consolas" panose="020B0609020204030204" pitchFamily="49" charset="0"/>
              </a:rPr>
              <a:t>array</a:t>
            </a:r>
            <a:r>
              <a:rPr lang="en-US" sz="2600" b="0" dirty="0">
                <a:solidFill>
                  <a:srgbClr val="000000"/>
                </a:solidFill>
                <a:effectLst/>
                <a:latin typeface="Consolas" panose="020B0609020204030204" pitchFamily="49" charset="0"/>
              </a:rPr>
              <a:t>([[</a:t>
            </a:r>
            <a:r>
              <a:rPr lang="en-US" sz="2600" b="0" dirty="0">
                <a:solidFill>
                  <a:srgbClr val="098658"/>
                </a:solidFill>
                <a:effectLst/>
                <a:latin typeface="Consolas" panose="020B0609020204030204" pitchFamily="49" charset="0"/>
              </a:rPr>
              <a:t>1</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1</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0</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1</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1</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0</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2</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3</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4</a:t>
            </a:r>
            <a:r>
              <a:rPr lang="en-US" sz="2600" b="0" dirty="0">
                <a:solidFill>
                  <a:srgbClr val="000000"/>
                </a:solidFill>
                <a:effectLst/>
                <a:latin typeface="Consolas" panose="020B0609020204030204" pitchFamily="49" charset="0"/>
              </a:rPr>
              <a:t>],[</a:t>
            </a:r>
            <a:r>
              <a:rPr lang="en-US" sz="2600" b="0" dirty="0">
                <a:solidFill>
                  <a:srgbClr val="098658"/>
                </a:solidFill>
                <a:effectLst/>
                <a:latin typeface="Consolas" panose="020B0609020204030204" pitchFamily="49" charset="0"/>
              </a:rPr>
              <a:t>5</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9</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8</a:t>
            </a:r>
            <a:r>
              <a:rPr lang="en-US" sz="2600" b="0" dirty="0">
                <a:solidFill>
                  <a:srgbClr val="000000"/>
                </a:solidFill>
                <a:effectLst/>
                <a:latin typeface="Consolas" panose="020B0609020204030204" pitchFamily="49" charset="0"/>
              </a:rPr>
              <a:t>],[</a:t>
            </a:r>
            <a:r>
              <a:rPr lang="en-US" sz="2600" b="0" dirty="0">
                <a:solidFill>
                  <a:srgbClr val="098658"/>
                </a:solidFill>
                <a:effectLst/>
                <a:latin typeface="Consolas" panose="020B0609020204030204" pitchFamily="49" charset="0"/>
              </a:rPr>
              <a:t>2</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3</a:t>
            </a:r>
            <a:r>
              <a:rPr lang="en-US" sz="2600" b="0" dirty="0">
                <a:solidFill>
                  <a:srgbClr val="000000"/>
                </a:solidFill>
                <a:effectLst/>
                <a:latin typeface="Consolas" panose="020B0609020204030204" pitchFamily="49" charset="0"/>
              </a:rPr>
              <a:t>, </a:t>
            </a:r>
            <a:r>
              <a:rPr lang="en-US" sz="2600" b="0" dirty="0">
                <a:solidFill>
                  <a:srgbClr val="098658"/>
                </a:solidFill>
                <a:effectLst/>
                <a:latin typeface="Consolas" panose="020B0609020204030204" pitchFamily="49" charset="0"/>
              </a:rPr>
              <a:t>4</a:t>
            </a:r>
            <a:r>
              <a:rPr lang="en-US" sz="2600" b="0" dirty="0">
                <a:solidFill>
                  <a:srgbClr val="000000"/>
                </a:solidFill>
                <a:effectLst/>
                <a:latin typeface="Consolas" panose="020B0609020204030204" pitchFamily="49" charset="0"/>
              </a:rPr>
              <a:t>]])  </a:t>
            </a:r>
          </a:p>
          <a:p>
            <a:r>
              <a:rPr lang="en-US" sz="2600" b="0" dirty="0">
                <a:solidFill>
                  <a:srgbClr val="795E26"/>
                </a:solidFill>
                <a:effectLst/>
                <a:latin typeface="Consolas" panose="020B0609020204030204" pitchFamily="49" charset="0"/>
              </a:rPr>
              <a:t>print</a:t>
            </a:r>
            <a:r>
              <a:rPr lang="en-US" sz="2600" b="0" dirty="0">
                <a:solidFill>
                  <a:srgbClr val="000000"/>
                </a:solidFill>
                <a:effectLst/>
                <a:latin typeface="Consolas" panose="020B0609020204030204" pitchFamily="49" charset="0"/>
              </a:rPr>
              <a:t>(</a:t>
            </a:r>
            <a:r>
              <a:rPr lang="en-US" sz="2600" b="0" dirty="0">
                <a:solidFill>
                  <a:srgbClr val="001080"/>
                </a:solidFill>
                <a:effectLst/>
                <a:latin typeface="Consolas" panose="020B0609020204030204" pitchFamily="49" charset="0"/>
              </a:rPr>
              <a:t>a</a:t>
            </a:r>
            <a:r>
              <a:rPr lang="en-US" sz="2600" b="0" dirty="0">
                <a:solidFill>
                  <a:srgbClr val="000000"/>
                </a:solidFill>
                <a:effectLst/>
                <a:latin typeface="Consolas" panose="020B0609020204030204" pitchFamily="49" charset="0"/>
              </a:rPr>
              <a:t>)  </a:t>
            </a:r>
          </a:p>
          <a:p>
            <a:r>
              <a:rPr lang="en-US" sz="2600" b="0" dirty="0">
                <a:solidFill>
                  <a:srgbClr val="001080"/>
                </a:solidFill>
                <a:effectLst/>
                <a:latin typeface="Consolas" panose="020B0609020204030204" pitchFamily="49" charset="0"/>
              </a:rPr>
              <a:t>b</a:t>
            </a:r>
            <a:r>
              <a:rPr lang="en-US" sz="2600" b="0" dirty="0">
                <a:solidFill>
                  <a:srgbClr val="000000"/>
                </a:solidFill>
                <a:effectLst/>
                <a:latin typeface="Consolas" panose="020B0609020204030204" pitchFamily="49" charset="0"/>
              </a:rPr>
              <a:t>=</a:t>
            </a:r>
            <a:r>
              <a:rPr lang="en-US" sz="2600" b="0" dirty="0" err="1">
                <a:solidFill>
                  <a:srgbClr val="267F99"/>
                </a:solidFill>
                <a:effectLst/>
                <a:latin typeface="Consolas" panose="020B0609020204030204" pitchFamily="49" charset="0"/>
              </a:rPr>
              <a:t>np</a:t>
            </a:r>
            <a:r>
              <a:rPr lang="en-US" sz="2600" b="0" dirty="0" err="1">
                <a:solidFill>
                  <a:srgbClr val="000000"/>
                </a:solidFill>
                <a:effectLst/>
                <a:latin typeface="Consolas" panose="020B0609020204030204" pitchFamily="49" charset="0"/>
              </a:rPr>
              <a:t>.</a:t>
            </a:r>
            <a:r>
              <a:rPr lang="en-US" sz="2600" b="0" dirty="0" err="1">
                <a:solidFill>
                  <a:srgbClr val="795E26"/>
                </a:solidFill>
                <a:effectLst/>
                <a:latin typeface="Consolas" panose="020B0609020204030204" pitchFamily="49" charset="0"/>
              </a:rPr>
              <a:t>unique</a:t>
            </a:r>
            <a:r>
              <a:rPr lang="en-US" sz="2600" b="0" dirty="0">
                <a:solidFill>
                  <a:srgbClr val="000000"/>
                </a:solidFill>
                <a:effectLst/>
                <a:latin typeface="Consolas" panose="020B0609020204030204" pitchFamily="49" charset="0"/>
              </a:rPr>
              <a:t>(</a:t>
            </a:r>
            <a:r>
              <a:rPr lang="en-US" sz="2600" b="0" dirty="0">
                <a:solidFill>
                  <a:srgbClr val="001080"/>
                </a:solidFill>
                <a:effectLst/>
                <a:latin typeface="Consolas" panose="020B0609020204030204" pitchFamily="49" charset="0"/>
              </a:rPr>
              <a:t>a</a:t>
            </a:r>
            <a:r>
              <a:rPr lang="en-US" sz="2600" b="0" dirty="0">
                <a:solidFill>
                  <a:srgbClr val="000000"/>
                </a:solidFill>
                <a:effectLst/>
                <a:latin typeface="Consolas" panose="020B0609020204030204" pitchFamily="49" charset="0"/>
              </a:rPr>
              <a:t>, </a:t>
            </a:r>
            <a:r>
              <a:rPr lang="en-US" sz="2600" b="0" dirty="0">
                <a:solidFill>
                  <a:srgbClr val="001080"/>
                </a:solidFill>
                <a:effectLst/>
                <a:latin typeface="Consolas" panose="020B0609020204030204" pitchFamily="49" charset="0"/>
              </a:rPr>
              <a:t>axis</a:t>
            </a:r>
            <a:r>
              <a:rPr lang="en-US" sz="2600" b="0" dirty="0">
                <a:solidFill>
                  <a:srgbClr val="000000"/>
                </a:solidFill>
                <a:effectLst/>
                <a:latin typeface="Consolas" panose="020B0609020204030204" pitchFamily="49" charset="0"/>
              </a:rPr>
              <a:t>=</a:t>
            </a:r>
            <a:r>
              <a:rPr lang="en-US" sz="2600" b="0" dirty="0">
                <a:solidFill>
                  <a:srgbClr val="098658"/>
                </a:solidFill>
                <a:effectLst/>
                <a:latin typeface="Consolas" panose="020B0609020204030204" pitchFamily="49" charset="0"/>
              </a:rPr>
              <a:t>0</a:t>
            </a:r>
            <a:r>
              <a:rPr lang="en-US" sz="2600" b="0" dirty="0">
                <a:solidFill>
                  <a:srgbClr val="000000"/>
                </a:solidFill>
                <a:effectLst/>
                <a:latin typeface="Consolas" panose="020B0609020204030204" pitchFamily="49" charset="0"/>
              </a:rPr>
              <a:t>)  </a:t>
            </a:r>
          </a:p>
          <a:p>
            <a:r>
              <a:rPr lang="en-US" sz="2600" b="0" dirty="0">
                <a:solidFill>
                  <a:srgbClr val="795E26"/>
                </a:solidFill>
                <a:effectLst/>
                <a:latin typeface="Consolas" panose="020B0609020204030204" pitchFamily="49" charset="0"/>
              </a:rPr>
              <a:t>print</a:t>
            </a:r>
            <a:r>
              <a:rPr lang="en-US" sz="2600" b="0" dirty="0">
                <a:solidFill>
                  <a:srgbClr val="000000"/>
                </a:solidFill>
                <a:effectLst/>
                <a:latin typeface="Consolas" panose="020B0609020204030204" pitchFamily="49" charset="0"/>
              </a:rPr>
              <a:t>(</a:t>
            </a:r>
            <a:r>
              <a:rPr lang="en-US" sz="2600" b="0" dirty="0">
                <a:solidFill>
                  <a:srgbClr val="001080"/>
                </a:solidFill>
                <a:effectLst/>
                <a:latin typeface="Consolas" panose="020B0609020204030204" pitchFamily="49" charset="0"/>
              </a:rPr>
              <a:t>b</a:t>
            </a:r>
            <a:r>
              <a:rPr lang="en-US" sz="2600" b="0" dirty="0">
                <a:solidFill>
                  <a:srgbClr val="000000"/>
                </a:solidFill>
                <a:effectLst/>
                <a:latin typeface="Consolas" panose="020B0609020204030204" pitchFamily="49" charset="0"/>
              </a:rPr>
              <a:t>) </a:t>
            </a:r>
          </a:p>
          <a:p>
            <a:r>
              <a:rPr lang="en-US" sz="2600" dirty="0">
                <a:solidFill>
                  <a:srgbClr val="000000"/>
                </a:solidFill>
                <a:latin typeface="Consolas" panose="020B0609020204030204" pitchFamily="49" charset="0"/>
              </a:rPr>
              <a:t>Output</a:t>
            </a:r>
            <a:endParaRPr lang="en-US" sz="2600" b="0" dirty="0">
              <a:solidFill>
                <a:srgbClr val="000000"/>
              </a:solidFill>
              <a:effectLst/>
              <a:latin typeface="Consolas" panose="020B0609020204030204" pitchFamily="49" charset="0"/>
            </a:endParaRPr>
          </a:p>
          <a:p>
            <a:pPr marL="0" indent="0">
              <a:buNone/>
            </a:pPr>
            <a:r>
              <a:rPr lang="en-IN" sz="2600" dirty="0"/>
              <a:t>[[1 1 0]</a:t>
            </a:r>
          </a:p>
          <a:p>
            <a:pPr marL="0" indent="0">
              <a:buNone/>
            </a:pPr>
            <a:r>
              <a:rPr lang="en-IN" sz="2600" dirty="0"/>
              <a:t> [1 1 0]</a:t>
            </a:r>
          </a:p>
          <a:p>
            <a:pPr marL="0" indent="0">
              <a:buNone/>
            </a:pPr>
            <a:r>
              <a:rPr lang="en-IN" sz="2600" dirty="0"/>
              <a:t> [2 3 4]</a:t>
            </a:r>
          </a:p>
          <a:p>
            <a:pPr marL="0" indent="0">
              <a:buNone/>
            </a:pPr>
            <a:r>
              <a:rPr lang="en-IN" sz="2600" dirty="0"/>
              <a:t> [5 9 8]</a:t>
            </a:r>
          </a:p>
          <a:p>
            <a:pPr marL="0" indent="0">
              <a:buNone/>
            </a:pPr>
            <a:r>
              <a:rPr lang="en-IN" sz="2600" dirty="0"/>
              <a:t> [2 3 4]]</a:t>
            </a:r>
          </a:p>
          <a:p>
            <a:pPr marL="0" indent="0">
              <a:buNone/>
            </a:pPr>
            <a:r>
              <a:rPr lang="en-IN" sz="2600" dirty="0"/>
              <a:t>[[1 1 0]</a:t>
            </a:r>
          </a:p>
          <a:p>
            <a:pPr marL="0" indent="0">
              <a:buNone/>
            </a:pPr>
            <a:r>
              <a:rPr lang="en-IN" sz="2600" dirty="0"/>
              <a:t> [2 3 4]</a:t>
            </a:r>
          </a:p>
          <a:p>
            <a:pPr marL="0" indent="0">
              <a:buNone/>
            </a:pPr>
            <a:r>
              <a:rPr lang="en-IN" sz="2600" dirty="0"/>
              <a:t> [5 9 8]]</a:t>
            </a:r>
          </a:p>
        </p:txBody>
      </p:sp>
    </p:spTree>
    <p:extLst>
      <p:ext uri="{BB962C8B-B14F-4D97-AF65-F5344CB8AC3E}">
        <p14:creationId xmlns:p14="http://schemas.microsoft.com/office/powerpoint/2010/main" val="1276806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A20AC3-272C-5039-F32E-88F81F14931F}"/>
              </a:ext>
            </a:extLst>
          </p:cNvPr>
          <p:cNvSpPr>
            <a:spLocks noGrp="1"/>
          </p:cNvSpPr>
          <p:nvPr>
            <p:ph idx="1"/>
          </p:nvPr>
        </p:nvSpPr>
        <p:spPr>
          <a:xfrm>
            <a:off x="838200" y="681318"/>
            <a:ext cx="10515600" cy="5495645"/>
          </a:xfrm>
        </p:spPr>
        <p:txBody>
          <a:bodyPr>
            <a:normAutofit fontScale="62500" lnSpcReduction="20000"/>
          </a:bodyPr>
          <a:lstStyle/>
          <a:p>
            <a:pPr marL="0" indent="0">
              <a:buNone/>
            </a:pPr>
            <a:r>
              <a:rPr lang="en-US" dirty="0"/>
              <a:t>Example 4</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unique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axis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pPr marL="0" indent="0">
              <a:buNone/>
            </a:pPr>
            <a:r>
              <a:rPr lang="en-US" dirty="0"/>
              <a:t>Output</a:t>
            </a:r>
          </a:p>
          <a:p>
            <a:pPr marL="0" indent="0">
              <a:buNone/>
            </a:pPr>
            <a:r>
              <a:rPr lang="en-IN" dirty="0"/>
              <a:t>[[1 1 0]</a:t>
            </a:r>
          </a:p>
          <a:p>
            <a:pPr marL="0" indent="0">
              <a:buNone/>
            </a:pPr>
            <a:r>
              <a:rPr lang="en-IN" dirty="0"/>
              <a:t> [1 1 0]</a:t>
            </a:r>
          </a:p>
          <a:p>
            <a:pPr marL="0" indent="0">
              <a:buNone/>
            </a:pPr>
            <a:r>
              <a:rPr lang="en-IN" dirty="0"/>
              <a:t> [2 2 4]</a:t>
            </a:r>
          </a:p>
          <a:p>
            <a:pPr marL="0" indent="0">
              <a:buNone/>
            </a:pPr>
            <a:r>
              <a:rPr lang="en-IN" dirty="0"/>
              <a:t> [5 5 8]</a:t>
            </a:r>
          </a:p>
          <a:p>
            <a:pPr marL="0" indent="0">
              <a:buNone/>
            </a:pPr>
            <a:r>
              <a:rPr lang="en-IN" dirty="0"/>
              <a:t> [2 2 4]]</a:t>
            </a:r>
          </a:p>
          <a:p>
            <a:pPr marL="0" indent="0">
              <a:buNone/>
            </a:pPr>
            <a:r>
              <a:rPr lang="en-IN" dirty="0"/>
              <a:t>[[0 1]</a:t>
            </a:r>
          </a:p>
          <a:p>
            <a:pPr marL="0" indent="0">
              <a:buNone/>
            </a:pPr>
            <a:r>
              <a:rPr lang="en-IN" dirty="0"/>
              <a:t> [0 1]</a:t>
            </a:r>
          </a:p>
          <a:p>
            <a:pPr marL="0" indent="0">
              <a:buNone/>
            </a:pPr>
            <a:r>
              <a:rPr lang="en-IN" dirty="0"/>
              <a:t> [4 2]</a:t>
            </a:r>
          </a:p>
          <a:p>
            <a:pPr marL="0" indent="0">
              <a:buNone/>
            </a:pPr>
            <a:r>
              <a:rPr lang="en-IN" dirty="0"/>
              <a:t> [8 5]</a:t>
            </a:r>
          </a:p>
          <a:p>
            <a:pPr marL="0" indent="0">
              <a:buNone/>
            </a:pPr>
            <a:r>
              <a:rPr lang="en-IN" dirty="0"/>
              <a:t> [4 2]]</a:t>
            </a:r>
          </a:p>
        </p:txBody>
      </p:sp>
    </p:spTree>
    <p:extLst>
      <p:ext uri="{BB962C8B-B14F-4D97-AF65-F5344CB8AC3E}">
        <p14:creationId xmlns:p14="http://schemas.microsoft.com/office/powerpoint/2010/main" val="3846679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5D615-36A4-7904-8D17-B4566ADC6393}"/>
              </a:ext>
            </a:extLst>
          </p:cNvPr>
          <p:cNvSpPr>
            <a:spLocks noGrp="1"/>
          </p:cNvSpPr>
          <p:nvPr>
            <p:ph idx="1"/>
          </p:nvPr>
        </p:nvSpPr>
        <p:spPr/>
        <p:txBody>
          <a:bodyPr>
            <a:normAutofit fontScale="85000" lnSpcReduction="20000"/>
          </a:bodyPr>
          <a:lstStyle/>
          <a:p>
            <a:pPr marL="0" indent="0">
              <a:buNone/>
            </a:pPr>
            <a:r>
              <a:rPr lang="en-IN" b="1" dirty="0">
                <a:solidFill>
                  <a:srgbClr val="AF00DB"/>
                </a:solidFill>
                <a:effectLst/>
                <a:latin typeface="Consolas" panose="020B0609020204030204" pitchFamily="49" charset="0"/>
              </a:rPr>
              <a:t>Example 5</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numpy</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as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np</a:t>
            </a:r>
            <a:r>
              <a:rPr lang="en-IN" b="0" dirty="0">
                <a:solidFill>
                  <a:srgbClr val="000000"/>
                </a:solidFill>
                <a:effectLst/>
                <a:latin typeface="Consolas" panose="020B0609020204030204" pitchFamily="49" charset="0"/>
              </a:rPr>
              <a:t>  </a:t>
            </a:r>
          </a:p>
          <a:p>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array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'z'</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a:t>
            </a:r>
            <a:r>
              <a:rPr lang="en-IN" b="0" dirty="0">
                <a:solidFill>
                  <a:srgbClr val="000000"/>
                </a:solidFill>
                <a:effectLst/>
                <a:latin typeface="Consolas" panose="020B0609020204030204" pitchFamily="49" charset="0"/>
              </a:rPr>
              <a:t>])  </a:t>
            </a:r>
          </a:p>
          <a:p>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indices</a:t>
            </a:r>
            <a:r>
              <a:rPr lang="en-IN" b="0" dirty="0">
                <a:solidFill>
                  <a:srgbClr val="000000"/>
                </a:solidFill>
                <a:effectLst/>
                <a:latin typeface="Consolas" panose="020B0609020204030204" pitchFamily="49" charset="0"/>
              </a:rPr>
              <a:t>=</a:t>
            </a:r>
            <a:r>
              <a:rPr lang="en-IN" b="0" dirty="0" err="1">
                <a:solidFill>
                  <a:srgbClr val="267F99"/>
                </a:solidFill>
                <a:effectLst/>
                <a:latin typeface="Consolas" panose="020B0609020204030204" pitchFamily="49" charset="0"/>
              </a:rPr>
              <a:t>np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unique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return_index</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True</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result</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indices</a:t>
            </a:r>
            <a:r>
              <a:rPr lang="en-IN" b="0" dirty="0">
                <a:solidFill>
                  <a:srgbClr val="000000"/>
                </a:solidFill>
                <a:effectLst/>
                <a:latin typeface="Consolas" panose="020B0609020204030204" pitchFamily="49" charset="0"/>
              </a:rPr>
              <a:t>)  </a:t>
            </a:r>
          </a:p>
          <a:p>
            <a:r>
              <a:rPr lang="en-IN" b="0" dirty="0">
                <a:solidFill>
                  <a:srgbClr val="795E26"/>
                </a:solidFill>
                <a:effectLst/>
                <a:latin typeface="Consolas" panose="020B0609020204030204" pitchFamily="49" charset="0"/>
              </a:rPr>
              <a:t>print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indices</a:t>
            </a:r>
            <a:r>
              <a:rPr lang="en-IN" b="0" dirty="0">
                <a:solidFill>
                  <a:srgbClr val="000000"/>
                </a:solidFill>
                <a:effectLst/>
                <a:latin typeface="Consolas" panose="020B0609020204030204" pitchFamily="49" charset="0"/>
              </a:rPr>
              <a:t>])</a:t>
            </a:r>
          </a:p>
          <a:p>
            <a:pPr marL="0" indent="0">
              <a:buNone/>
            </a:pPr>
            <a:r>
              <a:rPr lang="en-IN" dirty="0">
                <a:solidFill>
                  <a:srgbClr val="000000"/>
                </a:solidFill>
                <a:latin typeface="Consolas" panose="020B0609020204030204" pitchFamily="49" charset="0"/>
              </a:rPr>
              <a:t>O</a:t>
            </a:r>
            <a:r>
              <a:rPr lang="en-IN" b="0" dirty="0">
                <a:solidFill>
                  <a:srgbClr val="000000"/>
                </a:solidFill>
                <a:effectLst/>
                <a:latin typeface="Consolas" panose="020B0609020204030204" pitchFamily="49" charset="0"/>
              </a:rPr>
              <a:t>utput</a:t>
            </a:r>
          </a:p>
          <a:p>
            <a:pPr marL="0" indent="0">
              <a:buNone/>
            </a:pPr>
            <a:r>
              <a:rPr lang="pt-BR" b="0" dirty="0">
                <a:solidFill>
                  <a:srgbClr val="000000"/>
                </a:solidFill>
                <a:effectLst/>
                <a:latin typeface="Consolas" panose="020B0609020204030204" pitchFamily="49" charset="0"/>
              </a:rPr>
              <a:t>['a' 'b' 'd' 'z']</a:t>
            </a:r>
          </a:p>
          <a:p>
            <a:pPr marL="0" indent="0">
              <a:buNone/>
            </a:pPr>
            <a:r>
              <a:rPr lang="pt-BR" b="0" dirty="0">
                <a:solidFill>
                  <a:srgbClr val="000000"/>
                </a:solidFill>
                <a:effectLst/>
                <a:latin typeface="Consolas" panose="020B0609020204030204" pitchFamily="49" charset="0"/>
              </a:rPr>
              <a:t>[4 1 0 3]</a:t>
            </a:r>
          </a:p>
          <a:p>
            <a:pPr marL="0" indent="0">
              <a:buNone/>
            </a:pPr>
            <a:r>
              <a:rPr lang="pt-BR" b="0" dirty="0">
                <a:solidFill>
                  <a:srgbClr val="000000"/>
                </a:solidFill>
                <a:effectLst/>
                <a:latin typeface="Consolas" panose="020B0609020204030204" pitchFamily="49" charset="0"/>
              </a:rPr>
              <a:t>['a' 'b' 'd' 'z']</a:t>
            </a: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2572473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E40F7-225E-5197-1DA0-FD56E37E4151}"/>
              </a:ext>
            </a:extLst>
          </p:cNvPr>
          <p:cNvSpPr>
            <a:spLocks noGrp="1"/>
          </p:cNvSpPr>
          <p:nvPr>
            <p:ph idx="1"/>
          </p:nvPr>
        </p:nvSpPr>
        <p:spPr/>
        <p:txBody>
          <a:bodyPr>
            <a:normAutofit lnSpcReduction="10000"/>
          </a:bodyPr>
          <a:lstStyle/>
          <a:p>
            <a:pPr marL="0" indent="0">
              <a:buNone/>
            </a:pPr>
            <a:r>
              <a:rPr lang="en-US" dirty="0"/>
              <a:t>Example 6</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'z'</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freq</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unique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a</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return_counts</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freq</a:t>
            </a:r>
            <a:r>
              <a:rPr lang="en-US" b="0" dirty="0">
                <a:solidFill>
                  <a:srgbClr val="000000"/>
                </a:solidFill>
                <a:effectLst/>
                <a:latin typeface="Consolas" panose="020B0609020204030204" pitchFamily="49" charset="0"/>
              </a:rPr>
              <a:t>) </a:t>
            </a:r>
          </a:p>
          <a:p>
            <a:pPr marL="0" indent="0">
              <a:buNone/>
            </a:pPr>
            <a:r>
              <a:rPr lang="en-US" dirty="0">
                <a:solidFill>
                  <a:srgbClr val="000000"/>
                </a:solidFill>
                <a:latin typeface="Consolas" panose="020B0609020204030204" pitchFamily="49" charset="0"/>
              </a:rPr>
              <a:t>O</a:t>
            </a:r>
            <a:r>
              <a:rPr lang="en-US" b="0" dirty="0">
                <a:solidFill>
                  <a:srgbClr val="000000"/>
                </a:solidFill>
                <a:effectLst/>
                <a:latin typeface="Consolas" panose="020B0609020204030204" pitchFamily="49" charset="0"/>
              </a:rPr>
              <a:t>utput </a:t>
            </a:r>
          </a:p>
          <a:p>
            <a:pPr marL="0" indent="0">
              <a:buNone/>
            </a:pPr>
            <a:r>
              <a:rPr lang="pt-BR" dirty="0"/>
              <a:t>['a' 'b' 'd' 'z']</a:t>
            </a:r>
          </a:p>
          <a:p>
            <a:pPr marL="0" indent="0">
              <a:buNone/>
            </a:pPr>
            <a:r>
              <a:rPr lang="pt-BR" dirty="0"/>
              <a:t>[1 2 1 1]</a:t>
            </a:r>
            <a:endParaRPr lang="en-IN" dirty="0"/>
          </a:p>
        </p:txBody>
      </p:sp>
    </p:spTree>
    <p:extLst>
      <p:ext uri="{BB962C8B-B14F-4D97-AF65-F5344CB8AC3E}">
        <p14:creationId xmlns:p14="http://schemas.microsoft.com/office/powerpoint/2010/main" val="2915867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2FEC1E-1383-6D16-BD11-37AD6F2E75EB}"/>
              </a:ext>
            </a:extLst>
          </p:cNvPr>
          <p:cNvSpPr>
            <a:spLocks noGrp="1"/>
          </p:cNvSpPr>
          <p:nvPr>
            <p:ph idx="1"/>
          </p:nvPr>
        </p:nvSpPr>
        <p:spPr>
          <a:xfrm>
            <a:off x="838200" y="1039906"/>
            <a:ext cx="10515600" cy="5137057"/>
          </a:xfrm>
        </p:spPr>
        <p:txBody>
          <a:bodyPr>
            <a:normAutofit fontScale="92500" lnSpcReduction="20000"/>
          </a:bodyPr>
          <a:lstStyle/>
          <a:p>
            <a:pPr algn="just"/>
            <a:r>
              <a:rPr lang="en-US" b="0" i="0" dirty="0" err="1">
                <a:solidFill>
                  <a:srgbClr val="610B38"/>
                </a:solidFill>
                <a:effectLst/>
                <a:latin typeface="erdana"/>
              </a:rPr>
              <a:t>numpy.argmax</a:t>
            </a:r>
            <a:r>
              <a:rPr lang="en-US" b="0" i="0" dirty="0">
                <a:solidFill>
                  <a:srgbClr val="610B38"/>
                </a:solidFill>
                <a:effectLst/>
                <a:latin typeface="erdana"/>
              </a:rPr>
              <a:t> in Python</a:t>
            </a:r>
          </a:p>
          <a:p>
            <a:pPr algn="just"/>
            <a:r>
              <a:rPr lang="en-US" b="0" i="0" dirty="0">
                <a:solidFill>
                  <a:srgbClr val="333333"/>
                </a:solidFill>
                <a:effectLst/>
                <a:latin typeface="inter-regular"/>
              </a:rPr>
              <a:t>In many cases, where the size of the array is too large, it takes too much time to find the maximum elements from them. For this purpose, the </a:t>
            </a:r>
            <a:r>
              <a:rPr lang="en-US" b="0" i="0" dirty="0" err="1">
                <a:solidFill>
                  <a:srgbClr val="333333"/>
                </a:solidFill>
                <a:effectLst/>
                <a:latin typeface="inter-regular"/>
              </a:rPr>
              <a:t>numpy</a:t>
            </a:r>
            <a:r>
              <a:rPr lang="en-US" b="0" i="0" dirty="0">
                <a:solidFill>
                  <a:srgbClr val="333333"/>
                </a:solidFill>
                <a:effectLst/>
                <a:latin typeface="inter-regular"/>
              </a:rPr>
              <a:t> module of Python provides a function called </a:t>
            </a:r>
            <a:r>
              <a:rPr lang="en-US" b="1" i="0" dirty="0" err="1">
                <a:solidFill>
                  <a:srgbClr val="333333"/>
                </a:solidFill>
                <a:effectLst/>
                <a:latin typeface="inter-bold"/>
              </a:rPr>
              <a:t>numpy.argmax</a:t>
            </a:r>
            <a:r>
              <a:rPr lang="en-US" b="1" i="0" dirty="0">
                <a:solidFill>
                  <a:srgbClr val="333333"/>
                </a:solidFill>
                <a:effectLst/>
                <a:latin typeface="inter-bold"/>
              </a:rPr>
              <a:t>()</a:t>
            </a:r>
            <a:r>
              <a:rPr lang="en-US" b="0" i="0" dirty="0">
                <a:solidFill>
                  <a:srgbClr val="333333"/>
                </a:solidFill>
                <a:effectLst/>
                <a:latin typeface="inter-regular"/>
              </a:rPr>
              <a:t>. This function returns indices of the maximum values are returned along with the specified axis.</a:t>
            </a:r>
          </a:p>
          <a:p>
            <a:pPr marL="0" indent="0">
              <a:buNone/>
            </a:pPr>
            <a:r>
              <a:rPr lang="en-IN" dirty="0"/>
              <a:t>Example</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argmax</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Output</a:t>
            </a:r>
          </a:p>
          <a:p>
            <a:pPr marL="0" indent="0">
              <a:buNone/>
            </a:pPr>
            <a:r>
              <a:rPr lang="en-US" b="0" dirty="0">
                <a:solidFill>
                  <a:srgbClr val="000000"/>
                </a:solidFill>
                <a:effectLst/>
                <a:latin typeface="Consolas" panose="020B0609020204030204" pitchFamily="49" charset="0"/>
              </a:rPr>
              <a:t>3</a:t>
            </a:r>
          </a:p>
          <a:p>
            <a:pPr marL="0" indent="0">
              <a:buNone/>
            </a:pPr>
            <a:endParaRPr lang="en-IN" dirty="0"/>
          </a:p>
        </p:txBody>
      </p:sp>
    </p:spTree>
    <p:extLst>
      <p:ext uri="{BB962C8B-B14F-4D97-AF65-F5344CB8AC3E}">
        <p14:creationId xmlns:p14="http://schemas.microsoft.com/office/powerpoint/2010/main" val="121290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D30847-6D9E-5D6B-5088-18417CB33E1F}"/>
              </a:ext>
            </a:extLst>
          </p:cNvPr>
          <p:cNvSpPr>
            <a:spLocks noGrp="1"/>
          </p:cNvSpPr>
          <p:nvPr>
            <p:ph idx="1"/>
          </p:nvPr>
        </p:nvSpPr>
        <p:spPr>
          <a:xfrm>
            <a:off x="838200" y="564776"/>
            <a:ext cx="10515600" cy="5612187"/>
          </a:xfrm>
        </p:spPr>
        <p:txBody>
          <a:bodyPr>
            <a:normAutofit fontScale="70000" lnSpcReduction="20000"/>
          </a:bodyPr>
          <a:lstStyle/>
          <a:p>
            <a:pPr marL="0" indent="0">
              <a:buNone/>
            </a:pPr>
            <a:r>
              <a:rPr lang="en-US" b="1" dirty="0"/>
              <a:t>Example 2</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argmax</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p>
          <a:p>
            <a:pPr marL="0" indent="0">
              <a:buNone/>
            </a:pPr>
            <a:r>
              <a:rPr lang="en-US" dirty="0"/>
              <a:t>Output </a:t>
            </a:r>
          </a:p>
          <a:p>
            <a:pPr marL="0" indent="0">
              <a:buNone/>
            </a:pPr>
            <a:r>
              <a:rPr lang="en-US" dirty="0"/>
              <a:t>10</a:t>
            </a:r>
          </a:p>
          <a:p>
            <a:pPr marL="0" indent="0">
              <a:buNone/>
            </a:pPr>
            <a:r>
              <a:rPr lang="en-US" b="1" dirty="0"/>
              <a:t>Example 3</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numpy</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np</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argmax</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a</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axis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pPr marL="0" indent="0">
              <a:buNone/>
            </a:pPr>
            <a:r>
              <a:rPr lang="en-US" dirty="0">
                <a:solidFill>
                  <a:srgbClr val="000000"/>
                </a:solidFill>
                <a:latin typeface="Consolas" panose="020B0609020204030204" pitchFamily="49" charset="0"/>
              </a:rPr>
              <a:t>Output</a:t>
            </a:r>
          </a:p>
          <a:p>
            <a:pPr marL="0" indent="0">
              <a:buNone/>
            </a:pPr>
            <a:r>
              <a:rPr lang="en-US" b="0" dirty="0">
                <a:solidFill>
                  <a:srgbClr val="000000"/>
                </a:solidFill>
                <a:effectLst/>
                <a:latin typeface="Consolas" panose="020B0609020204030204" pitchFamily="49" charset="0"/>
              </a:rPr>
              <a:t>[3 3 3]</a:t>
            </a:r>
          </a:p>
          <a:p>
            <a:pPr marL="0" indent="0">
              <a:buNone/>
            </a:pPr>
            <a:endParaRPr lang="en-US" b="1" dirty="0">
              <a:solidFill>
                <a:schemeClr val="accent4"/>
              </a:solidFill>
              <a:effectLst/>
              <a:latin typeface="Consolas" panose="020B0609020204030204" pitchFamily="49" charset="0"/>
            </a:endParaRPr>
          </a:p>
          <a:p>
            <a:pPr marL="0" indent="0">
              <a:buNone/>
            </a:pPr>
            <a:r>
              <a:rPr lang="en-US" b="1" dirty="0">
                <a:solidFill>
                  <a:schemeClr val="accent4"/>
                </a:solidFill>
                <a:latin typeface="Consolas" panose="020B0609020204030204" pitchFamily="49" charset="0"/>
              </a:rPr>
              <a:t>Try </a:t>
            </a:r>
            <a:r>
              <a:rPr lang="en-US" b="1" dirty="0" err="1">
                <a:solidFill>
                  <a:schemeClr val="accent4"/>
                </a:solidFill>
                <a:latin typeface="Consolas" panose="020B0609020204030204" pitchFamily="49" charset="0"/>
              </a:rPr>
              <a:t>argmin</a:t>
            </a:r>
            <a:r>
              <a:rPr lang="en-US" b="1" dirty="0">
                <a:solidFill>
                  <a:schemeClr val="accent4"/>
                </a:solidFill>
                <a:latin typeface="Consolas" panose="020B0609020204030204" pitchFamily="49" charset="0"/>
              </a:rPr>
              <a:t>()</a:t>
            </a:r>
            <a:endParaRPr lang="en-US" b="1" dirty="0">
              <a:solidFill>
                <a:schemeClr val="accent4"/>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399115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30EDB-9841-8682-8860-3BBAE0D96B3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ACEE90C-3610-A9C4-BE78-6E7205E1877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72586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1078</Words>
  <Application>Microsoft Office PowerPoint</Application>
  <PresentationFormat>Widescreen</PresentationFormat>
  <Paragraphs>125</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Consolas</vt:lpstr>
      <vt:lpstr>erdana</vt:lpstr>
      <vt:lpstr>inter-bold</vt:lpstr>
      <vt:lpstr>inter-regular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Sandeep Sappal</dc:creator>
  <cp:lastModifiedBy>Sandeep Sappal</cp:lastModifiedBy>
  <cp:revision>4</cp:revision>
  <dcterms:created xsi:type="dcterms:W3CDTF">2024-06-26T08:41:27Z</dcterms:created>
  <dcterms:modified xsi:type="dcterms:W3CDTF">2024-06-27T12:55:37Z</dcterms:modified>
</cp:coreProperties>
</file>